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8b3b2f5f11413a" /><Relationship Type="http://schemas.openxmlformats.org/officeDocument/2006/relationships/extended-properties" Target="/docProps/app.xml" Id="R0dcaa5f1a2dd410a" /><Relationship Type="http://schemas.openxmlformats.org/officeDocument/2006/relationships/officeDocument" Target="/ppt/presentation.xml" Id="R81b76f30164445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17d5535b154fe3"/>
  </p:sldMasterIdLst>
  <p:notesMasterIdLst>
    <p:notesMasterId xmlns:r="http://schemas.openxmlformats.org/officeDocument/2006/relationships" r:id="R3080f7b1cbbb4568"/>
  </p:notesMasterIdLst>
  <p:sldIdLst>
    <p:sldId xmlns:r="http://schemas.openxmlformats.org/officeDocument/2006/relationships" id="256" r:id="Ra3726e2f09274231"/>
    <p:sldId xmlns:r="http://schemas.openxmlformats.org/officeDocument/2006/relationships" id="257" r:id="R1200bbbf3e97481d"/>
    <p:sldId xmlns:r="http://schemas.openxmlformats.org/officeDocument/2006/relationships" id="258" r:id="Re8d3621abe8b4886"/>
    <p:sldId xmlns:r="http://schemas.openxmlformats.org/officeDocument/2006/relationships" id="259" r:id="R9cc6d04642d64fe2"/>
    <p:sldId xmlns:r="http://schemas.openxmlformats.org/officeDocument/2006/relationships" id="260" r:id="Re91469d571c3433a"/>
    <p:sldId xmlns:r="http://schemas.openxmlformats.org/officeDocument/2006/relationships" id="261" r:id="R7b702c0a553a4f8a"/>
    <p:sldId xmlns:r="http://schemas.openxmlformats.org/officeDocument/2006/relationships" id="262" r:id="Rfed92de57ef24c66"/>
    <p:sldId xmlns:r="http://schemas.openxmlformats.org/officeDocument/2006/relationships" id="263" r:id="R5b3fc00b4fa04949"/>
    <p:sldId xmlns:r="http://schemas.openxmlformats.org/officeDocument/2006/relationships" id="264" r:id="R64a26b1a2d774846"/>
    <p:sldId xmlns:r="http://schemas.openxmlformats.org/officeDocument/2006/relationships" id="265" r:id="R4512cd9ad4c34a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a288f626764dfa" /><Relationship Type="http://schemas.openxmlformats.org/officeDocument/2006/relationships/slideMaster" Target="/ppt/slideMasters/slideMaster1.xml" Id="R7717d5535b154fe3" /><Relationship Type="http://schemas.openxmlformats.org/officeDocument/2006/relationships/notesMaster" Target="/ppt/notesMasters/notesMaster1.xml" Id="R3080f7b1cbbb4568" /><Relationship Type="http://schemas.openxmlformats.org/officeDocument/2006/relationships/presProps" Target="/ppt/presProps.xml" Id="Re2954abfab914c27" /><Relationship Type="http://schemas.openxmlformats.org/officeDocument/2006/relationships/tableStyles" Target="/ppt/tableStyles.xml" Id="Rb07a11cea97e46cb" /><Relationship Type="http://schemas.openxmlformats.org/officeDocument/2006/relationships/slide" Target="/ppt/slides/slide1.xml" Id="Ra3726e2f09274231" /><Relationship Type="http://schemas.openxmlformats.org/officeDocument/2006/relationships/slide" Target="/ppt/slides/slide2.xml" Id="R1200bbbf3e97481d" /><Relationship Type="http://schemas.openxmlformats.org/officeDocument/2006/relationships/slide" Target="/ppt/slides/slide3.xml" Id="Re8d3621abe8b4886" /><Relationship Type="http://schemas.openxmlformats.org/officeDocument/2006/relationships/slide" Target="/ppt/slides/slide4.xml" Id="R9cc6d04642d64fe2" /><Relationship Type="http://schemas.openxmlformats.org/officeDocument/2006/relationships/slide" Target="/ppt/slides/slide5.xml" Id="Re91469d571c3433a" /><Relationship Type="http://schemas.openxmlformats.org/officeDocument/2006/relationships/slide" Target="/ppt/slides/slide6.xml" Id="R7b702c0a553a4f8a" /><Relationship Type="http://schemas.openxmlformats.org/officeDocument/2006/relationships/slide" Target="/ppt/slides/slide7.xml" Id="Rfed92de57ef24c66" /><Relationship Type="http://schemas.openxmlformats.org/officeDocument/2006/relationships/slide" Target="/ppt/slides/slide8.xml" Id="R5b3fc00b4fa04949" /><Relationship Type="http://schemas.openxmlformats.org/officeDocument/2006/relationships/slide" Target="/ppt/slides/slide9.xml" Id="R64a26b1a2d774846" /><Relationship Type="http://schemas.openxmlformats.org/officeDocument/2006/relationships/slide" Target="/ppt/slides/slide10.xml" Id="R4512cd9ad4c3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f380f1cb1c4d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a9467c05c940ea" /><Relationship Type="http://schemas.openxmlformats.org/officeDocument/2006/relationships/notesMaster" Target="/ppt/notesMasters/notesMaster1.xml" Id="R6578d64aa8354c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2e973dfeb241d5" /><Relationship Type="http://schemas.openxmlformats.org/officeDocument/2006/relationships/notesMaster" Target="/ppt/notesMasters/notesMaster1.xml" Id="R6c8ff240aea44b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32507fc4944a27" /><Relationship Type="http://schemas.openxmlformats.org/officeDocument/2006/relationships/notesMaster" Target="/ppt/notesMasters/notesMaster1.xml" Id="Rbd7dbba7d2ee4e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cef9423f464450" /><Relationship Type="http://schemas.openxmlformats.org/officeDocument/2006/relationships/notesMaster" Target="/ppt/notesMasters/notesMaster1.xml" Id="Rbaf5049d8b1046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d807ead4504b29" /><Relationship Type="http://schemas.openxmlformats.org/officeDocument/2006/relationships/notesMaster" Target="/ppt/notesMasters/notesMaster1.xml" Id="R37fce605b78e43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f6e8e7bbdd4bc1" /><Relationship Type="http://schemas.openxmlformats.org/officeDocument/2006/relationships/notesMaster" Target="/ppt/notesMasters/notesMaster1.xml" Id="R3fa7b178b3e446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830232e83e46e7" /><Relationship Type="http://schemas.openxmlformats.org/officeDocument/2006/relationships/notesMaster" Target="/ppt/notesMasters/notesMaster1.xml" Id="R843f965f500241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9fc92d00e5485f" /><Relationship Type="http://schemas.openxmlformats.org/officeDocument/2006/relationships/notesMaster" Target="/ppt/notesMasters/notesMaster1.xml" Id="R6bcf1cc4bf2140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1462f1e97d47d4" /><Relationship Type="http://schemas.openxmlformats.org/officeDocument/2006/relationships/notesMaster" Target="/ppt/notesMasters/notesMaster1.xml" Id="R374417e9c9e742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da4c9d096a4f50" /><Relationship Type="http://schemas.openxmlformats.org/officeDocument/2006/relationships/notesMaster" Target="/ppt/notesMasters/notesMaster1.xml" Id="Rabe1ed63011046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3e1baf2e84a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ee467412284267" /><Relationship Type="http://schemas.openxmlformats.org/officeDocument/2006/relationships/slideLayout" Target="/ppt/slideLayouts/slideLayout1.xml" Id="R5c8a9c013a7249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8a9c013a7249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17ae375eb43ed" /><Relationship Type="http://schemas.openxmlformats.org/officeDocument/2006/relationships/notesSlide" Target="/ppt/notesSlides/notesSlide1.xml" Id="R16815eb28ecb4a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1e7c1b9ea4326" /><Relationship Type="http://schemas.openxmlformats.org/officeDocument/2006/relationships/notesSlide" Target="/ppt/notesSlides/notesSlide2.xml" Id="Rc201e510e8584d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515ce349241b6" /><Relationship Type="http://schemas.openxmlformats.org/officeDocument/2006/relationships/notesSlide" Target="/ppt/notesSlides/notesSlide3.xml" Id="R3d804a1cd2764a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565338c0e4080" /><Relationship Type="http://schemas.openxmlformats.org/officeDocument/2006/relationships/notesSlide" Target="/ppt/notesSlides/notesSlide4.xml" Id="Rbdda687d71f742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e25c134514e6f" /><Relationship Type="http://schemas.openxmlformats.org/officeDocument/2006/relationships/notesSlide" Target="/ppt/notesSlides/notesSlide5.xml" Id="Rb772449d8ce142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136d4a90d4397" /><Relationship Type="http://schemas.openxmlformats.org/officeDocument/2006/relationships/notesSlide" Target="/ppt/notesSlides/notesSlide6.xml" Id="Rf46099b9293c44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f522dd7844de5" /><Relationship Type="http://schemas.openxmlformats.org/officeDocument/2006/relationships/chart" Target="/ppt/slides/charts/chart1.xml" Id="Raca6d7a898264e3b" /><Relationship Type="http://schemas.openxmlformats.org/officeDocument/2006/relationships/notesSlide" Target="/ppt/notesSlides/notesSlide7.xml" Id="R78b3d388621241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4361c78c24110" /><Relationship Type="http://schemas.openxmlformats.org/officeDocument/2006/relationships/notesSlide" Target="/ppt/notesSlides/notesSlide8.xml" Id="Re14a1d8d22b449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12ec9bd4f4f54" /><Relationship Type="http://schemas.openxmlformats.org/officeDocument/2006/relationships/notesSlide" Target="/ppt/notesSlides/notesSlide9.xml" Id="R04a47a1e0b4047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d1eeddca24d73" /><Relationship Type="http://schemas.openxmlformats.org/officeDocument/2006/relationships/notesSlide" Target="/ppt/notesSlides/notesSlide10.xml" Id="R6683328b9eec41d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Decode TPS</c:v>
          </c:tx>
          <c:spPr>
            <a:solidFill xmlns:a="http://schemas.openxmlformats.org/drawingml/2006/main">
              <a:srgbClr val="000000"/>
            </a:solidFill>
          </c:spPr>
          <c:dPt>
            <c:idx val="1"/>
            <c:spPr>
              <a:solidFill xmlns:a="http://schemas.openxmlformats.org/drawingml/2006/main">
                <a:srgbClr val="FF6B35"/>
              </a:solidFill>
            </c:spPr>
          </c:dPt>
          <c:dLbls/>
          <c:cat>
            <c:strLit>
              <c:ptCount val="2"/>
              <c:pt idx="0">
                <c:v>Stock MNN</c:v>
              </c:pt>
              <c:pt idx="1">
                <c:v>Custom hotpath</c:v>
              </c:pt>
            </c:strLit>
          </c:cat>
          <c:val>
            <c:numLit>
              <c:formatCode>General</c:formatCode>
              <c:ptCount val="2"/>
              <c:pt idx="0">
                <c:v>2.26676</c:v>
              </c:pt>
              <c:pt idx="1">
                <c:v>0.561446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dLblPos val="outEnd"/>
          <c:showVal val="1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EDEDED"/>
        </a:solidFill>
      </c:spPr>
    </c:plotArea>
    <c:plotVisOnly val="1"/>
  </c:chart>
  <c:spPr>
    <a:solidFill xmlns:a="http://schemas.openxmlformats.org/drawingml/2006/main">
      <a:srgbClr val="EDEDED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E6DDBB-691C-40FC-9206-406B8C91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000000"/>
                </a:solidFill>
              </a:defRPr>
            </a:pPr>
            <a:r>
              <a:rPr sz="3900" b="0">
                <a:solidFill>
                  <a:srgbClr val="000000"/>
                </a:solidFill>
              </a:rPr>
              <a:t>Custom decode hotpath is real, but it is not faster yet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F3274-3BA9-4B5D-91BC-DB366165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95700"/>
            <a:ext cx="12192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19AD7-D7BB-4379-A057-73B4BE47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FBCB0-4A0D-4C07-84FD-8D5303E6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71B15-7AB2-4DBC-BF0D-0317EC09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76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Device Farm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CB343-2F50-4665-BC22-BAF504D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05425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Same Galaxy S26 Ultra, same Qwen3.5-9B package, same prompt and generation settings.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6CF2D-3AA0-47B2-B992-6B0632DB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Honest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1045F-E03E-496C-BF89-06D09FC3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0542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Custom W4A16/RMSNorm/RoPE decode path runs, but decode TPS is 0.2477x stock MNN.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9FF1A-2856-4297-85A1-0BC9D5A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Qwen3.5-9B W4A16 / Android NDK / AWS Device Farm / July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4CF26-F3D8-43A2-909D-44B77A39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1374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735E2-529C-4DC4-8839-A38D40B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Custom hotpath is real, speedup is not allowed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F6153-1526-4FA1-91F6-5F14EB0B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Qwen3.5-9B custom inference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3D334-00D2-4A68-AAD5-4EB9E804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6FEE5-7733-4AF3-9D82-71F25CF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1239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evidence shape is complete, and remaining fallbacks stay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F65DD-44F2-450C-A8A2-0C6CDBCF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DBAEE-D0AA-4BEA-A3ED-A3817C91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2124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00000"/>
                </a:solidFill>
              </a:defRPr>
            </a:pPr>
            <a:r>
              <a:rPr sz="3450" b="0">
                <a:solidFill>
                  <a:srgbClr val="000000"/>
                </a:solidFill>
              </a:rPr>
              <a:t>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7E8C3-49F7-4E9A-B561-6665A8B9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21240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selected_kernels.hotpath_replaced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FA301-D15F-475C-91D7-30D80578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DBF9E-F54F-4813-96E7-82589FC4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76475"/>
            <a:ext cx="2124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00000"/>
                </a:solidFill>
              </a:defRPr>
            </a:pPr>
            <a:r>
              <a:rPr sz="3450" b="0">
                <a:solidFill>
                  <a:srgbClr val="000000"/>
                </a:solidFill>
              </a:rPr>
              <a:t>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E872D-D79A-40EC-BB6D-D0D89B15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48025"/>
            <a:ext cx="21240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calls MNN Llm::response in measured custom generation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2E949-4D21-4D02-8D37-7414AD2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947F1-57EC-4888-BCBC-3989CBE9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76475"/>
            <a:ext cx="2124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F6B35"/>
                </a:solidFill>
              </a:defRPr>
            </a:pPr>
            <a:r>
              <a:rPr sz="3450" b="0">
                <a:solidFill>
                  <a:srgbClr val="FF6B35"/>
                </a:solidFill>
              </a:rPr>
              <a:t>0.2477x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5C5CC-67B7-41C9-90BA-310462A4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48025"/>
            <a:ext cx="21240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custom / stock decode TPS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1013D-79F7-451E-ACDF-7BF02C88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6C296-67DF-4880-B5C4-93C8DB87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76475"/>
            <a:ext cx="2124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00000"/>
                </a:solidFill>
              </a:defRPr>
            </a:pPr>
            <a:r>
              <a:rPr sz="3450" b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EF70E-8DA7-40C4-B8CA-C1662F9F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21240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fallback families still declared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FAA84-93CC-4F22-B919-DFF1CE93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06FD6-7262-4443-B134-B7684EDE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95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Verdict: functional custom-hotpath bring-up, not a performance win. Requirement 1: YES. Requirement 2: YES for measured hotpath comparison. Faithful full inference: PARTIAL.</a:t>
            </a:r>
          </a:p>
        </p:txBody>
      </p:sp>
    </p:spTree>
    <p:extLst>
      <p:ext uri="{BB962C8B-B14F-4D97-AF65-F5344CB8AC3E}">
        <p14:creationId xmlns:p14="http://schemas.microsoft.com/office/powerpoint/2010/main" val="238624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36B05A-8773-43EC-BA01-117AF641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custom path now owns the decode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BF6DA-C662-4BDE-9FF2-8D02B252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Qwen3.5-9B custom inference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36263-68FA-4D98-BD03-8DD867DB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31F46-B703-4005-A724-35842AD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3EB1C-8D5A-49B1-B1CC-3549ACB6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55763-580A-46E3-A7B7-C8FAEA64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146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Packed Qwen weights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20B70-D0A8-4245-81AA-2C95BB1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33775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Safetensors -&gt; xq4/f32 manifest plus MNN files for baseline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FC624-A02B-4457-A899-BF822155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FFB3A-E46C-4844-8487-265D9B77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146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JNI benchmark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1D960-3D34-46C3-AAC5-5E7D8E9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33775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xq_options.use_mnn_fallback = 0 for measured custom generation.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10909-66CA-402C-BDC2-90AFFC4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21D76-95A7-40D6-9DF3-96808537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146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CustomModel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C1233-D32A-44BD-8D9D-44814FE7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33775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Prefill stub plus decodeOne loop with trace accounting.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37925-14E6-4BC5-BB15-BD410D9F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B33B6-940B-45C6-8995-11F65A18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146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Generated kernels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E4712-B7EF-4E2B-ACED-3A5050AC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533775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W4A16 GEMV, RMSNorm, RoPE, SiLU gate multiply.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3DCFF-D287-4AA1-A019-8DFDC98E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053BD-61AE-41D5-A658-CCE0BBEE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146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BENCH_RESULT_JSON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23B55-19FC-4471-AD6E-EAF95873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33775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TPS/TPOT, selected kernels, fallback ops, per-kernel wall clock.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DC4DC-EB39-4E86-A343-50D4BC2F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816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Stock MNN remains separate: android/app uses MNN LLM as the baseline. The custom APK links MNN only for a separate debug hot-path trace, outside measured custom generation.</a:t>
            </a:r>
          </a:p>
        </p:txBody>
      </p:sp>
    </p:spTree>
    <p:extLst>
      <p:ext uri="{BB962C8B-B14F-4D97-AF65-F5344CB8AC3E}">
        <p14:creationId xmlns:p14="http://schemas.microsoft.com/office/powerpoint/2010/main" val="473313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D5243-4F25-43B4-A93A-8CB5B56E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generated W4A16 kernel performs fused dequant and GEMV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31DB5-7539-43A8-B6F7-B0A9BE65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Qwen3.5-9B custom inference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F5D71-DCFE-46FC-86AD-1DDB537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E74AA-2FF2-4DCD-987C-B2315353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5524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49553-4C47-43B6-B2A2-CC7E9523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50292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for each output tile: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acc = sum(x[col] * dequant(w4[col]))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unpack low/high int4 nibbles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subtract zero point per group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multiply group scale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accumulate directly into float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No gemvLowBitReference call remains in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xq_gemv_w4a16_neon.cpp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50B0F-886B-4F94-952B-4039D67D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43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90DBA-B80E-4DDE-BD32-5C1A041F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466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Linear hotpath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7AC8D-6B2C-496D-8878-7B9A5041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71675"/>
            <a:ext cx="521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q_proj, k_proj, v_proj, o_proj, gate_proj, up_proj, down_proj, plus linear attention qkv/z/out projection families.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A64E0-3C14-4656-A7B9-008E38D6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81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46F6C-D63E-4195-8513-5CF15A5F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051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Custom normalization and position math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73F0A-04DA-4944-A8F6-3D4B280F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0997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RMSNorm and RoPE are called inside CustomModel decode before/around the attention and MLP linears.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D2E05-583C-4527-AD03-586AC858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43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B6EED-5A6A-4893-8B6C-A42EBAD4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667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Fallbacks stay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901F5-9314-4BEB-94B3-1C41B33D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172075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attention, linear_attention_state, lm_head, sampling, prefill_kv_build</a:t>
            </a:r>
          </a:p>
        </p:txBody>
      </p:sp>
    </p:spTree>
    <p:extLst>
      <p:ext uri="{BB962C8B-B14F-4D97-AF65-F5344CB8AC3E}">
        <p14:creationId xmlns:p14="http://schemas.microsoft.com/office/powerpoint/2010/main" val="1268380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8142C-6FDA-45FA-8207-1BF14BF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connectors make the benchmark auditable end to 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67B8E-7976-4D91-9E38-DA886353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Qwen3.5-9B custom inference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C9F31-EF9C-4822-B8E4-7C1ACC40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638300"/>
          <a:ext xmlns:a="http://schemas.openxmlformats.org/drawingml/2006/main" cx="11401425" cy="3562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4158212"/>
                <a:gridCol w="5242963"/>
              </a:tblGrid>
              <a:tr h="593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Connector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What it does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Evidence path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MNN baseline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Runs stock MNN LLM for comparison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android/app/src/main/cpp/stock_benchmark_jni.cpp</a:t>
                      </a:r>
                    </a:p>
                  </a:txBody>
                  <a:tcPr marL="76200" marR="76200" marT="38100" marB="38100"/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Custom runtime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Creates CustomModel when fallback is off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customlib/runtime/session.cpp</a:t>
                      </a:r>
                    </a:p>
                  </a:txBody>
                  <a:tcPr marL="76200" marR="76200" marT="38100" marB="38100"/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Fallback connector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Records unsupported op families explicitly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customlib/runtime/custom_model.cpp</a:t>
                      </a:r>
                    </a:p>
                  </a:txBody>
                  <a:tcPr marL="76200" marR="76200" marT="38100" marB="38100"/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JNI benchmark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Emits selected kernels, TPS/TPOT, ratios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android/benchmark_app/src/main/cpp/benchmark_jni.cpp</a:t>
                      </a:r>
                    </a:p>
                  </a:txBody>
                  <a:tcPr marL="76200" marR="76200" marT="38100" marB="38100"/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Device Farm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Downloads split zip, verifies sha256, pulls artifacts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ModelBootstrap.java + test spec</a:t>
                      </a:r>
                    </a:p>
                  </a:txBody>
                  <a:tcPr marL="76200" marR="76200" marT="38100" marB="381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B73D3-D95A-420B-98E8-F888DBA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This is the requested code walkthrough surface: kernels, connectors, JNI, benchmark harness, and Device Farm handoff are each tied to a file and a runtime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216877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A5DF8-C645-4387-B730-90FFA1C8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comparison used the same device, model, prompt, and generation settings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7E4E2-FEC8-494C-8417-7627CB0B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Qwen3.5-9B custom inference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B70A3-D28B-475B-B834-E9582AFC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504950"/>
          <a:ext xmlns:a="http://schemas.openxmlformats.org/drawingml/2006/main" cx="11401425" cy="3638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4700588"/>
                <a:gridCol w="4700588"/>
              </a:tblGrid>
              <a:tr h="5197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Field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Stock MNN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Custom hotpath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Device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Samsung Galaxy S26 Ultra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Samsung Galaxy S26 Ultra</a:t>
                      </a:r>
                    </a:p>
                  </a:txBody>
                  <a:tcPr marL="76200" marR="76200" marT="38100" marB="38100"/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Prompt / max_new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512 / 256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512 / 256</a:t>
                      </a:r>
                    </a:p>
                  </a:txBody>
                  <a:tcPr marL="76200" marR="76200" marT="38100" marB="38100"/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Sampling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0 temp, top_k 1, top_p 1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0 temp, top_k 1, top_p 1</a:t>
                      </a:r>
                    </a:p>
                  </a:txBody>
                  <a:tcPr marL="76200" marR="76200" marT="38100" marB="38100"/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Iterations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 warmup, 5 measured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 warmup, 5 measured</a:t>
                      </a:r>
                    </a:p>
                  </a:txBody>
                  <a:tcPr marL="76200" marR="76200" marT="38100" marB="38100"/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Instrumentation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OK (1 test)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OK (1 test)</a:t>
                      </a:r>
                    </a:p>
                  </a:txBody>
                  <a:tcPr marL="76200" marR="76200" marT="38100" marB="38100"/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Run ARN suffix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a2f55f2f-b13f-4abf-8362-79810afd58ef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c3353a1b-56f6-4a2e-87ab-f4bd20b3416a</a:t>
                      </a:r>
                    </a:p>
                  </a:txBody>
                  <a:tcPr marL="76200" marR="76200" marT="38100" marB="381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156EF-84AE-4E69-B2E1-66151294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Model: Qwen/Qwen3.5-9B @ c202236235762e1c871ad0ccb60c8ee5ba337b9a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Zip: 10.62 GB split into 3 Device Farm uploads; sha256 ad51ea82e015341c... verified on-device.</a:t>
            </a:r>
          </a:p>
        </p:txBody>
      </p:sp>
    </p:spTree>
    <p:extLst>
      <p:ext uri="{BB962C8B-B14F-4D97-AF65-F5344CB8AC3E}">
        <p14:creationId xmlns:p14="http://schemas.microsoft.com/office/powerpoint/2010/main" val="6360462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AD0339-5C5D-45AB-9112-70470EC1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Stock MNN is faster on overall decode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3207F-45BA-436A-BA45-6FA97971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Qwen3.5-9B custom inference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3E213-9791-4FC6-810A-299F566E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746BB-B77D-4BD6-A0E4-F9452EE3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38225"/>
            <a:ext cx="5524500" cy="543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23900" y="1552575"/>
          <a:ext xmlns:a="http://schemas.openxmlformats.org/drawingml/2006/main" cx="48768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a6d7a898264e3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F123B-B202-4030-96DF-635B5833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Decode TPS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9DA58-A363-4EE3-A3D8-D0056380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04975"/>
            <a:ext cx="5295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The custom path is slower because it replaces the hotpath functionally, not yet with a fully optimized kernel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987F3-69C2-4CB1-9EC9-D5348EA0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76700"/>
            <a:ext cx="2247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850A0-C178-4649-8BD1-EB77345F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243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00000"/>
                </a:solidFill>
              </a:defRPr>
            </a:pPr>
            <a:r>
              <a:rPr sz="3450" b="0">
                <a:solidFill>
                  <a:srgbClr val="000000"/>
                </a:solidFill>
              </a:rPr>
              <a:t>1781.1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D981A-BA08-4C61-A553-A7B57BCE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295900"/>
            <a:ext cx="17907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Custom decode TPOT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94854-BE94-42F9-B7CA-383D4BBC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076700"/>
            <a:ext cx="2247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DA031-E32D-49C7-98C1-47D05C23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243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00000"/>
                </a:solidFill>
              </a:defRPr>
            </a:pPr>
            <a:r>
              <a:rPr sz="3450" b="0">
                <a:solidFill>
                  <a:srgbClr val="000000"/>
                </a:solidFill>
              </a:rPr>
              <a:t>441.2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8B15C-09AF-4051-9169-25B626E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295900"/>
            <a:ext cx="17907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Stock decode TPOT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A40AC-300A-4C0B-830D-23EE0F7C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743575"/>
            <a:ext cx="529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Custom / stock decode TPS: 0.2477x. Custom TPOT: 4.04x stock. Prefill TPS is emitted but not comparable because v14 prefill/KV build remains fallback.</a:t>
            </a:r>
          </a:p>
        </p:txBody>
      </p:sp>
    </p:spTree>
    <p:extLst>
      <p:ext uri="{BB962C8B-B14F-4D97-AF65-F5344CB8AC3E}">
        <p14:creationId xmlns:p14="http://schemas.microsoft.com/office/powerpoint/2010/main" val="138089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5ACC4C-FF34-4CDC-9C32-59F55845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custom wall clock is dominated by MLP W4A16 GEMV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6D19F-5F13-4A44-A94A-371A4282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Qwen3.5-9B custom inference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DBEFA-9409-4EE8-A391-41547371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1401425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591425"/>
                <a:gridCol w="1143000"/>
                <a:gridCol w="1428750"/>
                <a:gridCol w="1238250"/>
              </a:tblGrid>
              <a:tr h="428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Kernel / op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Calls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Total ms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Mean ms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linear_up_proj_w4a16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8192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107,642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13.1399</a:t>
                      </a:r>
                    </a:p>
                  </a:txBody>
                  <a:tcPr marL="76200" marR="7620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linear_gate_proj_w4a16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8192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107,624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13.1377</a:t>
                      </a:r>
                    </a:p>
                  </a:txBody>
                  <a:tcPr marL="76200" marR="7620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linear_down_proj_w4a16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8192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100,680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12.2900</a:t>
                      </a:r>
                    </a:p>
                  </a:txBody>
                  <a:tcPr marL="76200" marR="7620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linear_attn_in_proj_qkv_w4a16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6144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53,843.7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8.7636</a:t>
                      </a:r>
                    </a:p>
                  </a:txBody>
                  <a:tcPr marL="76200" marR="7620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linear_attn_out_proj_w4a16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6144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26,928.7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4.3829</a:t>
                      </a:r>
                    </a:p>
                  </a:txBody>
                  <a:tcPr marL="76200" marR="7620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linear_attn_in_proj_z_w4a16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6144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26,916.3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4.3809</a:t>
                      </a:r>
                    </a:p>
                  </a:txBody>
                  <a:tcPr marL="76200" marR="7620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linear_q_proj_w4a16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2048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17,948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8.7637</a:t>
                      </a:r>
                    </a:p>
                  </a:txBody>
                  <a:tcPr marL="76200" marR="7620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linear_o_proj_w4a16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2048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8,966.4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4.3781</a:t>
                      </a:r>
                    </a:p>
                  </a:txBody>
                  <a:tcPr marL="76200" marR="7620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linear_v_proj_w4a16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2048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2,245.6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1.0965</a:t>
                      </a:r>
                    </a:p>
                  </a:txBody>
                  <a:tcPr marL="76200" marR="76200" marT="38100" marB="381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96E29-C069-4258-9EFB-A0E5A17E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The up/gate/down projections are the largest custom costs. This is where the next optimization pass should focus after replacing remaining semantic fallbacks.</a:t>
            </a:r>
          </a:p>
        </p:txBody>
      </p:sp>
    </p:spTree>
    <p:extLst>
      <p:ext uri="{BB962C8B-B14F-4D97-AF65-F5344CB8AC3E}">
        <p14:creationId xmlns:p14="http://schemas.microsoft.com/office/powerpoint/2010/main" val="1138925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6CCF2-5636-49D6-8A2A-47B1FC85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MNN’s trace confirms convolution linears dominate the stock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D9C01-86ED-4087-8A4B-FDD8B523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Qwen3.5-9B custom inference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9D28D-FC59-46D6-A027-70567A36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466850"/>
          <a:ext xmlns:a="http://schemas.openxmlformats.org/drawingml/2006/main" cx="53340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81830"/>
                <a:gridCol w="1961470"/>
                <a:gridCol w="742950"/>
                <a:gridCol w="1047750"/>
              </a:tblGrid>
              <a:tr h="4653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Type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Stage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Calls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Total ms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Convolution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prefill_or_first_token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249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9,615.4</a:t>
                      </a:r>
                    </a:p>
                  </a:txBody>
                  <a:tcPr marL="76200" marR="76200" marT="38100" marB="38100"/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Convolution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decode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3984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4,384.9</a:t>
                      </a:r>
                    </a:p>
                  </a:txBody>
                  <a:tcPr marL="76200" marR="76200" marT="38100" marB="38100"/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UnaryOp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decode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2464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1,349.5</a:t>
                      </a:r>
                    </a:p>
                  </a:txBody>
                  <a:tcPr marL="76200" marR="76200" marT="38100" marB="38100"/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Raster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prefill_or_first_token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521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483</a:t>
                      </a:r>
                    </a:p>
                  </a:txBody>
                  <a:tcPr marL="76200" marR="76200" marT="38100" marB="38100"/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LinearAttention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decode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384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447.7</a:t>
                      </a:r>
                    </a:p>
                  </a:txBody>
                  <a:tcPr marL="76200" marR="76200" marT="38100" marB="38100"/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LayerNorm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decode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1680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354.9</a:t>
                      </a:r>
                    </a:p>
                  </a:txBody>
                  <a:tcPr marL="76200" marR="76200" marT="38100" marB="38100"/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134100" y="1466850"/>
          <a:ext xmlns:a="http://schemas.openxmlformats.org/drawingml/2006/main" cx="5667375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86088"/>
                <a:gridCol w="1728788"/>
                <a:gridCol w="952500"/>
              </a:tblGrid>
              <a:tr h="5429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Top op name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Stage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Total ms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/lm/lm_head/Linear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decode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243.5</a:t>
                      </a:r>
                    </a:p>
                  </a:txBody>
                  <a:tcPr marL="76200" marR="76200" marT="38100" marB="3810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/layers.21/mlp/down_proj/Linear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prefill_or_first_token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88.3</a:t>
                      </a:r>
                    </a:p>
                  </a:txBody>
                  <a:tcPr marL="76200" marR="76200" marT="38100" marB="3810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/layers.30/mlp/down_proj/Linear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prefill_or_first_token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85.3</a:t>
                      </a:r>
                    </a:p>
                  </a:txBody>
                  <a:tcPr marL="76200" marR="76200" marT="38100" marB="3810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/layers.22/mlp/down_proj/Linear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prefill_or_first_token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84.7</a:t>
                      </a:r>
                    </a:p>
                  </a:txBody>
                  <a:tcPr marL="76200" marR="76200" marT="38100" marB="3810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/layers.10/mlp/down_proj/Linear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prefill_or_first_token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00000"/>
                          </a:solidFill>
                        </a:rPr>
                        <a:t>84.6</a:t>
                      </a:r>
                    </a:p>
                  </a:txBody>
                  <a:tcPr marL="76200" marR="76200" marT="38100" marB="381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896DA-22A3-4F44-B33C-22BBC9BC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070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The trace was collected as a separate debug callback run in the custom APK with prompt 512 and max_new_tokens 16. It is evidence for MNN hot-path timing, not part of the measured custom generation loop.</a:t>
            </a:r>
          </a:p>
        </p:txBody>
      </p:sp>
    </p:spTree>
    <p:extLst>
      <p:ext uri="{BB962C8B-B14F-4D97-AF65-F5344CB8AC3E}">
        <p14:creationId xmlns:p14="http://schemas.microsoft.com/office/powerpoint/2010/main" val="937325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2276A-2188-4732-8F8D-21C37E95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Final verdict: requirements met, speedup claim not allowed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FF4BF-14CA-4954-8902-AAD790BB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Qwen3.5-9B custom inference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34AD4-EC8D-488C-85D3-C8826A25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D6550-E301-43A4-BBD7-DAB95C05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F7EDE-5170-40EF-9EBA-E348D254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DC32E-D7F6-4C27-B95D-9B8EE060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40562-EC32-4E6D-A450-C4DBB8CF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Faithful benchmark: PARTIAL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64B11-24ED-4519-89D1-EE5BF275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Same-device hotpath benchmark is valid; full Qwen semantics still have explicit fallbacks.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78B05-856F-4C59-8ED9-1A398FB8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100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Requirement 1 and 2: YES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7350E-2E35-4BC5-9A9E-FDC2245D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149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The deck, report, code walkthrough, and Device Farm artifacts cover creation and comparison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E86D4-DADF-485A-B79A-53DD5E77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00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Next smallest patch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C72C0-F854-4342-80B0-9FD0CB47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149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Replace attention/state/lm_head/sampling fallbacks, then optimize W4A16 tile schedule before claiming performance wins.</a:t>
            </a:r>
          </a:p>
        </p:txBody>
      </p:sp>
    </p:spTree>
    <p:extLst>
      <p:ext uri="{BB962C8B-B14F-4D97-AF65-F5344CB8AC3E}">
        <p14:creationId xmlns:p14="http://schemas.microsoft.com/office/powerpoint/2010/main" val="417309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2026-07-04T11:03:37.6720000Z</dcterms:created>
  <dcterms:modified xsi:type="dcterms:W3CDTF">2026-07-04T11:03:37.6720000Z</dcterms:modified>
</coreProperties>
</file>