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Today I am presenting my Qwen3.5-9B custom mobile inference library. The point of this presentation is not to claim that I beat MNN. The point is to show exactly what I built, how the custom runtime differs from stock MNN, how the kernels and connectors work, what was measured on AWS Device Farm, and where the remaining quality limits are. The short version is this: the custom path is real and benchmarked, v27 is the best final result, it is still slower than MNN, and I do not claim production-quality model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start with the actual requirements, because this keeps the presentation honest. I was asked to create a custom kernel library and provide a code walkthrough of the kernels and connectors. I was also asked to compare those generated kernels to MNN using wall-clock per kernel, overall time per output token, and tokens per second. The comparison had to use the same full Qwen3.5-9B package, the same Device Farm phone, and the same generation settings. So the rest of the deck is organized as evidence against those two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honest verdict. Requirement 1 is met for a real systems and kernel library with a code walkthrough. Requirement 2 is met for a same-device Device Farm benchmark comparison. The custom path does not beat stock MNN. In the final v27 run, custom decode is 2.11989 tokens per second, and fresh stock MNN CPU decode is 2.26870 tokens per second, so custom is 0.9344x stock. I also do not claim production-quality output. Earlier quality runs exposed repeated-token failures, and v27 passes a deterministic sanity guard, but only one out of five validation prompts exactly matches stock MNN.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cleanest way to explain what is different from MNN. The stock path sends the prompt and model package into MNN::Transformer::Llm, then MNN owns the internal graph, runtime, operators, output, and timing. The custom path enters my C ABI, creates a Session, loads CustomModel, runs a custom prefill and decode loop, calls custom W4A16 kernels and custom attention, lm_head, and sampling, and then emits custom timing JSON. The key evidence fields are use_mnn_fallback equals zero, calls_mnn_llm_response_for_measured_generation equals false, full_custom_decode equals true, and fallback_op_families is empty.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repository map I use to defend that the work is not just a wrapper. The public C ABI is in customlib/include/xqwen35.h. The session connector is in customlib/runtime/session.cpp. The custom runtime is in customlib/runtime/custom_model.cpp. The generated W4A16 kernel is in customlib/kernels/generated/arm64_neon/xq_gemv_w4a16_neon.cpp. The packer is in customlib/packer/pack_qwen35_xq4.py. The custom Android benchmark connector is benchmark_jni.cpp, and the stock MNN connector is stock_benchmark_jni.cpp. So the custom path has its own package format, runtime, kernels, connectors, and evidence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 ABI is the boundary between Android or host code and the custom inference library. The important entry points are xq_create, xq_generate, xq_prefill, xq_decode_one, xq_get_last_metrics, and xq_get_kernel_trace_json. This matters because the Android benchmark is not directly calling MNN APIs for measured custom generation. It is calling this custom ABI. The fallback option is explicit in xq_options, and the benchmark sets that option to zero for the custom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runtime selection logic. Session supports an MNN fallback mode, and that is useful for debugging. If use_mnn_fallback is nonzero, Session can create an MNN LLM. But in the measured custom benchmark, use_mnn_fallback is zero. In that branch, Session creates CustomModel and loads the custom model package. Then xq_generate performs prefill once and calls decodeOne repeatedly. So the repo contains MNN response calls, but the measured custom generation path does not use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call chain I want you to keep in mind for the rest of the walkthrough. The Android benchmark calls NativeBenchmark.runBenchmark. That calls xq_create, then xq_generate. Inside xq_generate, Session calls prefill, CustomModel runs prefill across the prompt, then Session calls decodeOne for each generated token, and CustomModel runs decodeOne and sampleGreedy. The benchmark records BENCH_RESULT_JSON after this path, including TPOT, TPS, selected kernels, and per-kernel wall-clock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custom runtime needs a custom package, not just the MNN graph. The packer exports W4A16 matrices for q, k, v, o, gate, up, and down projections. It also exports linear-attention tensors, including in_proj_qkv, in_proj_a, in_proj_b, in_proj_z, out_proj, conv1d.weight, A_log, and dt_bias. It exports lm_head.weight for real logits, BF16 embeddings, norm vectors, RoPE metadata, and xqwen35_manifest.json. The MNN package remains useful for the stock baseline and optional fallback, but the measured custom linears use the custom W4A16 package.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generated kernel story. W4A16 means the weights are stored as four-bit values, the activation vector is treated as the runtime activation input, and accumulation is performed in floating point. The kernel avoids materializing dequantized weights. For each row and quantization group, it computes a code dot product, computes the activation group sum, and combines them as scale times code_dot minus zero times x_sum. That fused path targets batch-one decode GEMV, which is the mobile LLM hot path. The final generated file does not call gemvLowBitReference.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common shortcut would be to only load the last prompt token, but that would not be faithful. The custom prefill path walks every prompt token. For each token, it reads the BF16 embedding row, runs the full layer stack, appends key and value cache entries for full-attention layers, and updates recurrent state for linear-attention layers. The trace includes prefill_token_custom and prefill_kv_build_custom. This proves the systems path exists, but it does not by itself prove production-quality language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summarizes operator coverage. The q, k, v, and o projections use custom W4A16 GEMV. The gate, up, and down MLP projections also use custom W4A16 GEMV. RMSNorm and RoPE are implemented in the custom runtime. Attention is custom grouped-query decode. The linear-attention recurrent state is custom. lm_head uses packed W4A16 logits, and sampling uses greedy argmax. For the measured custom path, fallback_op_families is empty, which is the key coverage field.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full-attention decode order is explicit in CustomModel. First the runtime applies input RMSNorm. Then it runs q, k, and v W4A16 projections. It applies q_norm and k_norm where required, applies active-slice RoPE at the absolute position, appends K and V to the cache, maps query heads to grouped key-value heads, computes dot product scores divided by square root of head_dim, performs stable softmax, reduces over V, applies the output gate, and finally runs o_proj as W4A16 GEMV. The trace rows show attention_score_custom, attention_softmax_custom, attention_v_reduce_custom, kv_append_custom, and linear_o_proj_w4a16.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linear-attention layers maintain custom recurrent state across prefill and decode. The runtime uses exported tensors such as in_proj_qkv, in_proj_a, in_proj_b, in_proj_z, out_proj, conv1d.weight, A_log, and dt_bias. The trace rows include the convolution update, qk L2 normalization, state update, gated RMSNorm, and output projection. This area is also accuracy-sensitive. Later debugging found graph-level mismatches around gate and norm semantics, so this is real custom work, but it is also a place I would harden further before making production-quality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addresses a very important shortcut that is not allowed. The measured path does not use hash-based token generation. The runtime loads packed lm_head.weight from the custom package. During greedy generation, it computes real logits from the final hidden state and chooses the argmax token. The optimized path can stream the argmax to avoid materializing the full logits vector. The trace rows are lm_head_custom and sampling_greedy_custom. But real logits are necessary, not sufficient, for model-quality output, which is why quality validation is separate.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I say connector, I mean the glue that makes kernels usable from the outside world. The C ABI connector exposes xq_create, xq_generate, and metric APIs. The JNI connector lets the Android benchmark call the native library. The MNN connector is used for the stock baseline and optional fallback. The benchmark connector emits BENCH_RESULT_JSON, TPOT, TPS, and wall-clock rows. The Device Farm connector handles model bootstrap, SHA verification, and artifacts. The Vulkan connector probes capability, but no custom Vulkan kernels are claimed. The quality connector emits BENCH_QUALITY_JSON and compares token dumps.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benchmark design is intentionally controlled. Both stock and custom runs use the AWS Device Farm Samsung Galaxy S26 Ultra pool. They use the same full Qwen3.5-9B W4A16 package with on-device SHA verification. The performance prompt requests 512 prompt tokens using fixed token id 16. Generation uses max_new_tokens 256, temperature zero, top_k one, top_p one, and batch size one. There is one warmup and three measured iterations. Decode TPS is generated tokens divided by decode time, and TPOT is decode time divided by generated tokens.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final performance result I would present first. Fresh stock MNN CPU reaches 2.26870 decode tokens per second and 440.780 milliseconds TPOT. The accepted v17 custom baseline was 1.93417 decode tokens per second and 517.018 milliseconds TPOT. The final v27 custom result is 2.11989 decode tokens per second and 471.723 milliseconds TPOT. So v27 improves over v17, but it is still slower than stock MNN. The final custom-to-stock ratio is 0.9344x, and no speedup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explains where the custom runtime spends time. Prefill_token_custom is the largest row, because the custom prefill path walks the full prompt through the layer stack. The W4A16 MLP projections are also large: down_proj, gate_proj, and up_proj each consume significant time. Linear-attention projection and recurrent state update are also major rows. lm_head_custom and sampling_greedy_custom matter because the vocabulary is large. This table is useful because it tells me where future optimization should focus, rather than only showing overall TPS.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microbench rows are useful but limited. They isolate individual kernels such as 4096 by 4096 W4A16 GEMV, 12288 by 4096 MLP projection, 4096 by 12288 down projection, RMSNorm, RoPE, grouped-query attention decode, and gated-delta linear attention. These numbers help explain kernel-level behavior, but they are not the overall model speed. The full Device Farm run is the source for TPOT and TPS. I use microbench results for kernel development, not as a substitute for the full-model benchmark.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MNN hot-path trace is collected separately using a debug callback. It is not part of measured custom generation. It is included because it helps compare hotspot structure. In the trace, MNN spends a lot of time in Convolution-like linear operators, UnaryOp, LinearAttention, LayerNorm, Attention, and the lm_head Linear. This is directionally consistent with the custom bottlenecks: linears, attention or linear-attention state, and lm_head dominate. The important caveat is that this trace is evidence about MNN hotspots, not custom timing.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also want to be precise about Vulkan. Vulkan was attempted and probed. Stock MNN Vulkan initialized Adreno Vulkan but crashed before producing benchmark JSON in the backend sweep evidence. The custom cpu_vulkan_hybrid path successfully probed Vulkan symbols, but the final custom_backend_actual is CPU, and vulkan_generation_kernels_used is false. Therefore I do not claim custom Vulkan kernel execution, and I do not claim a Vulkan speedup. The defensible final comparison is CPU versus CPU.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Speed is not correctness. After performance benchmarking, I added deterministic quality validation. The validation uses fixed prompts, generated token dumps, exact match, prefix match length, token match rate, edit distance, invalid-token checks, empty-output checks, and repeated-token checks. Rejected quality runs found serious repeated-token behavior, especially token 220, with zero out of five exact matches. The latest v27 English sanity guard passes five out of five comparison-gate prompts and removes the repeated-token-220 failure, but only one out of five exactly matches stock MNN. So I claim basic token sanity, not production-quality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quality failures were not just formatting or reporting issues. Debugging found real graph-level correctness issues: linear-attention gate semantics mismatch, L2 norm epsilon mismatch, Qwen3.5 partial RoPE active-slice layout issues, and a full-attention q and gate split issue. Those are the kinds of details that can make generated tokens diverge even when every operator has an implementation. This is why the final position is careful: systems path and benchmark requirements are met, quality sanity is improved, but full production-quality validation remains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I use to keep the defense precise. I can claim that the custom kernel library exists. I can claim the measured custom path is separate from stock MNN generation. I can claim there is a full-model Device Farm benchmark with per-kernel wall clock, TPOT, and TPS. I can claim v27 reaches 93.4 percent of fresh stock MNN CPU decode throughput. I can also claim the quality blocker and later sanity guard are documented. I should not claim speedup over MNN, 20 tokens per second, production-quality output, token-level equivalence, or custom Vulkan kernel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my final takeaway. I built a custom systems and kernel inference path for full Qwen3.5-9B mobile inference. I connected it to Android, Device Farm, per-kernel tracing, and a stock MNN comparison. The final v27 result is slower than MNN but much closer than the v17 baseline, reaching 93.4 percent of stock CPU decode TPS. Quality validation prevented me from overclaiming, and it exposed the remaining correctness work. So the project satisfies the systems and benchmark requirements, while production-level model quality remains the next frontier.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presentation is now complete. If there are implementation questions, I will use the appendix. The appendix maps each claim back to a file path and a small code snippet. The purpose is not to show every line of code. The purpose is to show that the custom ABI, runtime selection, prefill and decode loop, W4A16 kernel, benchmark connector, stock connector, packer, and quality connector all exist as concrete code, and that each one supports a specific claim I made in the main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appendix slide shows where the custom library starts. The file is customlib/include/xqwen35.h. The important entry points are xq_create, xq_generate, xq_prefill, xq_decode_one, xq_get_last_metrics, and xq_get_kernel_trace_json. This proves there is a stable native API boundary. It matters because Android and host tests can drive the same boundary. It does not by itself prove model correctness, but it proves the custom runtime is not just an informal script or report artifact.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nuance around MNN fallback. The code reads use_mnn_fallback from the options. If fallback is enabled, Session can create an MNN LLM. If fallback is disabled, Session creates CustomModel and loads the custom package. The measured custom benchmark uses fallback disabled. So the correct statement is not that the repo has no MNN code. The correct statement is that the measured custom generation path does not call MNN LLM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core custom generation loop. In prefill, CustomModel iterates over prompt tokens, loads each embedding row, and runs the layer stack at the correct position. In decodeOne, it runs the layer stack for the current position, samples a greedy token, and loads that token's embedding for the next step. This proves that xq_generate ultimately drives CustomModel and the custom kernels, rather than delegating the main generation path to MNN.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kernel-level evidence. gemvW4A16Neon receives a QuantizedMatrix and an activation vector. It precomputes activation group sums, then computes rows using the generated row implementation. gemvW4A16ArgmaxNeon is used for the streaming lm_head argmax path. The important point is that the W4 path computes directly from packed int4 data and scales, and the generated file does not call gemvLowBitReference. This is the main generated-kernel distinction from a reference fallback.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Device Farm actually drives the custom path. The Android benchmark creates xq_options, sets use_mnn_fallback to zero, calls xq_create, then calls xq_generate. After generation, it emits BENCH_RESULT_JSON. That JSON contains the custom path flags, backend information, TPOT, TPS, selected kernels, and per-kernel wall clock. This is why the benchmark result can be audited from artifacts instead of relying on verbal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stock baseline. The stock Android app creates MNN::Transformer::Llm and calls llm-&gt;response with the same benchmark settings. It emits stock BENCH_RESULT_JSON and stock BENCH_QUALITY_JSON. This is intentionally separate from the custom runtime. It gives a fair stock baseline, and it also gives a reference for generated-token comparison in the quality validation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the custom runtime gets its weights. The packer starts with lm_head.weight and then exports attention projection weights, MLP projection weights, and linear-attention tensors. It writes quantization metadata such as bits and group size into the manifest. The runtime loader consumes these xq4 matrices and metadata. This is important because customlib is not only an alternate launcher for MNN. It has its own packed model representation for the custom kernels.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final appendix slide shows the quality connector. BENCH_QUALITY_JSON includes prompt token IDs, generated token IDs, exact match, prefix match length, token match rate, edit distance, invalid-token checks, empty-output checks, and repeated-token checks. This proves that the project treats speed and correctness separately. The quality history includes rejected runs, and the v27 sanity guard passes, but I still do not claim production-quality language-model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46C584-2855-4A74-BF59-CD3CC34DE504}"/>
              </a:ext>
            </a:extLst>
          </p:cNvPr>
          <p:cNvSpPr>
            <a:spLocks noGrp="1"/>
          </p:cNvSpPr>
          <p:nvPr/>
        </p:nvSpPr>
        <p:spPr>
          <a:xfrm>
            <a:off x="685800" y="914400"/>
            <a:ext cx="8858250" cy="1428750"/>
          </a:xfrm>
          <a:prstGeom prst="rect">
            <a:avLst/>
          </a:prstGeom>
          <a:noFill/>
          <a:ln w="0">
            <a:solidFill>
              <a:srgbClr val="000000">
                <a:alpha val="0"/>
              </a:srgbClr>
            </a:solidFill>
            <a:prstDash val="solid"/>
          </a:ln>
        </p:spPr>
        <p:txBody>
          <a:bodyPr/>
          <a:lstStyle/>
          <a:p>
            <a:pPr algn="l">
              <a:defRPr sz="3750" b="1">
                <a:solidFill>
                  <a:srgbClr val="FFFFFF"/>
                </a:solidFill>
                <a:latin typeface="Aptos"/>
                <a:ea typeface="Aptos"/>
                <a:cs typeface="Aptos"/>
              </a:defRPr>
            </a:pPr>
            <a:r>
              <a:rPr sz="3750" b="1">
                <a:solidFill>
                  <a:srgbClr val="FFFFFF"/>
                </a:solidFill>
                <a:latin typeface="Aptos"/>
                <a:ea typeface="Aptos"/>
                <a:cs typeface="Aptos"/>
              </a:rPr>
              <a:t>Qwen3.5-9B Custom Mobile Inference Library</a:t>
            </a:r>
          </a:p>
        </p:txBody>
      </p:sp>
      <p:sp>
        <p:nvSpPr>
          <p:cNvPr id="2" name="Rectangle 1">
            <a:extLst>
              <a:ext uri="{FF2B5EF4-FFF2-40B4-BE49-F238E27FC236}">
                <a16:creationId xmlns:a16="http://schemas.microsoft.com/office/drawing/2014/main" id="{91195E94-C1B2-47F1-86C3-40986D2AA759}"/>
              </a:ext>
            </a:extLst>
          </p:cNvPr>
          <p:cNvSpPr>
            <a:spLocks noGrp="1"/>
          </p:cNvSpPr>
          <p:nvPr/>
        </p:nvSpPr>
        <p:spPr>
          <a:xfrm>
            <a:off x="704850" y="2571750"/>
            <a:ext cx="7429500" cy="381000"/>
          </a:xfrm>
          <a:prstGeom prst="rect">
            <a:avLst/>
          </a:prstGeom>
          <a:noFill/>
          <a:ln w="0">
            <a:solidFill>
              <a:srgbClr val="000000">
                <a:alpha val="0"/>
              </a:srgbClr>
            </a:solidFill>
            <a:prstDash val="solid"/>
          </a:ln>
        </p:spPr>
        <p:txBody>
          <a:bodyPr/>
          <a:lstStyle/>
          <a:p>
            <a:pPr algn="l">
              <a:defRPr sz="1875" b="0">
                <a:solidFill>
                  <a:srgbClr val="CBD5E1"/>
                </a:solidFill>
                <a:latin typeface="Aptos"/>
                <a:ea typeface="Aptos"/>
                <a:cs typeface="Aptos"/>
              </a:defRPr>
            </a:pPr>
            <a:r>
              <a:rPr sz="1875" b="0">
                <a:solidFill>
                  <a:srgbClr val="CBD5E1"/>
                </a:solidFill>
                <a:latin typeface="Aptos"/>
                <a:ea typeface="Aptos"/>
                <a:cs typeface="Aptos"/>
              </a:rPr>
              <a:t>Stock MNN vs Customlib on AWS Device Farm</a:t>
            </a:r>
          </a:p>
        </p:txBody>
      </p:sp>
      <p:sp>
        <p:nvSpPr>
          <p:cNvPr id="3" name="Rectangle 2">
            <a:extLst>
              <a:ext uri="{FF2B5EF4-FFF2-40B4-BE49-F238E27FC236}">
                <a16:creationId xmlns:a16="http://schemas.microsoft.com/office/drawing/2014/main" id="{2B6FF517-DF3B-4068-A9EC-D61ACFDAA382}"/>
              </a:ext>
            </a:extLst>
          </p:cNvPr>
          <p:cNvSpPr>
            <a:spLocks noGrp="1"/>
          </p:cNvSpPr>
          <p:nvPr/>
        </p:nvSpPr>
        <p:spPr>
          <a:xfrm>
            <a:off x="704850" y="3105150"/>
            <a:ext cx="7239000" cy="323850"/>
          </a:xfrm>
          <a:prstGeom prst="rect">
            <a:avLst/>
          </a:prstGeom>
          <a:noFill/>
          <a:ln w="0">
            <a:solidFill>
              <a:srgbClr val="000000">
                <a:alpha val="0"/>
              </a:srgbClr>
            </a:solidFill>
            <a:prstDash val="solid"/>
          </a:ln>
        </p:spPr>
        <p:txBody>
          <a:bodyPr/>
          <a:lstStyle/>
          <a:p>
            <a:pPr algn="l">
              <a:defRPr sz="1500" b="1">
                <a:solidFill>
                  <a:srgbClr val="93C5FD"/>
                </a:solidFill>
                <a:latin typeface="Aptos"/>
                <a:ea typeface="Aptos"/>
                <a:cs typeface="Aptos"/>
              </a:defRPr>
            </a:pPr>
            <a:r>
              <a:rPr sz="1500" b="1">
                <a:solidFill>
                  <a:srgbClr val="93C5FD"/>
                </a:solidFill>
                <a:latin typeface="Aptos"/>
                <a:ea typeface="Aptos"/>
                <a:cs typeface="Aptos"/>
              </a:rPr>
              <a:t>Systems/kernel benchmark plus output-quality guard</a:t>
            </a:r>
          </a:p>
        </p:txBody>
      </p:sp>
      <p:sp>
        <p:nvSpPr>
          <p:cNvPr id="4" name="Rectangle 3">
            <a:extLst>
              <a:ext uri="{FF2B5EF4-FFF2-40B4-BE49-F238E27FC236}">
                <a16:creationId xmlns:a16="http://schemas.microsoft.com/office/drawing/2014/main" id="{87A0BC95-4E2D-41FA-9AB8-457DD4B0C25F}"/>
              </a:ext>
            </a:extLst>
          </p:cNvPr>
          <p:cNvSpPr>
            <a:spLocks noGrp="1"/>
          </p:cNvSpPr>
          <p:nvPr/>
        </p:nvSpPr>
        <p:spPr>
          <a:xfrm>
            <a:off x="7810500" y="4095750"/>
            <a:ext cx="3143250" cy="1352550"/>
          </a:xfrm>
          <a:prstGeom prst="rect">
            <a:avLst/>
          </a:prstGeom>
          <a:solidFill>
            <a:srgbClr val="1E293B"/>
          </a:solidFill>
          <a:ln w="9525">
            <a:solidFill>
              <a:srgbClr val="475569"/>
            </a:solidFill>
            <a:prstDash val="solid"/>
          </a:ln>
        </p:spPr>
        <p:txBody>
          <a:bodyPr/>
          <a:lstStyle/>
          <a:p>
            <a:endParaRPr lang="en-US"/>
          </a:p>
        </p:txBody>
      </p:sp>
      <p:sp>
        <p:nvSpPr>
          <p:cNvPr id="5" name="Rectangle 4">
            <a:extLst>
              <a:ext uri="{FF2B5EF4-FFF2-40B4-BE49-F238E27FC236}">
                <a16:creationId xmlns:a16="http://schemas.microsoft.com/office/drawing/2014/main" id="{9F1BCBB2-9E4B-4315-A88F-77D95663E3F3}"/>
              </a:ext>
            </a:extLst>
          </p:cNvPr>
          <p:cNvSpPr>
            <a:spLocks noGrp="1"/>
          </p:cNvSpPr>
          <p:nvPr/>
        </p:nvSpPr>
        <p:spPr>
          <a:xfrm>
            <a:off x="8058150" y="4267200"/>
            <a:ext cx="2667000" cy="228600"/>
          </a:xfrm>
          <a:prstGeom prst="rect">
            <a:avLst/>
          </a:prstGeom>
          <a:noFill/>
          <a:ln w="0">
            <a:solidFill>
              <a:srgbClr val="000000">
                <a:alpha val="0"/>
              </a:srgbClr>
            </a:solidFill>
            <a:prstDash val="solid"/>
          </a:ln>
        </p:spPr>
        <p:txBody>
          <a:bodyPr/>
          <a:lstStyle/>
          <a:p>
            <a:pPr algn="l">
              <a:defRPr sz="1350" b="1">
                <a:solidFill>
                  <a:srgbClr val="93C5FD"/>
                </a:solidFill>
                <a:latin typeface="Aptos"/>
                <a:ea typeface="Aptos"/>
                <a:cs typeface="Aptos"/>
              </a:defRPr>
            </a:pPr>
            <a:r>
              <a:rPr sz="1350" b="1">
                <a:solidFill>
                  <a:srgbClr val="93C5FD"/>
                </a:solidFill>
                <a:latin typeface="Aptos"/>
                <a:ea typeface="Aptos"/>
                <a:cs typeface="Aptos"/>
              </a:rPr>
              <a:t>Honest result</a:t>
            </a:r>
          </a:p>
        </p:txBody>
      </p:sp>
      <p:sp>
        <p:nvSpPr>
          <p:cNvPr id="6" name="Rectangle 5">
            <a:extLst>
              <a:ext uri="{FF2B5EF4-FFF2-40B4-BE49-F238E27FC236}">
                <a16:creationId xmlns:a16="http://schemas.microsoft.com/office/drawing/2014/main" id="{735A540E-F094-4DD8-8CFE-062D00F43A84}"/>
              </a:ext>
            </a:extLst>
          </p:cNvPr>
          <p:cNvSpPr>
            <a:spLocks noGrp="1"/>
          </p:cNvSpPr>
          <p:nvPr/>
        </p:nvSpPr>
        <p:spPr>
          <a:xfrm>
            <a:off x="8058150" y="4552950"/>
            <a:ext cx="2571750" cy="400050"/>
          </a:xfrm>
          <a:prstGeom prst="rect">
            <a:avLst/>
          </a:prstGeom>
          <a:noFill/>
          <a:ln w="0">
            <a:solidFill>
              <a:srgbClr val="000000">
                <a:alpha val="0"/>
              </a:srgbClr>
            </a:solidFill>
            <a:prstDash val="solid"/>
          </a:ln>
        </p:spPr>
        <p:txBody>
          <a:bodyPr/>
          <a:lstStyle/>
          <a:p>
            <a:pPr algn="l">
              <a:defRPr sz="1125" b="0">
                <a:solidFill>
                  <a:srgbClr val="FFFFFF"/>
                </a:solidFill>
                <a:latin typeface="Aptos"/>
                <a:ea typeface="Aptos"/>
                <a:cs typeface="Aptos"/>
              </a:defRPr>
            </a:pPr>
            <a:r>
              <a:rPr sz="1125" b="0">
                <a:solidFill>
                  <a:srgbClr val="FFFFFF"/>
                </a:solidFill>
                <a:latin typeface="Aptos"/>
                <a:ea typeface="Aptos"/>
                <a:cs typeface="Aptos"/>
              </a:rPr>
              <a:t>Custom path exists and is benchmarked. It does not beat MNN, and production-quality output is not claimed.</a:t>
            </a:r>
          </a:p>
        </p:txBody>
      </p:sp>
      <p:sp>
        <p:nvSpPr>
          <p:cNvPr id="7" name="Rectangle 6">
            <a:extLst>
              <a:ext uri="{FF2B5EF4-FFF2-40B4-BE49-F238E27FC236}">
                <a16:creationId xmlns:a16="http://schemas.microsoft.com/office/drawing/2014/main" id="{845A340B-2D45-4F26-B626-A46635BBB02F}"/>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Tomorrow defense deck. Evidence lives in results/reports and results/reports/evidence.</a:t>
            </a:r>
          </a:p>
        </p:txBody>
      </p:sp>
    </p:spTree>
    <p:extLst>
      <p:ext uri="{BB962C8B-B14F-4D97-AF65-F5344CB8AC3E}">
        <p14:creationId xmlns:p14="http://schemas.microsoft.com/office/powerpoint/2010/main" val="34513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D84C45-E1CD-4C01-BBF7-6AB8488ED330}"/>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20EC3136-F788-4C4C-8EAF-6A0F277CC6F9}"/>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work trial had two concrete requirements</a:t>
            </a:r>
          </a:p>
        </p:txBody>
      </p:sp>
      <p:sp>
        <p:nvSpPr>
          <p:cNvPr id="3" name="Rectangle 2">
            <a:extLst>
              <a:ext uri="{FF2B5EF4-FFF2-40B4-BE49-F238E27FC236}">
                <a16:creationId xmlns:a16="http://schemas.microsoft.com/office/drawing/2014/main" id="{8CC3108B-EA2B-486F-A557-67D366C04027}"/>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02</a:t>
            </a:r>
          </a:p>
        </p:txBody>
      </p:sp>
      <p:sp>
        <p:nvSpPr>
          <p:cNvPr id="4" name="Rectangle 3">
            <a:extLst>
              <a:ext uri="{FF2B5EF4-FFF2-40B4-BE49-F238E27FC236}">
                <a16:creationId xmlns:a16="http://schemas.microsoft.com/office/drawing/2014/main" id="{79FB1830-A934-4F12-A910-5621C58EEF6E}"/>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6BB539C-066B-4C6D-9E64-F7DDC0A849F7}"/>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B69E8E14-0C7B-496D-96AE-959E8C25480A}"/>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Build a custom kernel library and explain the kernels and connectors at code level.</a:t>
            </a:r>
          </a:p>
          <a:p>
            <a:pPr algn="l">
              <a:defRPr sz="1650" b="0">
                <a:solidFill>
                  <a:srgbClr val="0F172A"/>
                </a:solidFill>
                <a:latin typeface="Aptos"/>
                <a:ea typeface="Aptos"/>
                <a:cs typeface="Aptos"/>
              </a:defRPr>
            </a:pPr>
            <a:r>
              <a:rPr sz="1650" b="0">
                <a:solidFill>
                  <a:srgbClr val="0F172A"/>
                </a:solidFill>
                <a:latin typeface="Aptos"/>
                <a:ea typeface="Aptos"/>
                <a:cs typeface="Aptos"/>
              </a:rPr>
              <a:t>* Compare generated kernels to stock MNN with per-kernel wall clock, overall TPOT, and TPS.</a:t>
            </a:r>
          </a:p>
          <a:p>
            <a:pPr algn="l">
              <a:defRPr sz="1650" b="0">
                <a:solidFill>
                  <a:srgbClr val="0F172A"/>
                </a:solidFill>
                <a:latin typeface="Aptos"/>
                <a:ea typeface="Aptos"/>
                <a:cs typeface="Aptos"/>
              </a:defRPr>
            </a:pPr>
            <a:r>
              <a:rPr sz="1650" b="0">
                <a:solidFill>
                  <a:srgbClr val="0F172A"/>
                </a:solidFill>
                <a:latin typeface="Aptos"/>
                <a:ea typeface="Aptos"/>
                <a:cs typeface="Aptos"/>
              </a:rPr>
              <a:t>* Run the comparison on the same Device Farm phone, same full Qwen3.5-9B package, and same generation settings.</a:t>
            </a:r>
          </a:p>
          <a:p>
            <a:pPr algn="l">
              <a:defRPr sz="1650" b="0">
                <a:solidFill>
                  <a:srgbClr val="0F172A"/>
                </a:solidFill>
                <a:latin typeface="Aptos"/>
                <a:ea typeface="Aptos"/>
                <a:cs typeface="Aptos"/>
              </a:defRPr>
            </a:pPr>
            <a:r>
              <a:rPr sz="1650" b="0">
                <a:solidFill>
                  <a:srgbClr val="0F172A"/>
                </a:solidFill>
                <a:latin typeface="Aptos"/>
                <a:ea typeface="Aptos"/>
                <a:cs typeface="Aptos"/>
              </a:rPr>
              <a:t>* Do not present smoke tests, scaffolds, or report-only results as final evidence.</a:t>
            </a:r>
          </a:p>
        </p:txBody>
      </p:sp>
    </p:spTree>
    <p:extLst>
      <p:ext uri="{BB962C8B-B14F-4D97-AF65-F5344CB8AC3E}">
        <p14:creationId xmlns:p14="http://schemas.microsoft.com/office/powerpoint/2010/main" val="305472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59A4B10-2E49-4663-9946-3CD35515FED9}"/>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10AF72EA-130B-40C6-8A5A-01A7AD61E70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honest result is useful, but not flattering</a:t>
            </a:r>
          </a:p>
        </p:txBody>
      </p:sp>
      <p:sp>
        <p:nvSpPr>
          <p:cNvPr id="3" name="Rectangle 2">
            <a:extLst>
              <a:ext uri="{FF2B5EF4-FFF2-40B4-BE49-F238E27FC236}">
                <a16:creationId xmlns:a16="http://schemas.microsoft.com/office/drawing/2014/main" id="{6220AAB1-3954-4029-8AB3-FF33E72B70EE}"/>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03</a:t>
            </a:r>
          </a:p>
        </p:txBody>
      </p:sp>
      <p:sp>
        <p:nvSpPr>
          <p:cNvPr id="4" name="Rectangle 3">
            <a:extLst>
              <a:ext uri="{FF2B5EF4-FFF2-40B4-BE49-F238E27FC236}">
                <a16:creationId xmlns:a16="http://schemas.microsoft.com/office/drawing/2014/main" id="{4B069D86-EEC9-4318-A27F-41FEF884805F}"/>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D2142EF3-ED97-4F3C-A46C-CC4DD9AF0E9E}"/>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E453C22F-2F03-4A15-903B-44843E335746}"/>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Requirement 1: met for a real systems/kernel custom library and walkthrough.</a:t>
            </a:r>
          </a:p>
          <a:p>
            <a:pPr algn="l">
              <a:defRPr sz="1650" b="0">
                <a:solidFill>
                  <a:srgbClr val="0F172A"/>
                </a:solidFill>
                <a:latin typeface="Aptos"/>
                <a:ea typeface="Aptos"/>
                <a:cs typeface="Aptos"/>
              </a:defRPr>
            </a:pPr>
            <a:r>
              <a:rPr sz="1650" b="0">
                <a:solidFill>
                  <a:srgbClr val="0F172A"/>
                </a:solidFill>
                <a:latin typeface="Aptos"/>
                <a:ea typeface="Aptos"/>
                <a:cs typeface="Aptos"/>
              </a:rPr>
              <a:t>* Requirement 2: met for Device Farm stock-vs-custom benchmark evidence.</a:t>
            </a:r>
          </a:p>
          <a:p>
            <a:pPr algn="l">
              <a:defRPr sz="1650" b="0">
                <a:solidFill>
                  <a:srgbClr val="0F172A"/>
                </a:solidFill>
                <a:latin typeface="Aptos"/>
                <a:ea typeface="Aptos"/>
                <a:cs typeface="Aptos"/>
              </a:defRPr>
            </a:pPr>
            <a:r>
              <a:rPr sz="1650" b="0">
                <a:solidFill>
                  <a:srgbClr val="0F172A"/>
                </a:solidFill>
                <a:latin typeface="Aptos"/>
                <a:ea typeface="Aptos"/>
                <a:cs typeface="Aptos"/>
              </a:rPr>
              <a:t>* Speedup: no. v27 custom decode is 2.11989 TPS vs fresh stock MNN CPU 2.26870 TPS, or 0.9344x.</a:t>
            </a:r>
          </a:p>
          <a:p>
            <a:pPr algn="l">
              <a:defRPr sz="1650" b="0">
                <a:solidFill>
                  <a:srgbClr val="0F172A"/>
                </a:solidFill>
                <a:latin typeface="Aptos"/>
                <a:ea typeface="Aptos"/>
                <a:cs typeface="Aptos"/>
              </a:defRPr>
            </a:pPr>
            <a:r>
              <a:rPr sz="1650" b="0">
                <a:solidFill>
                  <a:srgbClr val="0F172A"/>
                </a:solidFill>
                <a:latin typeface="Aptos"/>
                <a:ea typeface="Aptos"/>
                <a:cs typeface="Aptos"/>
              </a:rPr>
              <a:t>* Production-quality output: not claimed. Earlier quality runs exposed repeated-token failures; v27 passes deterministic sanity but only 1/5 exact full-output match.</a:t>
            </a:r>
          </a:p>
          <a:p>
            <a:pPr algn="l">
              <a:defRPr sz="1650" b="0">
                <a:solidFill>
                  <a:srgbClr val="0F172A"/>
                </a:solidFill>
                <a:latin typeface="Aptos"/>
                <a:ea typeface="Aptos"/>
                <a:cs typeface="Aptos"/>
              </a:defRPr>
            </a:pPr>
            <a:r>
              <a:rPr sz="1650" b="0">
                <a:solidFill>
                  <a:srgbClr val="0F172A"/>
                </a:solidFill>
                <a:latin typeface="Aptos"/>
                <a:ea typeface="Aptos"/>
                <a:cs typeface="Aptos"/>
              </a:rPr>
              <a:t>* Best wording: implemented and benchmarked, slower than MNN, not production-ready.</a:t>
            </a:r>
          </a:p>
        </p:txBody>
      </p:sp>
    </p:spTree>
    <p:extLst>
      <p:ext uri="{BB962C8B-B14F-4D97-AF65-F5344CB8AC3E}">
        <p14:creationId xmlns:p14="http://schemas.microsoft.com/office/powerpoint/2010/main" val="2063634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EBC5E0-2277-4DEC-8F12-D5637E1CF4EB}"/>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C954E59B-E761-42A2-823E-3D3D815BCEB9}"/>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Customlib is not the same execution path as stock MNN</a:t>
            </a:r>
          </a:p>
        </p:txBody>
      </p:sp>
      <p:sp>
        <p:nvSpPr>
          <p:cNvPr id="3" name="Rectangle 2">
            <a:extLst>
              <a:ext uri="{FF2B5EF4-FFF2-40B4-BE49-F238E27FC236}">
                <a16:creationId xmlns:a16="http://schemas.microsoft.com/office/drawing/2014/main" id="{B099D1A1-2DC0-42C0-A405-60F8F1069CBB}"/>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04</a:t>
            </a:r>
          </a:p>
        </p:txBody>
      </p:sp>
      <p:sp>
        <p:nvSpPr>
          <p:cNvPr id="4" name="Rectangle 3">
            <a:extLst>
              <a:ext uri="{FF2B5EF4-FFF2-40B4-BE49-F238E27FC236}">
                <a16:creationId xmlns:a16="http://schemas.microsoft.com/office/drawing/2014/main" id="{B4C9EBC6-BCD8-4D0B-A84A-50F8743B5E85}"/>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5941AE25-F1C6-42A6-8FFC-E4651D225D46}"/>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40EAF19B-5325-4E19-9A28-028770CBADCA}"/>
              </a:ext>
            </a:extLst>
          </p:cNvPr>
          <p:cNvSpPr>
            <a:spLocks noGrp="1"/>
          </p:cNvSpPr>
          <p:nvPr/>
        </p:nvSpPr>
        <p:spPr>
          <a:xfrm>
            <a:off x="685800" y="1600200"/>
            <a:ext cx="4762500" cy="3333750"/>
          </a:xfrm>
          <a:prstGeom prst="rect">
            <a:avLst/>
          </a:prstGeom>
          <a:solidFill>
            <a:srgbClr val="EFF6FF"/>
          </a:solidFill>
          <a:ln w="9525">
            <a:solidFill>
              <a:srgbClr val="93C5FD"/>
            </a:solidFill>
            <a:prstDash val="solid"/>
          </a:ln>
        </p:spPr>
        <p:txBody>
          <a:bodyPr/>
          <a:lstStyle/>
          <a:p>
            <a:endParaRPr lang="en-US"/>
          </a:p>
        </p:txBody>
      </p:sp>
      <p:sp>
        <p:nvSpPr>
          <p:cNvPr id="7" name="Rectangle 6">
            <a:extLst>
              <a:ext uri="{FF2B5EF4-FFF2-40B4-BE49-F238E27FC236}">
                <a16:creationId xmlns:a16="http://schemas.microsoft.com/office/drawing/2014/main" id="{EFDE4599-27F9-4864-8FC6-536790AEF0CD}"/>
              </a:ext>
            </a:extLst>
          </p:cNvPr>
          <p:cNvSpPr>
            <a:spLocks noGrp="1"/>
          </p:cNvSpPr>
          <p:nvPr/>
        </p:nvSpPr>
        <p:spPr>
          <a:xfrm>
            <a:off x="952500" y="1847850"/>
            <a:ext cx="4000500" cy="323850"/>
          </a:xfrm>
          <a:prstGeom prst="rect">
            <a:avLst/>
          </a:prstGeom>
          <a:noFill/>
          <a:ln w="0">
            <a:solidFill>
              <a:srgbClr val="000000">
                <a:alpha val="0"/>
              </a:srgbClr>
            </a:solidFill>
            <a:prstDash val="solid"/>
          </a:ln>
        </p:spPr>
        <p:txBody>
          <a:bodyPr/>
          <a:lstStyle/>
          <a:p>
            <a:pPr algn="l">
              <a:defRPr sz="2100" b="1">
                <a:solidFill>
                  <a:srgbClr val="2563EB"/>
                </a:solidFill>
                <a:latin typeface="Aptos"/>
                <a:ea typeface="Aptos"/>
                <a:cs typeface="Aptos"/>
              </a:defRPr>
            </a:pPr>
            <a:r>
              <a:rPr sz="2100" b="1">
                <a:solidFill>
                  <a:srgbClr val="2563EB"/>
                </a:solidFill>
                <a:latin typeface="Aptos"/>
                <a:ea typeface="Aptos"/>
                <a:cs typeface="Aptos"/>
              </a:rPr>
              <a:t>Stock MNN</a:t>
            </a:r>
          </a:p>
        </p:txBody>
      </p:sp>
      <p:sp>
        <p:nvSpPr>
          <p:cNvPr id="8" name="Rectangle 7">
            <a:extLst>
              <a:ext uri="{FF2B5EF4-FFF2-40B4-BE49-F238E27FC236}">
                <a16:creationId xmlns:a16="http://schemas.microsoft.com/office/drawing/2014/main" id="{AE2D02BE-6215-46B2-9CC4-1B42D9F2B0F3}"/>
              </a:ext>
            </a:extLst>
          </p:cNvPr>
          <p:cNvSpPr>
            <a:spLocks noGrp="1"/>
          </p:cNvSpPr>
          <p:nvPr/>
        </p:nvSpPr>
        <p:spPr>
          <a:xfrm>
            <a:off x="1000125" y="2419350"/>
            <a:ext cx="3857625" cy="1524000"/>
          </a:xfrm>
          <a:prstGeom prst="rect">
            <a:avLst/>
          </a:prstGeom>
          <a:noFill/>
          <a:ln w="0">
            <a:solidFill>
              <a:srgbClr val="000000">
                <a:alpha val="0"/>
              </a:srgbClr>
            </a:solidFill>
            <a:prstDash val="solid"/>
          </a:ln>
        </p:spPr>
        <p:txBody>
          <a:bodyPr/>
          <a:lstStyle/>
          <a:p>
            <a:pPr algn="l">
              <a:defRPr sz="1800" b="0">
                <a:solidFill>
                  <a:srgbClr val="0F172A"/>
                </a:solidFill>
                <a:latin typeface="Aptos"/>
                <a:ea typeface="Aptos"/>
                <a:cs typeface="Aptos"/>
              </a:defRPr>
            </a:pPr>
            <a:r>
              <a:rPr sz="1800" b="0">
                <a:solidFill>
                  <a:srgbClr val="0F172A"/>
                </a:solidFill>
                <a:latin typeface="Aptos"/>
                <a:ea typeface="Aptos"/>
                <a:cs typeface="Aptos"/>
              </a:rPr>
              <a:t>Prompt + MNN package</a:t>
            </a:r>
          </a:p>
          <a:p>
            <a:pPr algn="l">
              <a:defRPr sz="1800" b="0">
                <a:solidFill>
                  <a:srgbClr val="0F172A"/>
                </a:solidFill>
                <a:latin typeface="Aptos"/>
                <a:ea typeface="Aptos"/>
                <a:cs typeface="Aptos"/>
              </a:defRPr>
            </a:pPr>
            <a:r>
              <a:rPr sz="1800" b="0">
                <a:solidFill>
                  <a:srgbClr val="0F172A"/>
                </a:solidFill>
                <a:latin typeface="Aptos"/>
                <a:ea typeface="Aptos"/>
                <a:cs typeface="Aptos"/>
              </a:rPr>
              <a:t>-&gt; MNN::Transformer::Llm</a:t>
            </a:r>
          </a:p>
          <a:p>
            <a:pPr algn="l">
              <a:defRPr sz="1800" b="0">
                <a:solidFill>
                  <a:srgbClr val="0F172A"/>
                </a:solidFill>
                <a:latin typeface="Aptos"/>
                <a:ea typeface="Aptos"/>
                <a:cs typeface="Aptos"/>
              </a:defRPr>
            </a:pPr>
            <a:r>
              <a:rPr sz="1800" b="0">
                <a:solidFill>
                  <a:srgbClr val="0F172A"/>
                </a:solidFill>
                <a:latin typeface="Aptos"/>
                <a:ea typeface="Aptos"/>
                <a:cs typeface="Aptos"/>
              </a:rPr>
              <a:t>-&gt; MNN internal graph/runtime</a:t>
            </a:r>
          </a:p>
          <a:p>
            <a:pPr algn="l">
              <a:defRPr sz="1800" b="0">
                <a:solidFill>
                  <a:srgbClr val="0F172A"/>
                </a:solidFill>
                <a:latin typeface="Aptos"/>
                <a:ea typeface="Aptos"/>
                <a:cs typeface="Aptos"/>
              </a:defRPr>
            </a:pPr>
            <a:r>
              <a:rPr sz="1800" b="0">
                <a:solidFill>
                  <a:srgbClr val="0F172A"/>
                </a:solidFill>
                <a:latin typeface="Aptos"/>
                <a:ea typeface="Aptos"/>
                <a:cs typeface="Aptos"/>
              </a:rPr>
              <a:t>-&gt; stock output + timing</a:t>
            </a:r>
          </a:p>
        </p:txBody>
      </p:sp>
      <p:sp>
        <p:nvSpPr>
          <p:cNvPr id="9" name="Rectangle 8">
            <a:extLst>
              <a:ext uri="{FF2B5EF4-FFF2-40B4-BE49-F238E27FC236}">
                <a16:creationId xmlns:a16="http://schemas.microsoft.com/office/drawing/2014/main" id="{2C3A3ABC-005E-41A1-8FC2-E8A6DB459A80}"/>
              </a:ext>
            </a:extLst>
          </p:cNvPr>
          <p:cNvSpPr>
            <a:spLocks noGrp="1"/>
          </p:cNvSpPr>
          <p:nvPr/>
        </p:nvSpPr>
        <p:spPr>
          <a:xfrm>
            <a:off x="6743700" y="1600200"/>
            <a:ext cx="4762500" cy="3333750"/>
          </a:xfrm>
          <a:prstGeom prst="rect">
            <a:avLst/>
          </a:prstGeom>
          <a:solidFill>
            <a:srgbClr val="ECFDF5"/>
          </a:solidFill>
          <a:ln w="9525">
            <a:solidFill>
              <a:srgbClr val="5EEAD4"/>
            </a:solidFill>
            <a:prstDash val="solid"/>
          </a:ln>
        </p:spPr>
        <p:txBody>
          <a:bodyPr/>
          <a:lstStyle/>
          <a:p>
            <a:endParaRPr lang="en-US"/>
          </a:p>
        </p:txBody>
      </p:sp>
      <p:sp>
        <p:nvSpPr>
          <p:cNvPr id="10" name="Rectangle 9">
            <a:extLst>
              <a:ext uri="{FF2B5EF4-FFF2-40B4-BE49-F238E27FC236}">
                <a16:creationId xmlns:a16="http://schemas.microsoft.com/office/drawing/2014/main" id="{FD1D4B63-4BB3-43B3-B425-D769844A19EF}"/>
              </a:ext>
            </a:extLst>
          </p:cNvPr>
          <p:cNvSpPr>
            <a:spLocks noGrp="1"/>
          </p:cNvSpPr>
          <p:nvPr/>
        </p:nvSpPr>
        <p:spPr>
          <a:xfrm>
            <a:off x="7010400" y="1847850"/>
            <a:ext cx="4000500" cy="323850"/>
          </a:xfrm>
          <a:prstGeom prst="rect">
            <a:avLst/>
          </a:prstGeom>
          <a:noFill/>
          <a:ln w="0">
            <a:solidFill>
              <a:srgbClr val="000000">
                <a:alpha val="0"/>
              </a:srgbClr>
            </a:solidFill>
            <a:prstDash val="solid"/>
          </a:ln>
        </p:spPr>
        <p:txBody>
          <a:bodyPr/>
          <a:lstStyle/>
          <a:p>
            <a:pPr algn="l">
              <a:defRPr sz="2100" b="1">
                <a:solidFill>
                  <a:srgbClr val="0F766E"/>
                </a:solidFill>
                <a:latin typeface="Aptos"/>
                <a:ea typeface="Aptos"/>
                <a:cs typeface="Aptos"/>
              </a:defRPr>
            </a:pPr>
            <a:r>
              <a:rPr sz="2100" b="1">
                <a:solidFill>
                  <a:srgbClr val="0F766E"/>
                </a:solidFill>
                <a:latin typeface="Aptos"/>
                <a:ea typeface="Aptos"/>
                <a:cs typeface="Aptos"/>
              </a:rPr>
              <a:t>Customlib</a:t>
            </a:r>
          </a:p>
        </p:txBody>
      </p:sp>
      <p:sp>
        <p:nvSpPr>
          <p:cNvPr id="11" name="Rectangle 10">
            <a:extLst>
              <a:ext uri="{FF2B5EF4-FFF2-40B4-BE49-F238E27FC236}">
                <a16:creationId xmlns:a16="http://schemas.microsoft.com/office/drawing/2014/main" id="{67405E7F-654C-408C-A4C5-5BCC8952C2D2}"/>
              </a:ext>
            </a:extLst>
          </p:cNvPr>
          <p:cNvSpPr>
            <a:spLocks noGrp="1"/>
          </p:cNvSpPr>
          <p:nvPr/>
        </p:nvSpPr>
        <p:spPr>
          <a:xfrm>
            <a:off x="7067550" y="2419350"/>
            <a:ext cx="3905250" cy="1809750"/>
          </a:xfrm>
          <a:prstGeom prst="rect">
            <a:avLst/>
          </a:prstGeom>
          <a:noFill/>
          <a:ln w="0">
            <a:solidFill>
              <a:srgbClr val="000000">
                <a:alpha val="0"/>
              </a:srgbClr>
            </a:solidFill>
            <a:prstDash val="solid"/>
          </a:ln>
        </p:spPr>
        <p:txBody>
          <a:bodyPr/>
          <a:lstStyle/>
          <a:p>
            <a:pPr algn="l">
              <a:defRPr sz="1800" b="0">
                <a:solidFill>
                  <a:srgbClr val="0F172A"/>
                </a:solidFill>
                <a:latin typeface="Aptos"/>
                <a:ea typeface="Aptos"/>
                <a:cs typeface="Aptos"/>
              </a:defRPr>
            </a:pPr>
            <a:r>
              <a:rPr sz="1800" b="0">
                <a:solidFill>
                  <a:srgbClr val="0F172A"/>
                </a:solidFill>
                <a:latin typeface="Aptos"/>
                <a:ea typeface="Aptos"/>
                <a:cs typeface="Aptos"/>
              </a:rPr>
              <a:t>Prompt + custom package</a:t>
            </a:r>
          </a:p>
          <a:p>
            <a:pPr algn="l">
              <a:defRPr sz="1800" b="0">
                <a:solidFill>
                  <a:srgbClr val="0F172A"/>
                </a:solidFill>
                <a:latin typeface="Aptos"/>
                <a:ea typeface="Aptos"/>
                <a:cs typeface="Aptos"/>
              </a:defRPr>
            </a:pPr>
            <a:r>
              <a:rPr sz="1800" b="0">
                <a:solidFill>
                  <a:srgbClr val="0F172A"/>
                </a:solidFill>
                <a:latin typeface="Aptos"/>
                <a:ea typeface="Aptos"/>
                <a:cs typeface="Aptos"/>
              </a:rPr>
              <a:t>-&gt; custom C ABI</a:t>
            </a:r>
          </a:p>
          <a:p>
            <a:pPr algn="l">
              <a:defRPr sz="1800" b="0">
                <a:solidFill>
                  <a:srgbClr val="0F172A"/>
                </a:solidFill>
                <a:latin typeface="Aptos"/>
                <a:ea typeface="Aptos"/>
                <a:cs typeface="Aptos"/>
              </a:defRPr>
            </a:pPr>
            <a:r>
              <a:rPr sz="1800" b="0">
                <a:solidFill>
                  <a:srgbClr val="0F172A"/>
                </a:solidFill>
                <a:latin typeface="Aptos"/>
                <a:ea typeface="Aptos"/>
                <a:cs typeface="Aptos"/>
              </a:rPr>
              <a:t>-&gt; Session -&gt; CustomModel</a:t>
            </a:r>
          </a:p>
          <a:p>
            <a:pPr algn="l">
              <a:defRPr sz="1800" b="0">
                <a:solidFill>
                  <a:srgbClr val="0F172A"/>
                </a:solidFill>
                <a:latin typeface="Aptos"/>
                <a:ea typeface="Aptos"/>
                <a:cs typeface="Aptos"/>
              </a:defRPr>
            </a:pPr>
            <a:r>
              <a:rPr sz="1800" b="0">
                <a:solidFill>
                  <a:srgbClr val="0F172A"/>
                </a:solidFill>
                <a:latin typeface="Aptos"/>
                <a:ea typeface="Aptos"/>
                <a:cs typeface="Aptos"/>
              </a:rPr>
              <a:t>-&gt; custom prefill/decode</a:t>
            </a:r>
          </a:p>
          <a:p>
            <a:pPr algn="l">
              <a:defRPr sz="1800" b="0">
                <a:solidFill>
                  <a:srgbClr val="0F172A"/>
                </a:solidFill>
                <a:latin typeface="Aptos"/>
                <a:ea typeface="Aptos"/>
                <a:cs typeface="Aptos"/>
              </a:defRPr>
            </a:pPr>
            <a:r>
              <a:rPr sz="1800" b="0">
                <a:solidFill>
                  <a:srgbClr val="0F172A"/>
                </a:solidFill>
                <a:latin typeface="Aptos"/>
                <a:ea typeface="Aptos"/>
                <a:cs typeface="Aptos"/>
              </a:rPr>
              <a:t>-&gt; W4A16 kernels + trace JSON</a:t>
            </a:r>
          </a:p>
        </p:txBody>
      </p:sp>
      <p:sp>
        <p:nvSpPr>
          <p:cNvPr id="12" name="Rectangle 11">
            <a:extLst>
              <a:ext uri="{FF2B5EF4-FFF2-40B4-BE49-F238E27FC236}">
                <a16:creationId xmlns:a16="http://schemas.microsoft.com/office/drawing/2014/main" id="{F720E32A-4D8F-4E86-B04E-DB7443449304}"/>
              </a:ext>
            </a:extLst>
          </p:cNvPr>
          <p:cNvSpPr>
            <a:spLocks noGrp="1"/>
          </p:cNvSpPr>
          <p:nvPr/>
        </p:nvSpPr>
        <p:spPr>
          <a:xfrm>
            <a:off x="1314450" y="5257800"/>
            <a:ext cx="9525000" cy="361950"/>
          </a:xfrm>
          <a:prstGeom prst="rect">
            <a:avLst/>
          </a:prstGeom>
          <a:noFill/>
          <a:ln w="0">
            <a:solidFill>
              <a:srgbClr val="000000">
                <a:alpha val="0"/>
              </a:srgbClr>
            </a:solidFill>
            <a:prstDash val="solid"/>
          </a:ln>
        </p:spPr>
        <p:txBody>
          <a:bodyPr/>
          <a:lstStyle/>
          <a:p>
            <a:pPr algn="ctr">
              <a:defRPr sz="1350" b="1">
                <a:solidFill>
                  <a:srgbClr val="0F172A"/>
                </a:solidFill>
                <a:latin typeface="Aptos"/>
                <a:ea typeface="Aptos"/>
                <a:cs typeface="Aptos"/>
              </a:defRPr>
            </a:pPr>
            <a:r>
              <a:rPr sz="1350" b="1">
                <a:solidFill>
                  <a:srgbClr val="0F172A"/>
                </a:solidFill>
                <a:latin typeface="Aptos"/>
                <a:ea typeface="Aptos"/>
                <a:cs typeface="Aptos"/>
              </a:rPr>
              <a:t>Measured custom evidence: use_mnn_fallback=0, calls_mnn_llm_response=false, full_custom_decode=true, fallback_op_families=[]</a:t>
            </a:r>
          </a:p>
        </p:txBody>
      </p:sp>
    </p:spTree>
    <p:extLst>
      <p:ext uri="{BB962C8B-B14F-4D97-AF65-F5344CB8AC3E}">
        <p14:creationId xmlns:p14="http://schemas.microsoft.com/office/powerpoint/2010/main" val="517555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2B229BBE-7FBC-4D41-802F-FCE29293161B}"/>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B87BD1FB-B200-427A-9E89-EBBCE7FC7EFB}"/>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repository has a distinct custom inference stack</a:t>
            </a:r>
          </a:p>
        </p:txBody>
      </p:sp>
      <p:sp>
        <p:nvSpPr>
          <p:cNvPr id="3" name="Rectangle 2">
            <a:extLst>
              <a:ext uri="{FF2B5EF4-FFF2-40B4-BE49-F238E27FC236}">
                <a16:creationId xmlns:a16="http://schemas.microsoft.com/office/drawing/2014/main" id="{8042DAB4-9891-4265-AED0-DCDB9C007AAC}"/>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05</a:t>
            </a:r>
          </a:p>
        </p:txBody>
      </p:sp>
      <p:sp>
        <p:nvSpPr>
          <p:cNvPr id="4" name="Rectangle 3">
            <a:extLst>
              <a:ext uri="{FF2B5EF4-FFF2-40B4-BE49-F238E27FC236}">
                <a16:creationId xmlns:a16="http://schemas.microsoft.com/office/drawing/2014/main" id="{8D374E4B-FF64-4471-8779-B0FB367C42AF}"/>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6A2252D-548D-4E3E-891F-2F8562AFA7F1}"/>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825E2845-D4B3-4CA0-967F-F6A52F215D18}"/>
              </a:ext>
            </a:extLst>
          </p:cNvPr>
          <p:cNvSpPr>
            <a:spLocks noGrp="1"/>
          </p:cNvSpPr>
          <p:nvPr/>
        </p:nvSpPr>
        <p:spPr>
          <a:xfrm>
            <a:off x="590550" y="1466850"/>
            <a:ext cx="1714500" cy="45720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3597E0C5-1445-4DE3-81D4-E3EC8E548774}"/>
              </a:ext>
            </a:extLst>
          </p:cNvPr>
          <p:cNvSpPr>
            <a:spLocks noGrp="1"/>
          </p:cNvSpPr>
          <p:nvPr/>
        </p:nvSpPr>
        <p:spPr>
          <a:xfrm>
            <a:off x="666750" y="1562100"/>
            <a:ext cx="156210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Area</a:t>
            </a:r>
          </a:p>
        </p:txBody>
      </p:sp>
      <p:sp>
        <p:nvSpPr>
          <p:cNvPr id="8" name="Rectangle 7">
            <a:extLst>
              <a:ext uri="{FF2B5EF4-FFF2-40B4-BE49-F238E27FC236}">
                <a16:creationId xmlns:a16="http://schemas.microsoft.com/office/drawing/2014/main" id="{4F133794-9248-417E-8252-5EA11D0AF012}"/>
              </a:ext>
            </a:extLst>
          </p:cNvPr>
          <p:cNvSpPr>
            <a:spLocks noGrp="1"/>
          </p:cNvSpPr>
          <p:nvPr/>
        </p:nvSpPr>
        <p:spPr>
          <a:xfrm>
            <a:off x="2305050" y="1466850"/>
            <a:ext cx="4857750" cy="45720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104C69BE-5F58-4C28-AE24-5E444543D0E9}"/>
              </a:ext>
            </a:extLst>
          </p:cNvPr>
          <p:cNvSpPr>
            <a:spLocks noGrp="1"/>
          </p:cNvSpPr>
          <p:nvPr/>
        </p:nvSpPr>
        <p:spPr>
          <a:xfrm>
            <a:off x="2381250" y="1562100"/>
            <a:ext cx="470535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File path</a:t>
            </a:r>
          </a:p>
        </p:txBody>
      </p:sp>
      <p:sp>
        <p:nvSpPr>
          <p:cNvPr id="10" name="Rectangle 9">
            <a:extLst>
              <a:ext uri="{FF2B5EF4-FFF2-40B4-BE49-F238E27FC236}">
                <a16:creationId xmlns:a16="http://schemas.microsoft.com/office/drawing/2014/main" id="{D6E9780C-5AFB-46E4-B43C-14670756823C}"/>
              </a:ext>
            </a:extLst>
          </p:cNvPr>
          <p:cNvSpPr>
            <a:spLocks noGrp="1"/>
          </p:cNvSpPr>
          <p:nvPr/>
        </p:nvSpPr>
        <p:spPr>
          <a:xfrm>
            <a:off x="7162800" y="1466850"/>
            <a:ext cx="4438650" cy="45720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FE38E0F0-9906-42D2-A114-DE0C6E6E906F}"/>
              </a:ext>
            </a:extLst>
          </p:cNvPr>
          <p:cNvSpPr>
            <a:spLocks noGrp="1"/>
          </p:cNvSpPr>
          <p:nvPr/>
        </p:nvSpPr>
        <p:spPr>
          <a:xfrm>
            <a:off x="7239000" y="1562100"/>
            <a:ext cx="428625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Role</a:t>
            </a:r>
          </a:p>
        </p:txBody>
      </p:sp>
      <p:sp>
        <p:nvSpPr>
          <p:cNvPr id="12" name="Rectangle 11">
            <a:extLst>
              <a:ext uri="{FF2B5EF4-FFF2-40B4-BE49-F238E27FC236}">
                <a16:creationId xmlns:a16="http://schemas.microsoft.com/office/drawing/2014/main" id="{465BA63A-5688-40C0-BD05-D699FDBE001E}"/>
              </a:ext>
            </a:extLst>
          </p:cNvPr>
          <p:cNvSpPr>
            <a:spLocks noGrp="1"/>
          </p:cNvSpPr>
          <p:nvPr/>
        </p:nvSpPr>
        <p:spPr>
          <a:xfrm>
            <a:off x="590550" y="1924050"/>
            <a:ext cx="1714500" cy="457200"/>
          </a:xfrm>
          <a:prstGeom prst="rect">
            <a:avLst/>
          </a:prstGeom>
          <a:solidFill>
            <a:srgbClr val="FFFFFF"/>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E82A782B-FB82-4EBA-BDDD-122F4F4D2DF6}"/>
              </a:ext>
            </a:extLst>
          </p:cNvPr>
          <p:cNvSpPr>
            <a:spLocks noGrp="1"/>
          </p:cNvSpPr>
          <p:nvPr/>
        </p:nvSpPr>
        <p:spPr>
          <a:xfrm>
            <a:off x="666750" y="20097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Public C ABI</a:t>
            </a:r>
          </a:p>
        </p:txBody>
      </p:sp>
      <p:sp>
        <p:nvSpPr>
          <p:cNvPr id="14" name="Rectangle 13">
            <a:extLst>
              <a:ext uri="{FF2B5EF4-FFF2-40B4-BE49-F238E27FC236}">
                <a16:creationId xmlns:a16="http://schemas.microsoft.com/office/drawing/2014/main" id="{83CB54FF-3406-4495-9836-A8148FF9B350}"/>
              </a:ext>
            </a:extLst>
          </p:cNvPr>
          <p:cNvSpPr>
            <a:spLocks noGrp="1"/>
          </p:cNvSpPr>
          <p:nvPr/>
        </p:nvSpPr>
        <p:spPr>
          <a:xfrm>
            <a:off x="2305050" y="1924050"/>
            <a:ext cx="4857750" cy="457200"/>
          </a:xfrm>
          <a:prstGeom prst="rect">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D30619F2-6D55-4A64-B89B-C68ED1AB7E38}"/>
              </a:ext>
            </a:extLst>
          </p:cNvPr>
          <p:cNvSpPr>
            <a:spLocks noGrp="1"/>
          </p:cNvSpPr>
          <p:nvPr/>
        </p:nvSpPr>
        <p:spPr>
          <a:xfrm>
            <a:off x="2381250" y="20097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customlib/include/xqwen35.h</a:t>
            </a:r>
          </a:p>
        </p:txBody>
      </p:sp>
      <p:sp>
        <p:nvSpPr>
          <p:cNvPr id="16" name="Rectangle 15">
            <a:extLst>
              <a:ext uri="{FF2B5EF4-FFF2-40B4-BE49-F238E27FC236}">
                <a16:creationId xmlns:a16="http://schemas.microsoft.com/office/drawing/2014/main" id="{9696D695-3844-4CE2-8BF3-DD66738E5063}"/>
              </a:ext>
            </a:extLst>
          </p:cNvPr>
          <p:cNvSpPr>
            <a:spLocks noGrp="1"/>
          </p:cNvSpPr>
          <p:nvPr/>
        </p:nvSpPr>
        <p:spPr>
          <a:xfrm>
            <a:off x="7162800" y="1924050"/>
            <a:ext cx="4438650" cy="457200"/>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0F0A99EE-FE98-436C-BE97-01B0D88A055E}"/>
              </a:ext>
            </a:extLst>
          </p:cNvPr>
          <p:cNvSpPr>
            <a:spLocks noGrp="1"/>
          </p:cNvSpPr>
          <p:nvPr/>
        </p:nvSpPr>
        <p:spPr>
          <a:xfrm>
            <a:off x="7239000" y="20097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Boundary used by JNI and tests</a:t>
            </a:r>
          </a:p>
        </p:txBody>
      </p:sp>
      <p:sp>
        <p:nvSpPr>
          <p:cNvPr id="18" name="Rectangle 17">
            <a:extLst>
              <a:ext uri="{FF2B5EF4-FFF2-40B4-BE49-F238E27FC236}">
                <a16:creationId xmlns:a16="http://schemas.microsoft.com/office/drawing/2014/main" id="{42256A6E-4217-401E-9792-14248BDFF1C4}"/>
              </a:ext>
            </a:extLst>
          </p:cNvPr>
          <p:cNvSpPr>
            <a:spLocks noGrp="1"/>
          </p:cNvSpPr>
          <p:nvPr/>
        </p:nvSpPr>
        <p:spPr>
          <a:xfrm>
            <a:off x="590550" y="2381250"/>
            <a:ext cx="1714500" cy="457200"/>
          </a:xfrm>
          <a:prstGeom prst="rect">
            <a:avLst/>
          </a:prstGeom>
          <a:solidFill>
            <a:srgbClr val="F1F5F9"/>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6A6041D4-5344-428F-85D4-432133C3399E}"/>
              </a:ext>
            </a:extLst>
          </p:cNvPr>
          <p:cNvSpPr>
            <a:spLocks noGrp="1"/>
          </p:cNvSpPr>
          <p:nvPr/>
        </p:nvSpPr>
        <p:spPr>
          <a:xfrm>
            <a:off x="666750" y="24669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Session connector</a:t>
            </a:r>
          </a:p>
        </p:txBody>
      </p:sp>
      <p:sp>
        <p:nvSpPr>
          <p:cNvPr id="20" name="Rectangle 19">
            <a:extLst>
              <a:ext uri="{FF2B5EF4-FFF2-40B4-BE49-F238E27FC236}">
                <a16:creationId xmlns:a16="http://schemas.microsoft.com/office/drawing/2014/main" id="{E81906DF-3397-49E0-BD66-AC84DEB4F8A3}"/>
              </a:ext>
            </a:extLst>
          </p:cNvPr>
          <p:cNvSpPr>
            <a:spLocks noGrp="1"/>
          </p:cNvSpPr>
          <p:nvPr/>
        </p:nvSpPr>
        <p:spPr>
          <a:xfrm>
            <a:off x="2305050" y="2381250"/>
            <a:ext cx="4857750" cy="457200"/>
          </a:xfrm>
          <a:prstGeom prst="rect">
            <a:avLst/>
          </a:prstGeom>
          <a:solidFill>
            <a:srgbClr val="F1F5F9"/>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4367BCDB-8BEA-4CC8-A5B1-971335ACACA6}"/>
              </a:ext>
            </a:extLst>
          </p:cNvPr>
          <p:cNvSpPr>
            <a:spLocks noGrp="1"/>
          </p:cNvSpPr>
          <p:nvPr/>
        </p:nvSpPr>
        <p:spPr>
          <a:xfrm>
            <a:off x="2381250" y="24669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customlib/runtime/session.cpp</a:t>
            </a:r>
          </a:p>
        </p:txBody>
      </p:sp>
      <p:sp>
        <p:nvSpPr>
          <p:cNvPr id="22" name="Rectangle 21">
            <a:extLst>
              <a:ext uri="{FF2B5EF4-FFF2-40B4-BE49-F238E27FC236}">
                <a16:creationId xmlns:a16="http://schemas.microsoft.com/office/drawing/2014/main" id="{8E763B9A-B250-4130-9D43-9C9A7EA85485}"/>
              </a:ext>
            </a:extLst>
          </p:cNvPr>
          <p:cNvSpPr>
            <a:spLocks noGrp="1"/>
          </p:cNvSpPr>
          <p:nvPr/>
        </p:nvSpPr>
        <p:spPr>
          <a:xfrm>
            <a:off x="7162800" y="2381250"/>
            <a:ext cx="4438650" cy="457200"/>
          </a:xfrm>
          <a:prstGeom prst="rect">
            <a:avLst/>
          </a:prstGeom>
          <a:solidFill>
            <a:srgbClr val="F1F5F9"/>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4F6D0B7F-6376-43B5-8D17-6A805ADDADF2}"/>
              </a:ext>
            </a:extLst>
          </p:cNvPr>
          <p:cNvSpPr>
            <a:spLocks noGrp="1"/>
          </p:cNvSpPr>
          <p:nvPr/>
        </p:nvSpPr>
        <p:spPr>
          <a:xfrm>
            <a:off x="7239000" y="24669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Chooses fallback or CustomModel</a:t>
            </a:r>
          </a:p>
        </p:txBody>
      </p:sp>
      <p:sp>
        <p:nvSpPr>
          <p:cNvPr id="24" name="Rectangle 23">
            <a:extLst>
              <a:ext uri="{FF2B5EF4-FFF2-40B4-BE49-F238E27FC236}">
                <a16:creationId xmlns:a16="http://schemas.microsoft.com/office/drawing/2014/main" id="{49BD0629-4C93-4087-9FAE-F7325C4621F9}"/>
              </a:ext>
            </a:extLst>
          </p:cNvPr>
          <p:cNvSpPr>
            <a:spLocks noGrp="1"/>
          </p:cNvSpPr>
          <p:nvPr/>
        </p:nvSpPr>
        <p:spPr>
          <a:xfrm>
            <a:off x="590550" y="2838450"/>
            <a:ext cx="1714500" cy="457200"/>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99B1F642-8B57-4C61-8306-F39A1C81512C}"/>
              </a:ext>
            </a:extLst>
          </p:cNvPr>
          <p:cNvSpPr>
            <a:spLocks noGrp="1"/>
          </p:cNvSpPr>
          <p:nvPr/>
        </p:nvSpPr>
        <p:spPr>
          <a:xfrm>
            <a:off x="666750" y="29241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Custom runtime</a:t>
            </a:r>
          </a:p>
        </p:txBody>
      </p:sp>
      <p:sp>
        <p:nvSpPr>
          <p:cNvPr id="26" name="Rectangle 25">
            <a:extLst>
              <a:ext uri="{FF2B5EF4-FFF2-40B4-BE49-F238E27FC236}">
                <a16:creationId xmlns:a16="http://schemas.microsoft.com/office/drawing/2014/main" id="{75AE8BEF-A06E-4BB1-BD6F-81ABB4060A85}"/>
              </a:ext>
            </a:extLst>
          </p:cNvPr>
          <p:cNvSpPr>
            <a:spLocks noGrp="1"/>
          </p:cNvSpPr>
          <p:nvPr/>
        </p:nvSpPr>
        <p:spPr>
          <a:xfrm>
            <a:off x="2305050" y="2838450"/>
            <a:ext cx="4857750" cy="457200"/>
          </a:xfrm>
          <a:prstGeom prst="rect">
            <a:avLst/>
          </a:prstGeom>
          <a:solidFill>
            <a:srgbClr val="FFFFFF"/>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EEE7489C-5888-4F4C-A668-9B66B8753B3A}"/>
              </a:ext>
            </a:extLst>
          </p:cNvPr>
          <p:cNvSpPr>
            <a:spLocks noGrp="1"/>
          </p:cNvSpPr>
          <p:nvPr/>
        </p:nvSpPr>
        <p:spPr>
          <a:xfrm>
            <a:off x="2381250" y="29241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customlib/runtime/custom_model.cpp</a:t>
            </a:r>
          </a:p>
        </p:txBody>
      </p:sp>
      <p:sp>
        <p:nvSpPr>
          <p:cNvPr id="28" name="Rectangle 27">
            <a:extLst>
              <a:ext uri="{FF2B5EF4-FFF2-40B4-BE49-F238E27FC236}">
                <a16:creationId xmlns:a16="http://schemas.microsoft.com/office/drawing/2014/main" id="{D77DFC9D-CF78-45FB-8E48-B888BB5ADDD4}"/>
              </a:ext>
            </a:extLst>
          </p:cNvPr>
          <p:cNvSpPr>
            <a:spLocks noGrp="1"/>
          </p:cNvSpPr>
          <p:nvPr/>
        </p:nvSpPr>
        <p:spPr>
          <a:xfrm>
            <a:off x="7162800" y="2838450"/>
            <a:ext cx="4438650" cy="457200"/>
          </a:xfrm>
          <a:prstGeom prst="rect">
            <a:avLst/>
          </a:prstGeom>
          <a:solidFill>
            <a:srgbClr val="FFFFFF"/>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6B122B58-4008-408B-A7A5-FC374269E450}"/>
              </a:ext>
            </a:extLst>
          </p:cNvPr>
          <p:cNvSpPr>
            <a:spLocks noGrp="1"/>
          </p:cNvSpPr>
          <p:nvPr/>
        </p:nvSpPr>
        <p:spPr>
          <a:xfrm>
            <a:off x="7239000" y="29241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Prefill, decode, attention, lm_head, trace</a:t>
            </a:r>
          </a:p>
        </p:txBody>
      </p:sp>
      <p:sp>
        <p:nvSpPr>
          <p:cNvPr id="30" name="Rectangle 29">
            <a:extLst>
              <a:ext uri="{FF2B5EF4-FFF2-40B4-BE49-F238E27FC236}">
                <a16:creationId xmlns:a16="http://schemas.microsoft.com/office/drawing/2014/main" id="{3DC55C4B-E95B-44F0-80A9-6042941A9ABB}"/>
              </a:ext>
            </a:extLst>
          </p:cNvPr>
          <p:cNvSpPr>
            <a:spLocks noGrp="1"/>
          </p:cNvSpPr>
          <p:nvPr/>
        </p:nvSpPr>
        <p:spPr>
          <a:xfrm>
            <a:off x="590550" y="3295650"/>
            <a:ext cx="1714500" cy="457200"/>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7432BA8D-DC37-49B5-8915-190B1540F4DC}"/>
              </a:ext>
            </a:extLst>
          </p:cNvPr>
          <p:cNvSpPr>
            <a:spLocks noGrp="1"/>
          </p:cNvSpPr>
          <p:nvPr/>
        </p:nvSpPr>
        <p:spPr>
          <a:xfrm>
            <a:off x="666750" y="33813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Generated kernel</a:t>
            </a:r>
          </a:p>
        </p:txBody>
      </p:sp>
      <p:sp>
        <p:nvSpPr>
          <p:cNvPr id="32" name="Rectangle 31">
            <a:extLst>
              <a:ext uri="{FF2B5EF4-FFF2-40B4-BE49-F238E27FC236}">
                <a16:creationId xmlns:a16="http://schemas.microsoft.com/office/drawing/2014/main" id="{28E2955F-0421-482E-A1D8-A67F47A6ACF8}"/>
              </a:ext>
            </a:extLst>
          </p:cNvPr>
          <p:cNvSpPr>
            <a:spLocks noGrp="1"/>
          </p:cNvSpPr>
          <p:nvPr/>
        </p:nvSpPr>
        <p:spPr>
          <a:xfrm>
            <a:off x="2305050" y="3295650"/>
            <a:ext cx="4857750" cy="457200"/>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5FC6D49F-459B-4D75-BB46-CC8B598C6077}"/>
              </a:ext>
            </a:extLst>
          </p:cNvPr>
          <p:cNvSpPr>
            <a:spLocks noGrp="1"/>
          </p:cNvSpPr>
          <p:nvPr/>
        </p:nvSpPr>
        <p:spPr>
          <a:xfrm>
            <a:off x="2381250" y="33813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customlib/kernels/generated/arm64_neon/xq_gemv_w4a16_neon.cpp</a:t>
            </a:r>
          </a:p>
        </p:txBody>
      </p:sp>
      <p:sp>
        <p:nvSpPr>
          <p:cNvPr id="34" name="Rectangle 33">
            <a:extLst>
              <a:ext uri="{FF2B5EF4-FFF2-40B4-BE49-F238E27FC236}">
                <a16:creationId xmlns:a16="http://schemas.microsoft.com/office/drawing/2014/main" id="{35B2C647-5069-4927-B4FD-07D84BC0A842}"/>
              </a:ext>
            </a:extLst>
          </p:cNvPr>
          <p:cNvSpPr>
            <a:spLocks noGrp="1"/>
          </p:cNvSpPr>
          <p:nvPr/>
        </p:nvSpPr>
        <p:spPr>
          <a:xfrm>
            <a:off x="7162800" y="3295650"/>
            <a:ext cx="4438650" cy="457200"/>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D248D64B-9204-4BE7-B6A4-9D4A2E91F755}"/>
              </a:ext>
            </a:extLst>
          </p:cNvPr>
          <p:cNvSpPr>
            <a:spLocks noGrp="1"/>
          </p:cNvSpPr>
          <p:nvPr/>
        </p:nvSpPr>
        <p:spPr>
          <a:xfrm>
            <a:off x="7239000" y="33813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W4A16 GEMV + lm_head argmax</a:t>
            </a:r>
          </a:p>
        </p:txBody>
      </p:sp>
      <p:sp>
        <p:nvSpPr>
          <p:cNvPr id="36" name="Rectangle 35">
            <a:extLst>
              <a:ext uri="{FF2B5EF4-FFF2-40B4-BE49-F238E27FC236}">
                <a16:creationId xmlns:a16="http://schemas.microsoft.com/office/drawing/2014/main" id="{2FF48BAF-EEA5-4E67-8CA2-2CA2DA618C6D}"/>
              </a:ext>
            </a:extLst>
          </p:cNvPr>
          <p:cNvSpPr>
            <a:spLocks noGrp="1"/>
          </p:cNvSpPr>
          <p:nvPr/>
        </p:nvSpPr>
        <p:spPr>
          <a:xfrm>
            <a:off x="590550" y="3752850"/>
            <a:ext cx="1714500" cy="457200"/>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FCAF93B3-17E4-4868-A509-12DE6A4066C5}"/>
              </a:ext>
            </a:extLst>
          </p:cNvPr>
          <p:cNvSpPr>
            <a:spLocks noGrp="1"/>
          </p:cNvSpPr>
          <p:nvPr/>
        </p:nvSpPr>
        <p:spPr>
          <a:xfrm>
            <a:off x="666750" y="38385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Packer</a:t>
            </a:r>
          </a:p>
        </p:txBody>
      </p:sp>
      <p:sp>
        <p:nvSpPr>
          <p:cNvPr id="38" name="Rectangle 37">
            <a:extLst>
              <a:ext uri="{FF2B5EF4-FFF2-40B4-BE49-F238E27FC236}">
                <a16:creationId xmlns:a16="http://schemas.microsoft.com/office/drawing/2014/main" id="{DB715CC3-5BD1-4D49-92A2-F5C3D652EEA6}"/>
              </a:ext>
            </a:extLst>
          </p:cNvPr>
          <p:cNvSpPr>
            <a:spLocks noGrp="1"/>
          </p:cNvSpPr>
          <p:nvPr/>
        </p:nvSpPr>
        <p:spPr>
          <a:xfrm>
            <a:off x="2305050" y="3752850"/>
            <a:ext cx="4857750" cy="457200"/>
          </a:xfrm>
          <a:prstGeom prst="rect">
            <a:avLst/>
          </a:prstGeom>
          <a:solidFill>
            <a:srgbClr val="FFFFFF"/>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ADDAA9C8-81AC-48BE-9AFE-4490AAD7134C}"/>
              </a:ext>
            </a:extLst>
          </p:cNvPr>
          <p:cNvSpPr>
            <a:spLocks noGrp="1"/>
          </p:cNvSpPr>
          <p:nvPr/>
        </p:nvSpPr>
        <p:spPr>
          <a:xfrm>
            <a:off x="2381250" y="38385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customlib/packer/pack_qwen35_xq4.py</a:t>
            </a:r>
          </a:p>
        </p:txBody>
      </p:sp>
      <p:sp>
        <p:nvSpPr>
          <p:cNvPr id="40" name="Rectangle 39">
            <a:extLst>
              <a:ext uri="{FF2B5EF4-FFF2-40B4-BE49-F238E27FC236}">
                <a16:creationId xmlns:a16="http://schemas.microsoft.com/office/drawing/2014/main" id="{685EF295-570A-4222-AAE4-8EA196D4948E}"/>
              </a:ext>
            </a:extLst>
          </p:cNvPr>
          <p:cNvSpPr>
            <a:spLocks noGrp="1"/>
          </p:cNvSpPr>
          <p:nvPr/>
        </p:nvSpPr>
        <p:spPr>
          <a:xfrm>
            <a:off x="7162800" y="3752850"/>
            <a:ext cx="4438650" cy="457200"/>
          </a:xfrm>
          <a:prstGeom prst="rect">
            <a:avLst/>
          </a:prstGeom>
          <a:solidFill>
            <a:srgbClr val="FFFFFF"/>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C5EE62CF-6EBE-4D4F-B904-8F65CDFF5048}"/>
              </a:ext>
            </a:extLst>
          </p:cNvPr>
          <p:cNvSpPr>
            <a:spLocks noGrp="1"/>
          </p:cNvSpPr>
          <p:nvPr/>
        </p:nvSpPr>
        <p:spPr>
          <a:xfrm>
            <a:off x="7239000" y="38385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Exports custom W4A16 package</a:t>
            </a:r>
          </a:p>
        </p:txBody>
      </p:sp>
      <p:sp>
        <p:nvSpPr>
          <p:cNvPr id="42" name="Rectangle 41">
            <a:extLst>
              <a:ext uri="{FF2B5EF4-FFF2-40B4-BE49-F238E27FC236}">
                <a16:creationId xmlns:a16="http://schemas.microsoft.com/office/drawing/2014/main" id="{9B114877-C52A-4B03-B5C2-B84E65028EED}"/>
              </a:ext>
            </a:extLst>
          </p:cNvPr>
          <p:cNvSpPr>
            <a:spLocks noGrp="1"/>
          </p:cNvSpPr>
          <p:nvPr/>
        </p:nvSpPr>
        <p:spPr>
          <a:xfrm>
            <a:off x="590550" y="4210050"/>
            <a:ext cx="1714500" cy="457200"/>
          </a:xfrm>
          <a:prstGeom prst="rect">
            <a:avLst/>
          </a:prstGeom>
          <a:solidFill>
            <a:srgbClr val="F1F5F9"/>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0498679F-BB4B-422E-9BC8-8FE32CA6BF55}"/>
              </a:ext>
            </a:extLst>
          </p:cNvPr>
          <p:cNvSpPr>
            <a:spLocks noGrp="1"/>
          </p:cNvSpPr>
          <p:nvPr/>
        </p:nvSpPr>
        <p:spPr>
          <a:xfrm>
            <a:off x="666750" y="42957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Benchmark JNI</a:t>
            </a:r>
          </a:p>
        </p:txBody>
      </p:sp>
      <p:sp>
        <p:nvSpPr>
          <p:cNvPr id="44" name="Rectangle 43">
            <a:extLst>
              <a:ext uri="{FF2B5EF4-FFF2-40B4-BE49-F238E27FC236}">
                <a16:creationId xmlns:a16="http://schemas.microsoft.com/office/drawing/2014/main" id="{EB76743B-A17F-447F-961B-7C03AFCFE54F}"/>
              </a:ext>
            </a:extLst>
          </p:cNvPr>
          <p:cNvSpPr>
            <a:spLocks noGrp="1"/>
          </p:cNvSpPr>
          <p:nvPr/>
        </p:nvSpPr>
        <p:spPr>
          <a:xfrm>
            <a:off x="2305050" y="4210050"/>
            <a:ext cx="4857750" cy="457200"/>
          </a:xfrm>
          <a:prstGeom prst="rect">
            <a:avLst/>
          </a:prstGeom>
          <a:solidFill>
            <a:srgbClr val="F1F5F9"/>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000103E5-1FF6-447F-878E-B55EEEB53A07}"/>
              </a:ext>
            </a:extLst>
          </p:cNvPr>
          <p:cNvSpPr>
            <a:spLocks noGrp="1"/>
          </p:cNvSpPr>
          <p:nvPr/>
        </p:nvSpPr>
        <p:spPr>
          <a:xfrm>
            <a:off x="2381250" y="42957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android/benchmark_app/src/main/cpp/benchmark_jni.cpp</a:t>
            </a:r>
          </a:p>
        </p:txBody>
      </p:sp>
      <p:sp>
        <p:nvSpPr>
          <p:cNvPr id="46" name="Rectangle 45">
            <a:extLst>
              <a:ext uri="{FF2B5EF4-FFF2-40B4-BE49-F238E27FC236}">
                <a16:creationId xmlns:a16="http://schemas.microsoft.com/office/drawing/2014/main" id="{99B6CE12-5AFB-4E2B-9372-1A6AA43C2702}"/>
              </a:ext>
            </a:extLst>
          </p:cNvPr>
          <p:cNvSpPr>
            <a:spLocks noGrp="1"/>
          </p:cNvSpPr>
          <p:nvPr/>
        </p:nvSpPr>
        <p:spPr>
          <a:xfrm>
            <a:off x="7162800" y="4210050"/>
            <a:ext cx="4438650" cy="457200"/>
          </a:xfrm>
          <a:prstGeom prst="rect">
            <a:avLst/>
          </a:prstGeom>
          <a:solidFill>
            <a:srgbClr val="F1F5F9"/>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6042C2F6-52D2-4F6C-B2D4-160A0F86B85E}"/>
              </a:ext>
            </a:extLst>
          </p:cNvPr>
          <p:cNvSpPr>
            <a:spLocks noGrp="1"/>
          </p:cNvSpPr>
          <p:nvPr/>
        </p:nvSpPr>
        <p:spPr>
          <a:xfrm>
            <a:off x="7239000" y="42957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BENCH_RESULT_JSON + quality JSON</a:t>
            </a:r>
          </a:p>
        </p:txBody>
      </p:sp>
      <p:sp>
        <p:nvSpPr>
          <p:cNvPr id="48" name="Rectangle 47">
            <a:extLst>
              <a:ext uri="{FF2B5EF4-FFF2-40B4-BE49-F238E27FC236}">
                <a16:creationId xmlns:a16="http://schemas.microsoft.com/office/drawing/2014/main" id="{7ECDE2E8-9306-43BE-9FB2-2E7877A30C75}"/>
              </a:ext>
            </a:extLst>
          </p:cNvPr>
          <p:cNvSpPr>
            <a:spLocks noGrp="1"/>
          </p:cNvSpPr>
          <p:nvPr/>
        </p:nvSpPr>
        <p:spPr>
          <a:xfrm>
            <a:off x="590550" y="4667250"/>
            <a:ext cx="1714500" cy="457200"/>
          </a:xfrm>
          <a:prstGeom prst="rect">
            <a:avLst/>
          </a:prstGeom>
          <a:solidFill>
            <a:srgbClr val="FFFFFF"/>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F20E95C3-3137-4F33-B23C-1550AFEDD909}"/>
              </a:ext>
            </a:extLst>
          </p:cNvPr>
          <p:cNvSpPr>
            <a:spLocks noGrp="1"/>
          </p:cNvSpPr>
          <p:nvPr/>
        </p:nvSpPr>
        <p:spPr>
          <a:xfrm>
            <a:off x="666750" y="4752975"/>
            <a:ext cx="156210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Stock JNI</a:t>
            </a:r>
          </a:p>
        </p:txBody>
      </p:sp>
      <p:sp>
        <p:nvSpPr>
          <p:cNvPr id="50" name="Rectangle 49">
            <a:extLst>
              <a:ext uri="{FF2B5EF4-FFF2-40B4-BE49-F238E27FC236}">
                <a16:creationId xmlns:a16="http://schemas.microsoft.com/office/drawing/2014/main" id="{0907D9AF-629F-469E-8D5F-866EA426B8D3}"/>
              </a:ext>
            </a:extLst>
          </p:cNvPr>
          <p:cNvSpPr>
            <a:spLocks noGrp="1"/>
          </p:cNvSpPr>
          <p:nvPr/>
        </p:nvSpPr>
        <p:spPr>
          <a:xfrm>
            <a:off x="2305050" y="4667250"/>
            <a:ext cx="4857750" cy="457200"/>
          </a:xfrm>
          <a:prstGeom prst="rect">
            <a:avLst/>
          </a:prstGeom>
          <a:solidFill>
            <a:srgbClr val="FFFFFF"/>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712B54C5-738E-4003-B620-3D26566081E2}"/>
              </a:ext>
            </a:extLst>
          </p:cNvPr>
          <p:cNvSpPr>
            <a:spLocks noGrp="1"/>
          </p:cNvSpPr>
          <p:nvPr/>
        </p:nvSpPr>
        <p:spPr>
          <a:xfrm>
            <a:off x="2381250" y="4752975"/>
            <a:ext cx="4705350" cy="361950"/>
          </a:xfrm>
          <a:prstGeom prst="rect">
            <a:avLst/>
          </a:prstGeom>
          <a:noFill/>
          <a:ln w="0">
            <a:solidFill>
              <a:srgbClr val="000000">
                <a:alpha val="0"/>
              </a:srgbClr>
            </a:solidFill>
            <a:prstDash val="solid"/>
          </a:ln>
        </p:spPr>
        <p:txBody>
          <a:bodyPr/>
          <a:lstStyle/>
          <a:p>
            <a:pPr algn="l">
              <a:defRPr sz="825" b="0">
                <a:solidFill>
                  <a:srgbClr val="0F172A"/>
                </a:solidFill>
                <a:latin typeface="Aptos Mono"/>
                <a:ea typeface="Aptos Mono"/>
                <a:cs typeface="Aptos Mono"/>
              </a:defRPr>
            </a:pPr>
            <a:r>
              <a:rPr sz="825" b="0">
                <a:solidFill>
                  <a:srgbClr val="0F172A"/>
                </a:solidFill>
                <a:latin typeface="Aptos Mono"/>
                <a:ea typeface="Aptos Mono"/>
                <a:cs typeface="Aptos Mono"/>
              </a:rPr>
              <a:t>android/app/src/main/cpp/stock_benchmark_jni.cpp</a:t>
            </a:r>
          </a:p>
        </p:txBody>
      </p:sp>
      <p:sp>
        <p:nvSpPr>
          <p:cNvPr id="52" name="Rectangle 51">
            <a:extLst>
              <a:ext uri="{FF2B5EF4-FFF2-40B4-BE49-F238E27FC236}">
                <a16:creationId xmlns:a16="http://schemas.microsoft.com/office/drawing/2014/main" id="{6C40E43C-BE37-4E0D-91D5-0F8F4B0D834E}"/>
              </a:ext>
            </a:extLst>
          </p:cNvPr>
          <p:cNvSpPr>
            <a:spLocks noGrp="1"/>
          </p:cNvSpPr>
          <p:nvPr/>
        </p:nvSpPr>
        <p:spPr>
          <a:xfrm>
            <a:off x="7162800" y="4667250"/>
            <a:ext cx="4438650" cy="457200"/>
          </a:xfrm>
          <a:prstGeom prst="rect">
            <a:avLst/>
          </a:prstGeom>
          <a:solidFill>
            <a:srgbClr val="FFFFFF"/>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610F7540-B5A4-4F8F-AD93-9FED61B1E422}"/>
              </a:ext>
            </a:extLst>
          </p:cNvPr>
          <p:cNvSpPr>
            <a:spLocks noGrp="1"/>
          </p:cNvSpPr>
          <p:nvPr/>
        </p:nvSpPr>
        <p:spPr>
          <a:xfrm>
            <a:off x="7239000" y="4752975"/>
            <a:ext cx="4286250" cy="3619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MNN baseline</a:t>
            </a:r>
          </a:p>
        </p:txBody>
      </p:sp>
    </p:spTree>
    <p:extLst>
      <p:ext uri="{BB962C8B-B14F-4D97-AF65-F5344CB8AC3E}">
        <p14:creationId xmlns:p14="http://schemas.microsoft.com/office/powerpoint/2010/main" val="181959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8D73F4-5559-4919-A09A-12CCA00C169F}"/>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2B195D44-97AD-428F-8C15-87B3154EE079}"/>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public C ABI is the external boundary</a:t>
            </a:r>
          </a:p>
        </p:txBody>
      </p:sp>
      <p:sp>
        <p:nvSpPr>
          <p:cNvPr id="3" name="Rectangle 2">
            <a:extLst>
              <a:ext uri="{FF2B5EF4-FFF2-40B4-BE49-F238E27FC236}">
                <a16:creationId xmlns:a16="http://schemas.microsoft.com/office/drawing/2014/main" id="{51E6057E-B4DD-403B-BD4D-45EEBCF9FB25}"/>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06</a:t>
            </a:r>
          </a:p>
        </p:txBody>
      </p:sp>
      <p:sp>
        <p:nvSpPr>
          <p:cNvPr id="4" name="Rectangle 3">
            <a:extLst>
              <a:ext uri="{FF2B5EF4-FFF2-40B4-BE49-F238E27FC236}">
                <a16:creationId xmlns:a16="http://schemas.microsoft.com/office/drawing/2014/main" id="{9CC8EC08-E7FE-4BDC-950C-1797CB9B3F50}"/>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036608F-A5F1-4066-AB5D-621753D683E1}"/>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D733A6F2-730E-46B6-B92C-DD711166E8A9}"/>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customlib/include/xqwen35.h</a:t>
            </a:r>
          </a:p>
        </p:txBody>
      </p:sp>
      <p:sp>
        <p:nvSpPr>
          <p:cNvPr id="7" name="Rectangle 6">
            <a:extLst>
              <a:ext uri="{FF2B5EF4-FFF2-40B4-BE49-F238E27FC236}">
                <a16:creationId xmlns:a16="http://schemas.microsoft.com/office/drawing/2014/main" id="{7A253D4A-8558-48B4-8C70-1738791B230F}"/>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39EF992C-7FCF-44DB-9B85-79E064F7E868}"/>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typedef struct xq_session xq_session;</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typedef struct xq_options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int quant_bits;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int group_size;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int threads;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int use_mnn_fallback;</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xq_options;</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xq_create(...);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xq_generate(...);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xq_prefill(...);</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xq_decode_one(...);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xq_get_kernel_trace_json(...);</a:t>
            </a:r>
          </a:p>
        </p:txBody>
      </p:sp>
      <p:sp>
        <p:nvSpPr>
          <p:cNvPr id="9" name="Rectangle 8">
            <a:extLst>
              <a:ext uri="{FF2B5EF4-FFF2-40B4-BE49-F238E27FC236}">
                <a16:creationId xmlns:a16="http://schemas.microsoft.com/office/drawing/2014/main" id="{5EB1B5AF-F072-4D7D-AD3C-3965566F2671}"/>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JNI calls the C ABI, not raw MNN APIs, for measured custom generation.</a:t>
            </a:r>
          </a:p>
          <a:p>
            <a:pPr algn="l">
              <a:defRPr sz="1275" b="0">
                <a:solidFill>
                  <a:srgbClr val="0F172A"/>
                </a:solidFill>
                <a:latin typeface="Aptos"/>
                <a:ea typeface="Aptos"/>
                <a:cs typeface="Aptos"/>
              </a:defRPr>
            </a:pPr>
            <a:r>
              <a:rPr sz="1275" b="0">
                <a:solidFill>
                  <a:srgbClr val="0F172A"/>
                </a:solidFill>
                <a:latin typeface="Aptos"/>
                <a:ea typeface="Aptos"/>
                <a:cs typeface="Aptos"/>
              </a:rPr>
              <a:t>* Metrics and kernel trace are first-class outputs.</a:t>
            </a:r>
          </a:p>
          <a:p>
            <a:pPr algn="l">
              <a:defRPr sz="1275" b="0">
                <a:solidFill>
                  <a:srgbClr val="0F172A"/>
                </a:solidFill>
                <a:latin typeface="Aptos"/>
                <a:ea typeface="Aptos"/>
                <a:cs typeface="Aptos"/>
              </a:defRPr>
            </a:pPr>
            <a:r>
              <a:rPr sz="1275" b="0">
                <a:solidFill>
                  <a:srgbClr val="0F172A"/>
                </a:solidFill>
                <a:latin typeface="Aptos"/>
                <a:ea typeface="Aptos"/>
                <a:cs typeface="Aptos"/>
              </a:rPr>
              <a:t>* Fallback is explicit and controlled by an option.</a:t>
            </a:r>
          </a:p>
        </p:txBody>
      </p:sp>
    </p:spTree>
    <p:extLst>
      <p:ext uri="{BB962C8B-B14F-4D97-AF65-F5344CB8AC3E}">
        <p14:creationId xmlns:p14="http://schemas.microsoft.com/office/powerpoint/2010/main" val="1891003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F14595-5F45-4FC6-83A6-EDD1DB55DEAE}"/>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F1A1B66C-03E1-4735-A07A-FD16D5947FA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Session chooses CustomModel when fallback is disabled</a:t>
            </a:r>
          </a:p>
        </p:txBody>
      </p:sp>
      <p:sp>
        <p:nvSpPr>
          <p:cNvPr id="3" name="Rectangle 2">
            <a:extLst>
              <a:ext uri="{FF2B5EF4-FFF2-40B4-BE49-F238E27FC236}">
                <a16:creationId xmlns:a16="http://schemas.microsoft.com/office/drawing/2014/main" id="{6518B3AC-F6A3-4692-B44D-19B07DDBABEF}"/>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07</a:t>
            </a:r>
          </a:p>
        </p:txBody>
      </p:sp>
      <p:sp>
        <p:nvSpPr>
          <p:cNvPr id="4" name="Rectangle 3">
            <a:extLst>
              <a:ext uri="{FF2B5EF4-FFF2-40B4-BE49-F238E27FC236}">
                <a16:creationId xmlns:a16="http://schemas.microsoft.com/office/drawing/2014/main" id="{8039CB78-A1AB-4913-9885-42E48C60D5C6}"/>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7BDD269E-EF76-4940-85F2-8402AE93E221}"/>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6AFEEE67-77A2-45F9-851B-561AC30B33DB}"/>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customlib/runtime/session.cpp</a:t>
            </a:r>
          </a:p>
        </p:txBody>
      </p:sp>
      <p:sp>
        <p:nvSpPr>
          <p:cNvPr id="7" name="Rectangle 6">
            <a:extLst>
              <a:ext uri="{FF2B5EF4-FFF2-40B4-BE49-F238E27FC236}">
                <a16:creationId xmlns:a16="http://schemas.microsoft.com/office/drawing/2014/main" id="{797A1262-C259-4B36-8542-7E21FB367ECE}"/>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6BAACD0A-2B5B-40D1-93E6-C06CEC136F3A}"/>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if (options_.use_mnn_fallback)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mnn_llm_ = MNN::Transformer::Llm::createLLM(config_path);</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else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custom_model_ = std::make_unique&lt;CustomModel&gt;();</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custom_model_-&gt;load(model_dir_, &amp;error);</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xq_generate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prefill(token_ids, n_tokens, nullptr);</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for (...)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decodeOne(&amp;output_buffer[i], nullptr);</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p:txBody>
      </p:sp>
      <p:sp>
        <p:nvSpPr>
          <p:cNvPr id="9" name="Rectangle 8">
            <a:extLst>
              <a:ext uri="{FF2B5EF4-FFF2-40B4-BE49-F238E27FC236}">
                <a16:creationId xmlns:a16="http://schemas.microsoft.com/office/drawing/2014/main" id="{73D6B442-EC95-4DC0-85EF-2CB13AE16F40}"/>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The fallback path exists for debugging compatibility.</a:t>
            </a:r>
          </a:p>
          <a:p>
            <a:pPr algn="l">
              <a:defRPr sz="1275" b="0">
                <a:solidFill>
                  <a:srgbClr val="0F172A"/>
                </a:solidFill>
                <a:latin typeface="Aptos"/>
                <a:ea typeface="Aptos"/>
                <a:cs typeface="Aptos"/>
              </a:defRPr>
            </a:pPr>
            <a:r>
              <a:rPr sz="1275" b="0">
                <a:solidFill>
                  <a:srgbClr val="0F172A"/>
                </a:solidFill>
                <a:latin typeface="Aptos"/>
                <a:ea typeface="Aptos"/>
                <a:cs typeface="Aptos"/>
              </a:rPr>
              <a:t>* The measured custom benchmark sets use_mnn_fallback=0.</a:t>
            </a:r>
          </a:p>
          <a:p>
            <a:pPr algn="l">
              <a:defRPr sz="1275" b="0">
                <a:solidFill>
                  <a:srgbClr val="0F172A"/>
                </a:solidFill>
                <a:latin typeface="Aptos"/>
                <a:ea typeface="Aptos"/>
                <a:cs typeface="Aptos"/>
              </a:defRPr>
            </a:pPr>
            <a:r>
              <a:rPr sz="1275" b="0">
                <a:solidFill>
                  <a:srgbClr val="0F172A"/>
                </a:solidFill>
                <a:latin typeface="Aptos"/>
                <a:ea typeface="Aptos"/>
                <a:cs typeface="Aptos"/>
              </a:rPr>
              <a:t>* Generation is explicit: prefill once, then decode token by token.</a:t>
            </a:r>
          </a:p>
        </p:txBody>
      </p:sp>
    </p:spTree>
    <p:extLst>
      <p:ext uri="{BB962C8B-B14F-4D97-AF65-F5344CB8AC3E}">
        <p14:creationId xmlns:p14="http://schemas.microsoft.com/office/powerpoint/2010/main" val="650002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4B8745E-1AEE-4BDA-9D36-2A23E715A96A}"/>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7AE0BB8C-3DB1-47A8-858A-1FD52F2BBCD1}"/>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Measured custom generation follows the custom call chain</a:t>
            </a:r>
          </a:p>
        </p:txBody>
      </p:sp>
      <p:sp>
        <p:nvSpPr>
          <p:cNvPr id="3" name="Rectangle 2">
            <a:extLst>
              <a:ext uri="{FF2B5EF4-FFF2-40B4-BE49-F238E27FC236}">
                <a16:creationId xmlns:a16="http://schemas.microsoft.com/office/drawing/2014/main" id="{DE10C443-662A-45C8-A87F-51E0F20EE8AF}"/>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08</a:t>
            </a:r>
          </a:p>
        </p:txBody>
      </p:sp>
      <p:sp>
        <p:nvSpPr>
          <p:cNvPr id="4" name="Rectangle 3">
            <a:extLst>
              <a:ext uri="{FF2B5EF4-FFF2-40B4-BE49-F238E27FC236}">
                <a16:creationId xmlns:a16="http://schemas.microsoft.com/office/drawing/2014/main" id="{C17C5F30-6AC1-4F6A-B254-5FF6F3521E06}"/>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FBDA736C-9EF9-47A0-A754-AEA00001F786}"/>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785725B2-AFA9-49E6-A701-50AFB96308DA}"/>
              </a:ext>
            </a:extLst>
          </p:cNvPr>
          <p:cNvSpPr>
            <a:spLocks noGrp="1"/>
          </p:cNvSpPr>
          <p:nvPr/>
        </p:nvSpPr>
        <p:spPr>
          <a:xfrm>
            <a:off x="762000" y="1695450"/>
            <a:ext cx="2190750" cy="685800"/>
          </a:xfrm>
          <a:prstGeom prst="rect">
            <a:avLst/>
          </a:prstGeom>
          <a:solidFill>
            <a:srgbClr val="EFF6FF"/>
          </a:solidFill>
          <a:ln w="9525">
            <a:solidFill>
              <a:srgbClr val="93C5FD"/>
            </a:solidFill>
            <a:prstDash val="solid"/>
          </a:ln>
        </p:spPr>
        <p:txBody>
          <a:bodyPr/>
          <a:lstStyle/>
          <a:p>
            <a:endParaRPr lang="en-US"/>
          </a:p>
        </p:txBody>
      </p:sp>
      <p:sp>
        <p:nvSpPr>
          <p:cNvPr id="7" name="Rectangle 6">
            <a:extLst>
              <a:ext uri="{FF2B5EF4-FFF2-40B4-BE49-F238E27FC236}">
                <a16:creationId xmlns:a16="http://schemas.microsoft.com/office/drawing/2014/main" id="{DA205043-E4FD-4A76-BC04-6B48CC4417CD}"/>
              </a:ext>
            </a:extLst>
          </p:cNvPr>
          <p:cNvSpPr>
            <a:spLocks noGrp="1"/>
          </p:cNvSpPr>
          <p:nvPr/>
        </p:nvSpPr>
        <p:spPr>
          <a:xfrm>
            <a:off x="895350" y="190500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NativeBenchmark.runBenchmark</a:t>
            </a:r>
          </a:p>
        </p:txBody>
      </p:sp>
      <p:sp>
        <p:nvSpPr>
          <p:cNvPr id="8" name="Rectangle 7">
            <a:extLst>
              <a:ext uri="{FF2B5EF4-FFF2-40B4-BE49-F238E27FC236}">
                <a16:creationId xmlns:a16="http://schemas.microsoft.com/office/drawing/2014/main" id="{8F538B83-BECD-451D-A7E2-601A2C3695C0}"/>
              </a:ext>
            </a:extLst>
          </p:cNvPr>
          <p:cNvSpPr>
            <a:spLocks noGrp="1"/>
          </p:cNvSpPr>
          <p:nvPr/>
        </p:nvSpPr>
        <p:spPr>
          <a:xfrm>
            <a:off x="3048000" y="192405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9" name="Rectangle 8">
            <a:extLst>
              <a:ext uri="{FF2B5EF4-FFF2-40B4-BE49-F238E27FC236}">
                <a16:creationId xmlns:a16="http://schemas.microsoft.com/office/drawing/2014/main" id="{B5E70BAE-530F-4D26-B291-E0A928DED11E}"/>
              </a:ext>
            </a:extLst>
          </p:cNvPr>
          <p:cNvSpPr>
            <a:spLocks noGrp="1"/>
          </p:cNvSpPr>
          <p:nvPr/>
        </p:nvSpPr>
        <p:spPr>
          <a:xfrm>
            <a:off x="3476625" y="1695450"/>
            <a:ext cx="2190750" cy="685800"/>
          </a:xfrm>
          <a:prstGeom prst="rect">
            <a:avLst/>
          </a:prstGeom>
          <a:solidFill>
            <a:srgbClr val="EFF6FF"/>
          </a:solidFill>
          <a:ln w="9525">
            <a:solidFill>
              <a:srgbClr val="93C5FD"/>
            </a:solidFill>
            <a:prstDash val="solid"/>
          </a:ln>
        </p:spPr>
        <p:txBody>
          <a:bodyPr/>
          <a:lstStyle/>
          <a:p>
            <a:endParaRPr lang="en-US"/>
          </a:p>
        </p:txBody>
      </p:sp>
      <p:sp>
        <p:nvSpPr>
          <p:cNvPr id="10" name="Rectangle 9">
            <a:extLst>
              <a:ext uri="{FF2B5EF4-FFF2-40B4-BE49-F238E27FC236}">
                <a16:creationId xmlns:a16="http://schemas.microsoft.com/office/drawing/2014/main" id="{BD1B2FA5-7043-4894-8624-918A23159448}"/>
              </a:ext>
            </a:extLst>
          </p:cNvPr>
          <p:cNvSpPr>
            <a:spLocks noGrp="1"/>
          </p:cNvSpPr>
          <p:nvPr/>
        </p:nvSpPr>
        <p:spPr>
          <a:xfrm>
            <a:off x="3609975" y="190500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xq_create</a:t>
            </a:r>
          </a:p>
        </p:txBody>
      </p:sp>
      <p:sp>
        <p:nvSpPr>
          <p:cNvPr id="11" name="Rectangle 10">
            <a:extLst>
              <a:ext uri="{FF2B5EF4-FFF2-40B4-BE49-F238E27FC236}">
                <a16:creationId xmlns:a16="http://schemas.microsoft.com/office/drawing/2014/main" id="{C1F8E4B0-C5BE-4CF2-B579-D45BC6AFC4DA}"/>
              </a:ext>
            </a:extLst>
          </p:cNvPr>
          <p:cNvSpPr>
            <a:spLocks noGrp="1"/>
          </p:cNvSpPr>
          <p:nvPr/>
        </p:nvSpPr>
        <p:spPr>
          <a:xfrm>
            <a:off x="5762625" y="192405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12" name="Rectangle 11">
            <a:extLst>
              <a:ext uri="{FF2B5EF4-FFF2-40B4-BE49-F238E27FC236}">
                <a16:creationId xmlns:a16="http://schemas.microsoft.com/office/drawing/2014/main" id="{9BECF03E-9BE1-4707-80C8-09FD5C9EF8D2}"/>
              </a:ext>
            </a:extLst>
          </p:cNvPr>
          <p:cNvSpPr>
            <a:spLocks noGrp="1"/>
          </p:cNvSpPr>
          <p:nvPr/>
        </p:nvSpPr>
        <p:spPr>
          <a:xfrm>
            <a:off x="6191250" y="1695450"/>
            <a:ext cx="2190750" cy="685800"/>
          </a:xfrm>
          <a:prstGeom prst="rect">
            <a:avLst/>
          </a:prstGeom>
          <a:solidFill>
            <a:srgbClr val="ECFDF5"/>
          </a:solidFill>
          <a:ln w="9525">
            <a:solidFill>
              <a:srgbClr val="5EEAD4"/>
            </a:solidFill>
            <a:prstDash val="solid"/>
          </a:ln>
        </p:spPr>
        <p:txBody>
          <a:bodyPr/>
          <a:lstStyle/>
          <a:p>
            <a:endParaRPr lang="en-US"/>
          </a:p>
        </p:txBody>
      </p:sp>
      <p:sp>
        <p:nvSpPr>
          <p:cNvPr id="13" name="Rectangle 12">
            <a:extLst>
              <a:ext uri="{FF2B5EF4-FFF2-40B4-BE49-F238E27FC236}">
                <a16:creationId xmlns:a16="http://schemas.microsoft.com/office/drawing/2014/main" id="{C62F187C-2B42-4149-B7FB-E3EE061E997B}"/>
              </a:ext>
            </a:extLst>
          </p:cNvPr>
          <p:cNvSpPr>
            <a:spLocks noGrp="1"/>
          </p:cNvSpPr>
          <p:nvPr/>
        </p:nvSpPr>
        <p:spPr>
          <a:xfrm>
            <a:off x="6324600" y="190500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xq_generate</a:t>
            </a:r>
          </a:p>
        </p:txBody>
      </p:sp>
      <p:sp>
        <p:nvSpPr>
          <p:cNvPr id="14" name="Rectangle 13">
            <a:extLst>
              <a:ext uri="{FF2B5EF4-FFF2-40B4-BE49-F238E27FC236}">
                <a16:creationId xmlns:a16="http://schemas.microsoft.com/office/drawing/2014/main" id="{86E06963-EB61-43FE-AA05-F4DE33A3AC5B}"/>
              </a:ext>
            </a:extLst>
          </p:cNvPr>
          <p:cNvSpPr>
            <a:spLocks noGrp="1"/>
          </p:cNvSpPr>
          <p:nvPr/>
        </p:nvSpPr>
        <p:spPr>
          <a:xfrm>
            <a:off x="8477250" y="192405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15" name="Rectangle 14">
            <a:extLst>
              <a:ext uri="{FF2B5EF4-FFF2-40B4-BE49-F238E27FC236}">
                <a16:creationId xmlns:a16="http://schemas.microsoft.com/office/drawing/2014/main" id="{B175BFCE-BF6E-4CAA-8E3F-A10E35EA8B87}"/>
              </a:ext>
            </a:extLst>
          </p:cNvPr>
          <p:cNvSpPr>
            <a:spLocks noGrp="1"/>
          </p:cNvSpPr>
          <p:nvPr/>
        </p:nvSpPr>
        <p:spPr>
          <a:xfrm>
            <a:off x="8905875" y="1695450"/>
            <a:ext cx="2190750" cy="685800"/>
          </a:xfrm>
          <a:prstGeom prst="rect">
            <a:avLst/>
          </a:prstGeom>
          <a:solidFill>
            <a:srgbClr val="ECFDF5"/>
          </a:solidFill>
          <a:ln w="9525">
            <a:solidFill>
              <a:srgbClr val="5EEAD4"/>
            </a:solidFill>
            <a:prstDash val="solid"/>
          </a:ln>
        </p:spPr>
        <p:txBody>
          <a:bodyPr/>
          <a:lstStyle/>
          <a:p>
            <a:endParaRPr lang="en-US"/>
          </a:p>
        </p:txBody>
      </p:sp>
      <p:sp>
        <p:nvSpPr>
          <p:cNvPr id="16" name="Rectangle 15">
            <a:extLst>
              <a:ext uri="{FF2B5EF4-FFF2-40B4-BE49-F238E27FC236}">
                <a16:creationId xmlns:a16="http://schemas.microsoft.com/office/drawing/2014/main" id="{67DF08CE-533D-4E18-93B3-FA9450A5C1DD}"/>
              </a:ext>
            </a:extLst>
          </p:cNvPr>
          <p:cNvSpPr>
            <a:spLocks noGrp="1"/>
          </p:cNvSpPr>
          <p:nvPr/>
        </p:nvSpPr>
        <p:spPr>
          <a:xfrm>
            <a:off x="9039225" y="190500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Session::prefill</a:t>
            </a:r>
          </a:p>
        </p:txBody>
      </p:sp>
      <p:sp>
        <p:nvSpPr>
          <p:cNvPr id="17" name="Rectangle 16">
            <a:extLst>
              <a:ext uri="{FF2B5EF4-FFF2-40B4-BE49-F238E27FC236}">
                <a16:creationId xmlns:a16="http://schemas.microsoft.com/office/drawing/2014/main" id="{38CCA07C-846F-41F3-BD6A-D1D4F64F0552}"/>
              </a:ext>
            </a:extLst>
          </p:cNvPr>
          <p:cNvSpPr>
            <a:spLocks noGrp="1"/>
          </p:cNvSpPr>
          <p:nvPr/>
        </p:nvSpPr>
        <p:spPr>
          <a:xfrm>
            <a:off x="11191875" y="192405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18" name="Rectangle 17">
            <a:extLst>
              <a:ext uri="{FF2B5EF4-FFF2-40B4-BE49-F238E27FC236}">
                <a16:creationId xmlns:a16="http://schemas.microsoft.com/office/drawing/2014/main" id="{3EEEA312-DB63-4F29-A9FC-3F7D732B5220}"/>
              </a:ext>
            </a:extLst>
          </p:cNvPr>
          <p:cNvSpPr>
            <a:spLocks noGrp="1"/>
          </p:cNvSpPr>
          <p:nvPr/>
        </p:nvSpPr>
        <p:spPr>
          <a:xfrm>
            <a:off x="762000" y="3314700"/>
            <a:ext cx="2190750" cy="685800"/>
          </a:xfrm>
          <a:prstGeom prst="rect">
            <a:avLst/>
          </a:prstGeom>
          <a:solidFill>
            <a:srgbClr val="ECFDF5"/>
          </a:solidFill>
          <a:ln w="9525">
            <a:solidFill>
              <a:srgbClr val="5EEAD4"/>
            </a:solidFill>
            <a:prstDash val="solid"/>
          </a:ln>
        </p:spPr>
        <p:txBody>
          <a:bodyPr/>
          <a:lstStyle/>
          <a:p>
            <a:endParaRPr lang="en-US"/>
          </a:p>
        </p:txBody>
      </p:sp>
      <p:sp>
        <p:nvSpPr>
          <p:cNvPr id="19" name="Rectangle 18">
            <a:extLst>
              <a:ext uri="{FF2B5EF4-FFF2-40B4-BE49-F238E27FC236}">
                <a16:creationId xmlns:a16="http://schemas.microsoft.com/office/drawing/2014/main" id="{12A72203-540B-443A-B569-842B0A6A182B}"/>
              </a:ext>
            </a:extLst>
          </p:cNvPr>
          <p:cNvSpPr>
            <a:spLocks noGrp="1"/>
          </p:cNvSpPr>
          <p:nvPr/>
        </p:nvSpPr>
        <p:spPr>
          <a:xfrm>
            <a:off x="895350" y="352425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CustomModel::prefill</a:t>
            </a:r>
          </a:p>
        </p:txBody>
      </p:sp>
      <p:sp>
        <p:nvSpPr>
          <p:cNvPr id="20" name="Rectangle 19">
            <a:extLst>
              <a:ext uri="{FF2B5EF4-FFF2-40B4-BE49-F238E27FC236}">
                <a16:creationId xmlns:a16="http://schemas.microsoft.com/office/drawing/2014/main" id="{C1E51FE6-DB09-46FF-921D-DC538D57DCAB}"/>
              </a:ext>
            </a:extLst>
          </p:cNvPr>
          <p:cNvSpPr>
            <a:spLocks noGrp="1"/>
          </p:cNvSpPr>
          <p:nvPr/>
        </p:nvSpPr>
        <p:spPr>
          <a:xfrm>
            <a:off x="3048000" y="354330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21" name="Rectangle 20">
            <a:extLst>
              <a:ext uri="{FF2B5EF4-FFF2-40B4-BE49-F238E27FC236}">
                <a16:creationId xmlns:a16="http://schemas.microsoft.com/office/drawing/2014/main" id="{B4E4FB01-145B-43F7-AC2A-F2528D129010}"/>
              </a:ext>
            </a:extLst>
          </p:cNvPr>
          <p:cNvSpPr>
            <a:spLocks noGrp="1"/>
          </p:cNvSpPr>
          <p:nvPr/>
        </p:nvSpPr>
        <p:spPr>
          <a:xfrm>
            <a:off x="3476625" y="3314700"/>
            <a:ext cx="2190750" cy="685800"/>
          </a:xfrm>
          <a:prstGeom prst="rect">
            <a:avLst/>
          </a:prstGeom>
          <a:solidFill>
            <a:srgbClr val="FFF7ED"/>
          </a:solidFill>
          <a:ln w="9525">
            <a:solidFill>
              <a:srgbClr val="FDBA74"/>
            </a:solidFill>
            <a:prstDash val="solid"/>
          </a:ln>
        </p:spPr>
        <p:txBody>
          <a:bodyPr/>
          <a:lstStyle/>
          <a:p>
            <a:endParaRPr lang="en-US"/>
          </a:p>
        </p:txBody>
      </p:sp>
      <p:sp>
        <p:nvSpPr>
          <p:cNvPr id="22" name="Rectangle 21">
            <a:extLst>
              <a:ext uri="{FF2B5EF4-FFF2-40B4-BE49-F238E27FC236}">
                <a16:creationId xmlns:a16="http://schemas.microsoft.com/office/drawing/2014/main" id="{A4179C80-0652-4796-BB19-F05381CCCF13}"/>
              </a:ext>
            </a:extLst>
          </p:cNvPr>
          <p:cNvSpPr>
            <a:spLocks noGrp="1"/>
          </p:cNvSpPr>
          <p:nvPr/>
        </p:nvSpPr>
        <p:spPr>
          <a:xfrm>
            <a:off x="3609975" y="352425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Session::decodeOne</a:t>
            </a:r>
          </a:p>
        </p:txBody>
      </p:sp>
      <p:sp>
        <p:nvSpPr>
          <p:cNvPr id="23" name="Rectangle 22">
            <a:extLst>
              <a:ext uri="{FF2B5EF4-FFF2-40B4-BE49-F238E27FC236}">
                <a16:creationId xmlns:a16="http://schemas.microsoft.com/office/drawing/2014/main" id="{9DC1C6A9-24D9-4306-9B77-3DDD20FA329E}"/>
              </a:ext>
            </a:extLst>
          </p:cNvPr>
          <p:cNvSpPr>
            <a:spLocks noGrp="1"/>
          </p:cNvSpPr>
          <p:nvPr/>
        </p:nvSpPr>
        <p:spPr>
          <a:xfrm>
            <a:off x="5762625" y="354330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24" name="Rectangle 23">
            <a:extLst>
              <a:ext uri="{FF2B5EF4-FFF2-40B4-BE49-F238E27FC236}">
                <a16:creationId xmlns:a16="http://schemas.microsoft.com/office/drawing/2014/main" id="{AD0187B6-4709-4070-98DD-A44F6789E6CD}"/>
              </a:ext>
            </a:extLst>
          </p:cNvPr>
          <p:cNvSpPr>
            <a:spLocks noGrp="1"/>
          </p:cNvSpPr>
          <p:nvPr/>
        </p:nvSpPr>
        <p:spPr>
          <a:xfrm>
            <a:off x="6191250" y="3314700"/>
            <a:ext cx="2190750" cy="685800"/>
          </a:xfrm>
          <a:prstGeom prst="rect">
            <a:avLst/>
          </a:prstGeom>
          <a:solidFill>
            <a:srgbClr val="FFF7ED"/>
          </a:solidFill>
          <a:ln w="9525">
            <a:solidFill>
              <a:srgbClr val="FDBA74"/>
            </a:solidFill>
            <a:prstDash val="solid"/>
          </a:ln>
        </p:spPr>
        <p:txBody>
          <a:bodyPr/>
          <a:lstStyle/>
          <a:p>
            <a:endParaRPr lang="en-US"/>
          </a:p>
        </p:txBody>
      </p:sp>
      <p:sp>
        <p:nvSpPr>
          <p:cNvPr id="25" name="Rectangle 24">
            <a:extLst>
              <a:ext uri="{FF2B5EF4-FFF2-40B4-BE49-F238E27FC236}">
                <a16:creationId xmlns:a16="http://schemas.microsoft.com/office/drawing/2014/main" id="{E8A2CE2E-5063-4E76-B153-41A5912D7643}"/>
              </a:ext>
            </a:extLst>
          </p:cNvPr>
          <p:cNvSpPr>
            <a:spLocks noGrp="1"/>
          </p:cNvSpPr>
          <p:nvPr/>
        </p:nvSpPr>
        <p:spPr>
          <a:xfrm>
            <a:off x="6324600" y="352425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CustomModel::decodeOne</a:t>
            </a:r>
          </a:p>
        </p:txBody>
      </p:sp>
      <p:sp>
        <p:nvSpPr>
          <p:cNvPr id="26" name="Rectangle 25">
            <a:extLst>
              <a:ext uri="{FF2B5EF4-FFF2-40B4-BE49-F238E27FC236}">
                <a16:creationId xmlns:a16="http://schemas.microsoft.com/office/drawing/2014/main" id="{73F3892B-0CA3-4FC9-86AD-834359BBD6F0}"/>
              </a:ext>
            </a:extLst>
          </p:cNvPr>
          <p:cNvSpPr>
            <a:spLocks noGrp="1"/>
          </p:cNvSpPr>
          <p:nvPr/>
        </p:nvSpPr>
        <p:spPr>
          <a:xfrm>
            <a:off x="8477250" y="3543300"/>
            <a:ext cx="304800" cy="228600"/>
          </a:xfrm>
          <a:prstGeom prst="rect">
            <a:avLst/>
          </a:prstGeom>
          <a:noFill/>
          <a:ln w="0">
            <a:solidFill>
              <a:srgbClr val="000000">
                <a:alpha val="0"/>
              </a:srgbClr>
            </a:solidFill>
            <a:prstDash val="solid"/>
          </a:ln>
        </p:spPr>
        <p:txBody>
          <a:bodyPr/>
          <a:lstStyle/>
          <a:p>
            <a:pPr algn="l">
              <a:defRPr sz="1500" b="1">
                <a:solidFill>
                  <a:srgbClr val="0F172A"/>
                </a:solidFill>
                <a:latin typeface="Aptos"/>
                <a:ea typeface="Aptos"/>
                <a:cs typeface="Aptos"/>
              </a:defRPr>
            </a:pPr>
            <a:r>
              <a:rPr sz="1500" b="1">
                <a:solidFill>
                  <a:srgbClr val="0F172A"/>
                </a:solidFill>
                <a:latin typeface="Aptos"/>
                <a:ea typeface="Aptos"/>
                <a:cs typeface="Aptos"/>
              </a:rPr>
              <a:t>-&gt;</a:t>
            </a:r>
          </a:p>
        </p:txBody>
      </p:sp>
      <p:sp>
        <p:nvSpPr>
          <p:cNvPr id="27" name="Rectangle 26">
            <a:extLst>
              <a:ext uri="{FF2B5EF4-FFF2-40B4-BE49-F238E27FC236}">
                <a16:creationId xmlns:a16="http://schemas.microsoft.com/office/drawing/2014/main" id="{9CAC66CA-4DB7-4357-B6C0-C90F4CAD0734}"/>
              </a:ext>
            </a:extLst>
          </p:cNvPr>
          <p:cNvSpPr>
            <a:spLocks noGrp="1"/>
          </p:cNvSpPr>
          <p:nvPr/>
        </p:nvSpPr>
        <p:spPr>
          <a:xfrm>
            <a:off x="8905875" y="3314700"/>
            <a:ext cx="2190750" cy="685800"/>
          </a:xfrm>
          <a:prstGeom prst="rect">
            <a:avLst/>
          </a:prstGeom>
          <a:solidFill>
            <a:srgbClr val="FFF7ED"/>
          </a:solidFill>
          <a:ln w="9525">
            <a:solidFill>
              <a:srgbClr val="FDBA74"/>
            </a:solidFill>
            <a:prstDash val="solid"/>
          </a:ln>
        </p:spPr>
        <p:txBody>
          <a:bodyPr/>
          <a:lstStyle/>
          <a:p>
            <a:endParaRPr lang="en-US"/>
          </a:p>
        </p:txBody>
      </p:sp>
      <p:sp>
        <p:nvSpPr>
          <p:cNvPr id="28" name="Rectangle 27">
            <a:extLst>
              <a:ext uri="{FF2B5EF4-FFF2-40B4-BE49-F238E27FC236}">
                <a16:creationId xmlns:a16="http://schemas.microsoft.com/office/drawing/2014/main" id="{F22465F1-A0F6-4593-AE29-3931204430CE}"/>
              </a:ext>
            </a:extLst>
          </p:cNvPr>
          <p:cNvSpPr>
            <a:spLocks noGrp="1"/>
          </p:cNvSpPr>
          <p:nvPr/>
        </p:nvSpPr>
        <p:spPr>
          <a:xfrm>
            <a:off x="9039225" y="3524250"/>
            <a:ext cx="1924050" cy="266700"/>
          </a:xfrm>
          <a:prstGeom prst="rect">
            <a:avLst/>
          </a:prstGeom>
          <a:noFill/>
          <a:ln w="0">
            <a:solidFill>
              <a:srgbClr val="000000">
                <a:alpha val="0"/>
              </a:srgbClr>
            </a:solidFill>
            <a:prstDash val="solid"/>
          </a:ln>
        </p:spPr>
        <p:txBody>
          <a:bodyPr/>
          <a:lstStyle/>
          <a:p>
            <a:pPr algn="ctr">
              <a:defRPr sz="1275" b="1">
                <a:solidFill>
                  <a:srgbClr val="0F172A"/>
                </a:solidFill>
                <a:latin typeface="Aptos"/>
                <a:ea typeface="Aptos"/>
                <a:cs typeface="Aptos"/>
              </a:defRPr>
            </a:pPr>
            <a:r>
              <a:rPr sz="1275" b="1">
                <a:solidFill>
                  <a:srgbClr val="0F172A"/>
                </a:solidFill>
                <a:latin typeface="Aptos"/>
                <a:ea typeface="Aptos"/>
                <a:cs typeface="Aptos"/>
              </a:rPr>
              <a:t>sampleGreedy</a:t>
            </a:r>
          </a:p>
        </p:txBody>
      </p:sp>
      <p:sp>
        <p:nvSpPr>
          <p:cNvPr id="29" name="Rectangle 28">
            <a:extLst>
              <a:ext uri="{FF2B5EF4-FFF2-40B4-BE49-F238E27FC236}">
                <a16:creationId xmlns:a16="http://schemas.microsoft.com/office/drawing/2014/main" id="{34ADCF0E-B2C2-4C02-9B6E-0B8D45872EEC}"/>
              </a:ext>
            </a:extLst>
          </p:cNvPr>
          <p:cNvSpPr>
            <a:spLocks noGrp="1"/>
          </p:cNvSpPr>
          <p:nvPr/>
        </p:nvSpPr>
        <p:spPr>
          <a:xfrm>
            <a:off x="1219200" y="5257800"/>
            <a:ext cx="9525000" cy="342900"/>
          </a:xfrm>
          <a:prstGeom prst="rect">
            <a:avLst/>
          </a:prstGeom>
          <a:noFill/>
          <a:ln w="0">
            <a:solidFill>
              <a:srgbClr val="000000">
                <a:alpha val="0"/>
              </a:srgbClr>
            </a:solidFill>
            <a:prstDash val="solid"/>
          </a:ln>
        </p:spPr>
        <p:txBody>
          <a:bodyPr/>
          <a:lstStyle/>
          <a:p>
            <a:pPr algn="ctr">
              <a:defRPr sz="1500" b="0">
                <a:solidFill>
                  <a:srgbClr val="0F172A"/>
                </a:solidFill>
                <a:latin typeface="Aptos"/>
                <a:ea typeface="Aptos"/>
                <a:cs typeface="Aptos"/>
              </a:defRPr>
            </a:pPr>
            <a:r>
              <a:rPr sz="1500" b="0">
                <a:solidFill>
                  <a:srgbClr val="0F172A"/>
                </a:solidFill>
                <a:latin typeface="Aptos"/>
                <a:ea typeface="Aptos"/>
                <a:cs typeface="Aptos"/>
              </a:rPr>
              <a:t>The custom benchmark records BENCH_RESULT_JSON after this path, including TPOT/TPS and per-kernel wall clock.</a:t>
            </a:r>
          </a:p>
        </p:txBody>
      </p:sp>
    </p:spTree>
    <p:extLst>
      <p:ext uri="{BB962C8B-B14F-4D97-AF65-F5344CB8AC3E}">
        <p14:creationId xmlns:p14="http://schemas.microsoft.com/office/powerpoint/2010/main" val="190759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53C5C6-F168-477B-9DAC-A9D485B440BC}"/>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79D3F59C-04AF-4236-8332-1AC61FD56EB6}"/>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custom package carries weights for the custom runtime</a:t>
            </a:r>
          </a:p>
        </p:txBody>
      </p:sp>
      <p:sp>
        <p:nvSpPr>
          <p:cNvPr id="3" name="Rectangle 2">
            <a:extLst>
              <a:ext uri="{FF2B5EF4-FFF2-40B4-BE49-F238E27FC236}">
                <a16:creationId xmlns:a16="http://schemas.microsoft.com/office/drawing/2014/main" id="{73E45BBA-8DAD-4F5A-B956-11227E4203C5}"/>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09</a:t>
            </a:r>
          </a:p>
        </p:txBody>
      </p:sp>
      <p:sp>
        <p:nvSpPr>
          <p:cNvPr id="4" name="Rectangle 3">
            <a:extLst>
              <a:ext uri="{FF2B5EF4-FFF2-40B4-BE49-F238E27FC236}">
                <a16:creationId xmlns:a16="http://schemas.microsoft.com/office/drawing/2014/main" id="{FC1B780B-0B42-4143-8FB0-78EA30CFC175}"/>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B909BB3-091C-4736-9D95-4086B122392E}"/>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2DC9B37E-1389-402F-BD52-FECC0FFFB446}"/>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Packer exports W4A16 matrices for q/k/v/o and gate/up/down projections.</a:t>
            </a:r>
          </a:p>
          <a:p>
            <a:pPr algn="l">
              <a:defRPr sz="1650" b="0">
                <a:solidFill>
                  <a:srgbClr val="0F172A"/>
                </a:solidFill>
                <a:latin typeface="Aptos"/>
                <a:ea typeface="Aptos"/>
                <a:cs typeface="Aptos"/>
              </a:defRPr>
            </a:pPr>
            <a:r>
              <a:rPr sz="1650" b="0">
                <a:solidFill>
                  <a:srgbClr val="0F172A"/>
                </a:solidFill>
                <a:latin typeface="Aptos"/>
                <a:ea typeface="Aptos"/>
                <a:cs typeface="Aptos"/>
              </a:rPr>
              <a:t>* Linear-attention tensors are exported: in_proj_qkv, in_proj_a, in_proj_b, in_proj_z, out_proj, conv1d.weight, A_log, dt_bias.</a:t>
            </a:r>
          </a:p>
          <a:p>
            <a:pPr algn="l">
              <a:defRPr sz="1650" b="0">
                <a:solidFill>
                  <a:srgbClr val="0F172A"/>
                </a:solidFill>
                <a:latin typeface="Aptos"/>
                <a:ea typeface="Aptos"/>
                <a:cs typeface="Aptos"/>
              </a:defRPr>
            </a:pPr>
            <a:r>
              <a:rPr sz="1650" b="0">
                <a:solidFill>
                  <a:srgbClr val="0F172A"/>
                </a:solidFill>
                <a:latin typeface="Aptos"/>
                <a:ea typeface="Aptos"/>
                <a:cs typeface="Aptos"/>
              </a:rPr>
              <a:t>* lm_head.weight is packed for real logits and greedy argmax.</a:t>
            </a:r>
          </a:p>
          <a:p>
            <a:pPr algn="l">
              <a:defRPr sz="1650" b="0">
                <a:solidFill>
                  <a:srgbClr val="0F172A"/>
                </a:solidFill>
                <a:latin typeface="Aptos"/>
                <a:ea typeface="Aptos"/>
                <a:cs typeface="Aptos"/>
              </a:defRPr>
            </a:pPr>
            <a:r>
              <a:rPr sz="1650" b="0">
                <a:solidFill>
                  <a:srgbClr val="0F172A"/>
                </a:solidFill>
                <a:latin typeface="Aptos"/>
                <a:ea typeface="Aptos"/>
                <a:cs typeface="Aptos"/>
              </a:rPr>
              <a:t>* BF16 embeddings, norm vectors, RoPE/config metadata, and xqwen35_manifest.json are loaded by CustomModel.</a:t>
            </a:r>
          </a:p>
          <a:p>
            <a:pPr algn="l">
              <a:defRPr sz="1650" b="0">
                <a:solidFill>
                  <a:srgbClr val="0F172A"/>
                </a:solidFill>
                <a:latin typeface="Aptos"/>
                <a:ea typeface="Aptos"/>
                <a:cs typeface="Aptos"/>
              </a:defRPr>
            </a:pPr>
            <a:r>
              <a:rPr sz="1650" b="0">
                <a:solidFill>
                  <a:srgbClr val="0F172A"/>
                </a:solidFill>
                <a:latin typeface="Aptos"/>
                <a:ea typeface="Aptos"/>
                <a:cs typeface="Aptos"/>
              </a:rPr>
              <a:t>* The MNN package is still present for stock baseline and optional fallback, but custom execution uses its own W4A16 package.</a:t>
            </a:r>
          </a:p>
        </p:txBody>
      </p:sp>
    </p:spTree>
    <p:extLst>
      <p:ext uri="{BB962C8B-B14F-4D97-AF65-F5344CB8AC3E}">
        <p14:creationId xmlns:p14="http://schemas.microsoft.com/office/powerpoint/2010/main" val="545297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217628-5EA1-4DBD-99AF-A444BD78217B}"/>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24AB361F-E6C6-4E23-BFE4-4BC4D78CF41E}"/>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W4A16 kernel fuses unpack, dequant, and GEMV</a:t>
            </a:r>
          </a:p>
        </p:txBody>
      </p:sp>
      <p:sp>
        <p:nvSpPr>
          <p:cNvPr id="3" name="Rectangle 2">
            <a:extLst>
              <a:ext uri="{FF2B5EF4-FFF2-40B4-BE49-F238E27FC236}">
                <a16:creationId xmlns:a16="http://schemas.microsoft.com/office/drawing/2014/main" id="{EAAB9F3E-0922-45FE-BA74-50F3DAD6733E}"/>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10</a:t>
            </a:r>
          </a:p>
        </p:txBody>
      </p:sp>
      <p:sp>
        <p:nvSpPr>
          <p:cNvPr id="4" name="Rectangle 3">
            <a:extLst>
              <a:ext uri="{FF2B5EF4-FFF2-40B4-BE49-F238E27FC236}">
                <a16:creationId xmlns:a16="http://schemas.microsoft.com/office/drawing/2014/main" id="{56337412-66A7-4F12-9D14-BC32C7ACED75}"/>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2713318D-1069-4B93-AE61-4026F35B1137}"/>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31D073CB-2C0E-4D69-BE57-CA832C1CFCFE}"/>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customlib/kernels/generated/arm64_neon/xq_gemv_w4a16_neon.cpp</a:t>
            </a:r>
          </a:p>
        </p:txBody>
      </p:sp>
      <p:sp>
        <p:nvSpPr>
          <p:cNvPr id="7" name="Rectangle 6">
            <a:extLst>
              <a:ext uri="{FF2B5EF4-FFF2-40B4-BE49-F238E27FC236}">
                <a16:creationId xmlns:a16="http://schemas.microsoft.com/office/drawing/2014/main" id="{EDF553B9-540E-4BD4-B4B9-56D9C330A92B}"/>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2D60F4DE-CAED-42B7-9FAA-DFE59133B587}"/>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For each row and quant group:</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code_dot = sum(code_i * activation_i)</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x_sum    = sum(activation_i)</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partial  = scale * (code_dot - zero * x_sum)</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computeGroupSums(matrix, x, &amp;group_sums);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y[row] = computeRowImpl&lt;affine&gt;(matrix, x, sums, ...);</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int gemvW4A16ArgmaxNeon(...);</a:t>
            </a:r>
          </a:p>
        </p:txBody>
      </p:sp>
      <p:sp>
        <p:nvSpPr>
          <p:cNvPr id="9" name="Rectangle 8">
            <a:extLst>
              <a:ext uri="{FF2B5EF4-FFF2-40B4-BE49-F238E27FC236}">
                <a16:creationId xmlns:a16="http://schemas.microsoft.com/office/drawing/2014/main" id="{CA42C1B1-456C-4A3B-B82F-E614E6813DCA}"/>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Avoids materializing dequantized weights.</a:t>
            </a:r>
          </a:p>
          <a:p>
            <a:pPr algn="l">
              <a:defRPr sz="1275" b="0">
                <a:solidFill>
                  <a:srgbClr val="0F172A"/>
                </a:solidFill>
                <a:latin typeface="Aptos"/>
                <a:ea typeface="Aptos"/>
                <a:cs typeface="Aptos"/>
              </a:defRPr>
            </a:pPr>
            <a:r>
              <a:rPr sz="1275" b="0">
                <a:solidFill>
                  <a:srgbClr val="0F172A"/>
                </a:solidFill>
                <a:latin typeface="Aptos"/>
                <a:ea typeface="Aptos"/>
                <a:cs typeface="Aptos"/>
              </a:rPr>
              <a:t>* Targets batch=1 decode GEMV, the mobile LLM hot path.</a:t>
            </a:r>
          </a:p>
          <a:p>
            <a:pPr algn="l">
              <a:defRPr sz="1275" b="0">
                <a:solidFill>
                  <a:srgbClr val="0F172A"/>
                </a:solidFill>
                <a:latin typeface="Aptos"/>
                <a:ea typeface="Aptos"/>
                <a:cs typeface="Aptos"/>
              </a:defRPr>
            </a:pPr>
            <a:r>
              <a:rPr sz="1275" b="0">
                <a:solidFill>
                  <a:srgbClr val="0F172A"/>
                </a:solidFill>
                <a:latin typeface="Aptos"/>
                <a:ea typeface="Aptos"/>
                <a:cs typeface="Aptos"/>
              </a:rPr>
              <a:t>* Uses row-parallel tiling, activation group-sum reuse, and NEON-oriented compute.</a:t>
            </a:r>
          </a:p>
          <a:p>
            <a:pPr algn="l">
              <a:defRPr sz="1275" b="0">
                <a:solidFill>
                  <a:srgbClr val="0F172A"/>
                </a:solidFill>
                <a:latin typeface="Aptos"/>
                <a:ea typeface="Aptos"/>
                <a:cs typeface="Aptos"/>
              </a:defRPr>
            </a:pPr>
            <a:r>
              <a:rPr sz="1275" b="0">
                <a:solidFill>
                  <a:srgbClr val="0F172A"/>
                </a:solidFill>
                <a:latin typeface="Aptos"/>
                <a:ea typeface="Aptos"/>
                <a:cs typeface="Aptos"/>
              </a:rPr>
              <a:t>* Final W4 path contains no gemvLowBitReference call.</a:t>
            </a:r>
          </a:p>
        </p:txBody>
      </p:sp>
    </p:spTree>
    <p:extLst>
      <p:ext uri="{BB962C8B-B14F-4D97-AF65-F5344CB8AC3E}">
        <p14:creationId xmlns:p14="http://schemas.microsoft.com/office/powerpoint/2010/main" val="333353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6289CD-9F90-4B23-8A74-5C6CF2766C10}"/>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1ADC1851-D15E-40BA-91A8-30542A11CBCF}"/>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Custom prefill walks the whole prompt, not only the last token</a:t>
            </a:r>
          </a:p>
        </p:txBody>
      </p:sp>
      <p:sp>
        <p:nvSpPr>
          <p:cNvPr id="3" name="Rectangle 2">
            <a:extLst>
              <a:ext uri="{FF2B5EF4-FFF2-40B4-BE49-F238E27FC236}">
                <a16:creationId xmlns:a16="http://schemas.microsoft.com/office/drawing/2014/main" id="{5257367F-8869-4815-97AE-A17DCE68AB53}"/>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11</a:t>
            </a:r>
          </a:p>
        </p:txBody>
      </p:sp>
      <p:sp>
        <p:nvSpPr>
          <p:cNvPr id="4" name="Rectangle 3">
            <a:extLst>
              <a:ext uri="{FF2B5EF4-FFF2-40B4-BE49-F238E27FC236}">
                <a16:creationId xmlns:a16="http://schemas.microsoft.com/office/drawing/2014/main" id="{B254E537-68EB-4C09-AE2C-BEC623B4005B}"/>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A5D8230-C850-49EA-8C24-7F734EB263F8}"/>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6CF1C7A0-9814-468F-ADF7-5956A22073C7}"/>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For every prompt token, CustomModel reads the BF16 embedding row.</a:t>
            </a:r>
          </a:p>
          <a:p>
            <a:pPr algn="l">
              <a:defRPr sz="1650" b="0">
                <a:solidFill>
                  <a:srgbClr val="0F172A"/>
                </a:solidFill>
                <a:latin typeface="Aptos"/>
                <a:ea typeface="Aptos"/>
                <a:cs typeface="Aptos"/>
              </a:defRPr>
            </a:pPr>
            <a:r>
              <a:rPr sz="1650" b="0">
                <a:solidFill>
                  <a:srgbClr val="0F172A"/>
                </a:solidFill>
                <a:latin typeface="Aptos"/>
                <a:ea typeface="Aptos"/>
                <a:cs typeface="Aptos"/>
              </a:rPr>
              <a:t>* It runs the full layer stack for that position.</a:t>
            </a:r>
          </a:p>
          <a:p>
            <a:pPr algn="l">
              <a:defRPr sz="1650" b="0">
                <a:solidFill>
                  <a:srgbClr val="0F172A"/>
                </a:solidFill>
                <a:latin typeface="Aptos"/>
                <a:ea typeface="Aptos"/>
                <a:cs typeface="Aptos"/>
              </a:defRPr>
            </a:pPr>
            <a:r>
              <a:rPr sz="1650" b="0">
                <a:solidFill>
                  <a:srgbClr val="0F172A"/>
                </a:solidFill>
                <a:latin typeface="Aptos"/>
                <a:ea typeface="Aptos"/>
                <a:cs typeface="Aptos"/>
              </a:rPr>
              <a:t>* Full-attention layers append K/V into the cache.</a:t>
            </a:r>
          </a:p>
          <a:p>
            <a:pPr algn="l">
              <a:defRPr sz="1650" b="0">
                <a:solidFill>
                  <a:srgbClr val="0F172A"/>
                </a:solidFill>
                <a:latin typeface="Aptos"/>
                <a:ea typeface="Aptos"/>
                <a:cs typeface="Aptos"/>
              </a:defRPr>
            </a:pPr>
            <a:r>
              <a:rPr sz="1650" b="0">
                <a:solidFill>
                  <a:srgbClr val="0F172A"/>
                </a:solidFill>
                <a:latin typeface="Aptos"/>
                <a:ea typeface="Aptos"/>
                <a:cs typeface="Aptos"/>
              </a:rPr>
              <a:t>* Linear-attention layers update recurrent state.</a:t>
            </a:r>
          </a:p>
          <a:p>
            <a:pPr algn="l">
              <a:defRPr sz="1650" b="0">
                <a:solidFill>
                  <a:srgbClr val="0F172A"/>
                </a:solidFill>
                <a:latin typeface="Aptos"/>
                <a:ea typeface="Aptos"/>
                <a:cs typeface="Aptos"/>
              </a:defRPr>
            </a:pPr>
            <a:r>
              <a:rPr sz="1650" b="0">
                <a:solidFill>
                  <a:srgbClr val="0F172A"/>
                </a:solidFill>
                <a:latin typeface="Aptos"/>
                <a:ea typeface="Aptos"/>
                <a:cs typeface="Aptos"/>
              </a:rPr>
              <a:t>* Trace rows include prefill_token_custom and prefill_kv_build_custom.</a:t>
            </a:r>
          </a:p>
          <a:p>
            <a:pPr algn="l">
              <a:defRPr sz="1650" b="0">
                <a:solidFill>
                  <a:srgbClr val="0F172A"/>
                </a:solidFill>
                <a:latin typeface="Aptos"/>
                <a:ea typeface="Aptos"/>
                <a:cs typeface="Aptos"/>
              </a:defRPr>
            </a:pPr>
            <a:r>
              <a:rPr sz="1650" b="0">
                <a:solidFill>
                  <a:srgbClr val="0F172A"/>
                </a:solidFill>
                <a:latin typeface="Aptos"/>
                <a:ea typeface="Aptos"/>
                <a:cs typeface="Aptos"/>
              </a:rPr>
              <a:t>* Caveat: having the path is not the same as production-quality language output.</a:t>
            </a:r>
          </a:p>
        </p:txBody>
      </p:sp>
    </p:spTree>
    <p:extLst>
      <p:ext uri="{BB962C8B-B14F-4D97-AF65-F5344CB8AC3E}">
        <p14:creationId xmlns:p14="http://schemas.microsoft.com/office/powerpoint/2010/main" val="293696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4FA6017C-557A-49C1-A093-CD117564DA21}"/>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3CB86121-9484-4034-9305-1DDBDC3EC452}"/>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measured custom path replaces the requested decode families</a:t>
            </a:r>
          </a:p>
        </p:txBody>
      </p:sp>
      <p:sp>
        <p:nvSpPr>
          <p:cNvPr id="3" name="Rectangle 2">
            <a:extLst>
              <a:ext uri="{FF2B5EF4-FFF2-40B4-BE49-F238E27FC236}">
                <a16:creationId xmlns:a16="http://schemas.microsoft.com/office/drawing/2014/main" id="{B83B14B0-80DE-48B0-8952-CBAEB7DF3C8D}"/>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12</a:t>
            </a:r>
          </a:p>
        </p:txBody>
      </p:sp>
      <p:sp>
        <p:nvSpPr>
          <p:cNvPr id="4" name="Rectangle 3">
            <a:extLst>
              <a:ext uri="{FF2B5EF4-FFF2-40B4-BE49-F238E27FC236}">
                <a16:creationId xmlns:a16="http://schemas.microsoft.com/office/drawing/2014/main" id="{E8F07479-CA80-400D-A6BC-33EBFCEA3B0A}"/>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1388FA1-A68C-40E1-8B93-49DA7E7FCD21}"/>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386ED269-648C-4EFB-B2F6-F2A10AA865D3}"/>
              </a:ext>
            </a:extLst>
          </p:cNvPr>
          <p:cNvSpPr>
            <a:spLocks noGrp="1"/>
          </p:cNvSpPr>
          <p:nvPr/>
        </p:nvSpPr>
        <p:spPr>
          <a:xfrm>
            <a:off x="590550" y="1466850"/>
            <a:ext cx="2190750" cy="428625"/>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5EC3F5F2-4FAB-4B65-AD1B-6DE4AD5904DF}"/>
              </a:ext>
            </a:extLst>
          </p:cNvPr>
          <p:cNvSpPr>
            <a:spLocks noGrp="1"/>
          </p:cNvSpPr>
          <p:nvPr/>
        </p:nvSpPr>
        <p:spPr>
          <a:xfrm>
            <a:off x="666750" y="1562100"/>
            <a:ext cx="2038350" cy="314325"/>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Family</a:t>
            </a:r>
          </a:p>
        </p:txBody>
      </p:sp>
      <p:sp>
        <p:nvSpPr>
          <p:cNvPr id="8" name="Rectangle 7">
            <a:extLst>
              <a:ext uri="{FF2B5EF4-FFF2-40B4-BE49-F238E27FC236}">
                <a16:creationId xmlns:a16="http://schemas.microsoft.com/office/drawing/2014/main" id="{6DDFBF1A-A3C9-4320-8D43-E50500C2E810}"/>
              </a:ext>
            </a:extLst>
          </p:cNvPr>
          <p:cNvSpPr>
            <a:spLocks noGrp="1"/>
          </p:cNvSpPr>
          <p:nvPr/>
        </p:nvSpPr>
        <p:spPr>
          <a:xfrm>
            <a:off x="2781300" y="1466850"/>
            <a:ext cx="4095750" cy="428625"/>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6A60D04D-5A86-4CB4-89BD-CD4494A301E6}"/>
              </a:ext>
            </a:extLst>
          </p:cNvPr>
          <p:cNvSpPr>
            <a:spLocks noGrp="1"/>
          </p:cNvSpPr>
          <p:nvPr/>
        </p:nvSpPr>
        <p:spPr>
          <a:xfrm>
            <a:off x="2857500" y="1562100"/>
            <a:ext cx="3943350" cy="314325"/>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Custom implementation</a:t>
            </a:r>
          </a:p>
        </p:txBody>
      </p:sp>
      <p:sp>
        <p:nvSpPr>
          <p:cNvPr id="10" name="Rectangle 9">
            <a:extLst>
              <a:ext uri="{FF2B5EF4-FFF2-40B4-BE49-F238E27FC236}">
                <a16:creationId xmlns:a16="http://schemas.microsoft.com/office/drawing/2014/main" id="{11C4620A-B205-43F6-91F1-5AEB227F5893}"/>
              </a:ext>
            </a:extLst>
          </p:cNvPr>
          <p:cNvSpPr>
            <a:spLocks noGrp="1"/>
          </p:cNvSpPr>
          <p:nvPr/>
        </p:nvSpPr>
        <p:spPr>
          <a:xfrm>
            <a:off x="6877050" y="1466850"/>
            <a:ext cx="4724400" cy="428625"/>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C8DC1118-ABD4-4AF3-9887-B5F82C695BC1}"/>
              </a:ext>
            </a:extLst>
          </p:cNvPr>
          <p:cNvSpPr>
            <a:spLocks noGrp="1"/>
          </p:cNvSpPr>
          <p:nvPr/>
        </p:nvSpPr>
        <p:spPr>
          <a:xfrm>
            <a:off x="6953250" y="1562100"/>
            <a:ext cx="4572000" cy="314325"/>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Trace evidence</a:t>
            </a:r>
          </a:p>
        </p:txBody>
      </p:sp>
      <p:sp>
        <p:nvSpPr>
          <p:cNvPr id="12" name="Rectangle 11">
            <a:extLst>
              <a:ext uri="{FF2B5EF4-FFF2-40B4-BE49-F238E27FC236}">
                <a16:creationId xmlns:a16="http://schemas.microsoft.com/office/drawing/2014/main" id="{95344F4B-3394-46F6-9C8E-FED57D970158}"/>
              </a:ext>
            </a:extLst>
          </p:cNvPr>
          <p:cNvSpPr>
            <a:spLocks noGrp="1"/>
          </p:cNvSpPr>
          <p:nvPr/>
        </p:nvSpPr>
        <p:spPr>
          <a:xfrm>
            <a:off x="590550" y="1895475"/>
            <a:ext cx="2190750" cy="428625"/>
          </a:xfrm>
          <a:prstGeom prst="rect">
            <a:avLst/>
          </a:prstGeom>
          <a:solidFill>
            <a:srgbClr val="FFFFFF"/>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BC694C0E-21D2-41EF-9F09-039EF9E74B86}"/>
              </a:ext>
            </a:extLst>
          </p:cNvPr>
          <p:cNvSpPr>
            <a:spLocks noGrp="1"/>
          </p:cNvSpPr>
          <p:nvPr/>
        </p:nvSpPr>
        <p:spPr>
          <a:xfrm>
            <a:off x="666750" y="1981200"/>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q/k/v/o</a:t>
            </a:r>
          </a:p>
        </p:txBody>
      </p:sp>
      <p:sp>
        <p:nvSpPr>
          <p:cNvPr id="14" name="Rectangle 13">
            <a:extLst>
              <a:ext uri="{FF2B5EF4-FFF2-40B4-BE49-F238E27FC236}">
                <a16:creationId xmlns:a16="http://schemas.microsoft.com/office/drawing/2014/main" id="{64F0FFAF-0A29-4C70-B6FC-B89695064C27}"/>
              </a:ext>
            </a:extLst>
          </p:cNvPr>
          <p:cNvSpPr>
            <a:spLocks noGrp="1"/>
          </p:cNvSpPr>
          <p:nvPr/>
        </p:nvSpPr>
        <p:spPr>
          <a:xfrm>
            <a:off x="2781300" y="1895475"/>
            <a:ext cx="4095750" cy="428625"/>
          </a:xfrm>
          <a:prstGeom prst="rect">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5E985955-29B3-47FE-82A2-D97B6F1231B6}"/>
              </a:ext>
            </a:extLst>
          </p:cNvPr>
          <p:cNvSpPr>
            <a:spLocks noGrp="1"/>
          </p:cNvSpPr>
          <p:nvPr/>
        </p:nvSpPr>
        <p:spPr>
          <a:xfrm>
            <a:off x="2857500" y="1981200"/>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W4A16 GEMV</a:t>
            </a:r>
          </a:p>
        </p:txBody>
      </p:sp>
      <p:sp>
        <p:nvSpPr>
          <p:cNvPr id="16" name="Rectangle 15">
            <a:extLst>
              <a:ext uri="{FF2B5EF4-FFF2-40B4-BE49-F238E27FC236}">
                <a16:creationId xmlns:a16="http://schemas.microsoft.com/office/drawing/2014/main" id="{5CA8F07A-5187-495D-AB17-B8C1AA54CB8D}"/>
              </a:ext>
            </a:extLst>
          </p:cNvPr>
          <p:cNvSpPr>
            <a:spLocks noGrp="1"/>
          </p:cNvSpPr>
          <p:nvPr/>
        </p:nvSpPr>
        <p:spPr>
          <a:xfrm>
            <a:off x="6877050" y="1895475"/>
            <a:ext cx="4724400" cy="428625"/>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73BFCF65-66CA-4D81-AFB8-29F9B47D1892}"/>
              </a:ext>
            </a:extLst>
          </p:cNvPr>
          <p:cNvSpPr>
            <a:spLocks noGrp="1"/>
          </p:cNvSpPr>
          <p:nvPr/>
        </p:nvSpPr>
        <p:spPr>
          <a:xfrm>
            <a:off x="6953250" y="1981200"/>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linear_q/k/v/o_proj_w4a16</a:t>
            </a:r>
          </a:p>
        </p:txBody>
      </p:sp>
      <p:sp>
        <p:nvSpPr>
          <p:cNvPr id="18" name="Rectangle 17">
            <a:extLst>
              <a:ext uri="{FF2B5EF4-FFF2-40B4-BE49-F238E27FC236}">
                <a16:creationId xmlns:a16="http://schemas.microsoft.com/office/drawing/2014/main" id="{3290AA7F-F69A-45AB-A7F0-3B9C2E981006}"/>
              </a:ext>
            </a:extLst>
          </p:cNvPr>
          <p:cNvSpPr>
            <a:spLocks noGrp="1"/>
          </p:cNvSpPr>
          <p:nvPr/>
        </p:nvSpPr>
        <p:spPr>
          <a:xfrm>
            <a:off x="590550" y="2324100"/>
            <a:ext cx="2190750" cy="428625"/>
          </a:xfrm>
          <a:prstGeom prst="rect">
            <a:avLst/>
          </a:prstGeom>
          <a:solidFill>
            <a:srgbClr val="F1F5F9"/>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36DF0522-B489-4127-954D-956E06F55B5A}"/>
              </a:ext>
            </a:extLst>
          </p:cNvPr>
          <p:cNvSpPr>
            <a:spLocks noGrp="1"/>
          </p:cNvSpPr>
          <p:nvPr/>
        </p:nvSpPr>
        <p:spPr>
          <a:xfrm>
            <a:off x="666750" y="2409825"/>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gate/up/down</a:t>
            </a:r>
          </a:p>
        </p:txBody>
      </p:sp>
      <p:sp>
        <p:nvSpPr>
          <p:cNvPr id="20" name="Rectangle 19">
            <a:extLst>
              <a:ext uri="{FF2B5EF4-FFF2-40B4-BE49-F238E27FC236}">
                <a16:creationId xmlns:a16="http://schemas.microsoft.com/office/drawing/2014/main" id="{48A5D14B-E21D-4370-B680-C7E9FF3DDEEF}"/>
              </a:ext>
            </a:extLst>
          </p:cNvPr>
          <p:cNvSpPr>
            <a:spLocks noGrp="1"/>
          </p:cNvSpPr>
          <p:nvPr/>
        </p:nvSpPr>
        <p:spPr>
          <a:xfrm>
            <a:off x="2781300" y="2324100"/>
            <a:ext cx="4095750" cy="428625"/>
          </a:xfrm>
          <a:prstGeom prst="rect">
            <a:avLst/>
          </a:prstGeom>
          <a:solidFill>
            <a:srgbClr val="F1F5F9"/>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9B733AEC-F258-4284-99ED-5D4091AB0E0C}"/>
              </a:ext>
            </a:extLst>
          </p:cNvPr>
          <p:cNvSpPr>
            <a:spLocks noGrp="1"/>
          </p:cNvSpPr>
          <p:nvPr/>
        </p:nvSpPr>
        <p:spPr>
          <a:xfrm>
            <a:off x="2857500" y="2409825"/>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W4A16 GEMV + SiLU gate</a:t>
            </a:r>
          </a:p>
        </p:txBody>
      </p:sp>
      <p:sp>
        <p:nvSpPr>
          <p:cNvPr id="22" name="Rectangle 21">
            <a:extLst>
              <a:ext uri="{FF2B5EF4-FFF2-40B4-BE49-F238E27FC236}">
                <a16:creationId xmlns:a16="http://schemas.microsoft.com/office/drawing/2014/main" id="{236AE894-F263-4318-93B4-ABE0C787F130}"/>
              </a:ext>
            </a:extLst>
          </p:cNvPr>
          <p:cNvSpPr>
            <a:spLocks noGrp="1"/>
          </p:cNvSpPr>
          <p:nvPr/>
        </p:nvSpPr>
        <p:spPr>
          <a:xfrm>
            <a:off x="6877050" y="2324100"/>
            <a:ext cx="4724400" cy="428625"/>
          </a:xfrm>
          <a:prstGeom prst="rect">
            <a:avLst/>
          </a:prstGeom>
          <a:solidFill>
            <a:srgbClr val="F1F5F9"/>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3A5F0CED-94FD-4AAE-BA35-AC66197106C3}"/>
              </a:ext>
            </a:extLst>
          </p:cNvPr>
          <p:cNvSpPr>
            <a:spLocks noGrp="1"/>
          </p:cNvSpPr>
          <p:nvPr/>
        </p:nvSpPr>
        <p:spPr>
          <a:xfrm>
            <a:off x="6953250" y="2409825"/>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linear_gate/up/down_proj_w4a16</a:t>
            </a:r>
          </a:p>
        </p:txBody>
      </p:sp>
      <p:sp>
        <p:nvSpPr>
          <p:cNvPr id="24" name="Rectangle 23">
            <a:extLst>
              <a:ext uri="{FF2B5EF4-FFF2-40B4-BE49-F238E27FC236}">
                <a16:creationId xmlns:a16="http://schemas.microsoft.com/office/drawing/2014/main" id="{B1A03C67-5A4E-4079-9F9D-F93CA381B30C}"/>
              </a:ext>
            </a:extLst>
          </p:cNvPr>
          <p:cNvSpPr>
            <a:spLocks noGrp="1"/>
          </p:cNvSpPr>
          <p:nvPr/>
        </p:nvSpPr>
        <p:spPr>
          <a:xfrm>
            <a:off x="590550" y="2752725"/>
            <a:ext cx="2190750" cy="428625"/>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467085A5-6A12-4F2F-981A-CAEF24CA8012}"/>
              </a:ext>
            </a:extLst>
          </p:cNvPr>
          <p:cNvSpPr>
            <a:spLocks noGrp="1"/>
          </p:cNvSpPr>
          <p:nvPr/>
        </p:nvSpPr>
        <p:spPr>
          <a:xfrm>
            <a:off x="666750" y="2838450"/>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RMSNorm</a:t>
            </a:r>
          </a:p>
        </p:txBody>
      </p:sp>
      <p:sp>
        <p:nvSpPr>
          <p:cNvPr id="26" name="Rectangle 25">
            <a:extLst>
              <a:ext uri="{FF2B5EF4-FFF2-40B4-BE49-F238E27FC236}">
                <a16:creationId xmlns:a16="http://schemas.microsoft.com/office/drawing/2014/main" id="{4B30DE7D-2B4D-44A6-A2AB-EB0912352689}"/>
              </a:ext>
            </a:extLst>
          </p:cNvPr>
          <p:cNvSpPr>
            <a:spLocks noGrp="1"/>
          </p:cNvSpPr>
          <p:nvPr/>
        </p:nvSpPr>
        <p:spPr>
          <a:xfrm>
            <a:off x="2781300" y="2752725"/>
            <a:ext cx="4095750" cy="428625"/>
          </a:xfrm>
          <a:prstGeom prst="rect">
            <a:avLst/>
          </a:prstGeom>
          <a:solidFill>
            <a:srgbClr val="FFFFFF"/>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491F7315-D347-4FB2-86C6-023B837CF790}"/>
              </a:ext>
            </a:extLst>
          </p:cNvPr>
          <p:cNvSpPr>
            <a:spLocks noGrp="1"/>
          </p:cNvSpPr>
          <p:nvPr/>
        </p:nvSpPr>
        <p:spPr>
          <a:xfrm>
            <a:off x="2857500" y="2838450"/>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custom runtime math</a:t>
            </a:r>
          </a:p>
        </p:txBody>
      </p:sp>
      <p:sp>
        <p:nvSpPr>
          <p:cNvPr id="28" name="Rectangle 27">
            <a:extLst>
              <a:ext uri="{FF2B5EF4-FFF2-40B4-BE49-F238E27FC236}">
                <a16:creationId xmlns:a16="http://schemas.microsoft.com/office/drawing/2014/main" id="{5E6559DD-B521-4F54-B0DF-45ADF623426E}"/>
              </a:ext>
            </a:extLst>
          </p:cNvPr>
          <p:cNvSpPr>
            <a:spLocks noGrp="1"/>
          </p:cNvSpPr>
          <p:nvPr/>
        </p:nvSpPr>
        <p:spPr>
          <a:xfrm>
            <a:off x="6877050" y="2752725"/>
            <a:ext cx="4724400" cy="428625"/>
          </a:xfrm>
          <a:prstGeom prst="rect">
            <a:avLst/>
          </a:prstGeom>
          <a:solidFill>
            <a:srgbClr val="FFFFFF"/>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0303E037-7E9D-4ED4-A918-12EA3D108F21}"/>
              </a:ext>
            </a:extLst>
          </p:cNvPr>
          <p:cNvSpPr>
            <a:spLocks noGrp="1"/>
          </p:cNvSpPr>
          <p:nvPr/>
        </p:nvSpPr>
        <p:spPr>
          <a:xfrm>
            <a:off x="6953250" y="2838450"/>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rmsnorm_input/post/final</a:t>
            </a:r>
          </a:p>
        </p:txBody>
      </p:sp>
      <p:sp>
        <p:nvSpPr>
          <p:cNvPr id="30" name="Rectangle 29">
            <a:extLst>
              <a:ext uri="{FF2B5EF4-FFF2-40B4-BE49-F238E27FC236}">
                <a16:creationId xmlns:a16="http://schemas.microsoft.com/office/drawing/2014/main" id="{919BC14D-C009-4D86-9B3A-9D9BF48D31AB}"/>
              </a:ext>
            </a:extLst>
          </p:cNvPr>
          <p:cNvSpPr>
            <a:spLocks noGrp="1"/>
          </p:cNvSpPr>
          <p:nvPr/>
        </p:nvSpPr>
        <p:spPr>
          <a:xfrm>
            <a:off x="590550" y="3181350"/>
            <a:ext cx="2190750" cy="428625"/>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A93ECA1A-960B-401C-9F57-5CF8F06DA1DE}"/>
              </a:ext>
            </a:extLst>
          </p:cNvPr>
          <p:cNvSpPr>
            <a:spLocks noGrp="1"/>
          </p:cNvSpPr>
          <p:nvPr/>
        </p:nvSpPr>
        <p:spPr>
          <a:xfrm>
            <a:off x="666750" y="3267075"/>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RoPE</a:t>
            </a:r>
          </a:p>
        </p:txBody>
      </p:sp>
      <p:sp>
        <p:nvSpPr>
          <p:cNvPr id="32" name="Rectangle 31">
            <a:extLst>
              <a:ext uri="{FF2B5EF4-FFF2-40B4-BE49-F238E27FC236}">
                <a16:creationId xmlns:a16="http://schemas.microsoft.com/office/drawing/2014/main" id="{E17BD6B4-E86D-4789-85C4-A338A8506ABE}"/>
              </a:ext>
            </a:extLst>
          </p:cNvPr>
          <p:cNvSpPr>
            <a:spLocks noGrp="1"/>
          </p:cNvSpPr>
          <p:nvPr/>
        </p:nvSpPr>
        <p:spPr>
          <a:xfrm>
            <a:off x="2781300" y="3181350"/>
            <a:ext cx="4095750" cy="428625"/>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4D9AE0C5-C4DE-4D6F-8CC5-365393B76D70}"/>
              </a:ext>
            </a:extLst>
          </p:cNvPr>
          <p:cNvSpPr>
            <a:spLocks noGrp="1"/>
          </p:cNvSpPr>
          <p:nvPr/>
        </p:nvSpPr>
        <p:spPr>
          <a:xfrm>
            <a:off x="2857500" y="3267075"/>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custom active-slice RoPE</a:t>
            </a:r>
          </a:p>
        </p:txBody>
      </p:sp>
      <p:sp>
        <p:nvSpPr>
          <p:cNvPr id="34" name="Rectangle 33">
            <a:extLst>
              <a:ext uri="{FF2B5EF4-FFF2-40B4-BE49-F238E27FC236}">
                <a16:creationId xmlns:a16="http://schemas.microsoft.com/office/drawing/2014/main" id="{C1292472-1EDA-475C-ACDE-EFE48FBB2B3A}"/>
              </a:ext>
            </a:extLst>
          </p:cNvPr>
          <p:cNvSpPr>
            <a:spLocks noGrp="1"/>
          </p:cNvSpPr>
          <p:nvPr/>
        </p:nvSpPr>
        <p:spPr>
          <a:xfrm>
            <a:off x="6877050" y="3181350"/>
            <a:ext cx="4724400" cy="428625"/>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3A6466B7-7709-487A-8EF7-CACC277BC6A9}"/>
              </a:ext>
            </a:extLst>
          </p:cNvPr>
          <p:cNvSpPr>
            <a:spLocks noGrp="1"/>
          </p:cNvSpPr>
          <p:nvPr/>
        </p:nvSpPr>
        <p:spPr>
          <a:xfrm>
            <a:off x="6953250" y="3267075"/>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rope_qk_custom</a:t>
            </a:r>
          </a:p>
        </p:txBody>
      </p:sp>
      <p:sp>
        <p:nvSpPr>
          <p:cNvPr id="36" name="Rectangle 35">
            <a:extLst>
              <a:ext uri="{FF2B5EF4-FFF2-40B4-BE49-F238E27FC236}">
                <a16:creationId xmlns:a16="http://schemas.microsoft.com/office/drawing/2014/main" id="{0285AA71-0A95-4786-9B36-269B03248B17}"/>
              </a:ext>
            </a:extLst>
          </p:cNvPr>
          <p:cNvSpPr>
            <a:spLocks noGrp="1"/>
          </p:cNvSpPr>
          <p:nvPr/>
        </p:nvSpPr>
        <p:spPr>
          <a:xfrm>
            <a:off x="590550" y="3609975"/>
            <a:ext cx="2190750" cy="428625"/>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D9D7060D-9982-4FB5-9EDD-E1B8AD01EE95}"/>
              </a:ext>
            </a:extLst>
          </p:cNvPr>
          <p:cNvSpPr>
            <a:spLocks noGrp="1"/>
          </p:cNvSpPr>
          <p:nvPr/>
        </p:nvSpPr>
        <p:spPr>
          <a:xfrm>
            <a:off x="666750" y="3695700"/>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attention</a:t>
            </a:r>
          </a:p>
        </p:txBody>
      </p:sp>
      <p:sp>
        <p:nvSpPr>
          <p:cNvPr id="38" name="Rectangle 37">
            <a:extLst>
              <a:ext uri="{FF2B5EF4-FFF2-40B4-BE49-F238E27FC236}">
                <a16:creationId xmlns:a16="http://schemas.microsoft.com/office/drawing/2014/main" id="{0825A68B-9ED8-4378-8349-439903F6523E}"/>
              </a:ext>
            </a:extLst>
          </p:cNvPr>
          <p:cNvSpPr>
            <a:spLocks noGrp="1"/>
          </p:cNvSpPr>
          <p:nvPr/>
        </p:nvSpPr>
        <p:spPr>
          <a:xfrm>
            <a:off x="2781300" y="3609975"/>
            <a:ext cx="4095750" cy="428625"/>
          </a:xfrm>
          <a:prstGeom prst="rect">
            <a:avLst/>
          </a:prstGeom>
          <a:solidFill>
            <a:srgbClr val="FFFFFF"/>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2839753E-46D7-40BC-BF7D-1C6C232F95C5}"/>
              </a:ext>
            </a:extLst>
          </p:cNvPr>
          <p:cNvSpPr>
            <a:spLocks noGrp="1"/>
          </p:cNvSpPr>
          <p:nvPr/>
        </p:nvSpPr>
        <p:spPr>
          <a:xfrm>
            <a:off x="2857500" y="3695700"/>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custom grouped-query decode</a:t>
            </a:r>
          </a:p>
        </p:txBody>
      </p:sp>
      <p:sp>
        <p:nvSpPr>
          <p:cNvPr id="40" name="Rectangle 39">
            <a:extLst>
              <a:ext uri="{FF2B5EF4-FFF2-40B4-BE49-F238E27FC236}">
                <a16:creationId xmlns:a16="http://schemas.microsoft.com/office/drawing/2014/main" id="{2DE0C636-EDEF-442B-B22C-CEB66AAFAA4D}"/>
              </a:ext>
            </a:extLst>
          </p:cNvPr>
          <p:cNvSpPr>
            <a:spLocks noGrp="1"/>
          </p:cNvSpPr>
          <p:nvPr/>
        </p:nvSpPr>
        <p:spPr>
          <a:xfrm>
            <a:off x="6877050" y="3609975"/>
            <a:ext cx="4724400" cy="428625"/>
          </a:xfrm>
          <a:prstGeom prst="rect">
            <a:avLst/>
          </a:prstGeom>
          <a:solidFill>
            <a:srgbClr val="FFFFFF"/>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D00000F4-8166-4E52-A752-78EFA8EEE2D5}"/>
              </a:ext>
            </a:extLst>
          </p:cNvPr>
          <p:cNvSpPr>
            <a:spLocks noGrp="1"/>
          </p:cNvSpPr>
          <p:nvPr/>
        </p:nvSpPr>
        <p:spPr>
          <a:xfrm>
            <a:off x="6953250" y="3695700"/>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attention_score/softmax/v_reduce</a:t>
            </a:r>
          </a:p>
        </p:txBody>
      </p:sp>
      <p:sp>
        <p:nvSpPr>
          <p:cNvPr id="42" name="Rectangle 41">
            <a:extLst>
              <a:ext uri="{FF2B5EF4-FFF2-40B4-BE49-F238E27FC236}">
                <a16:creationId xmlns:a16="http://schemas.microsoft.com/office/drawing/2014/main" id="{53111C25-C686-499F-ACC6-7090D2B4DB57}"/>
              </a:ext>
            </a:extLst>
          </p:cNvPr>
          <p:cNvSpPr>
            <a:spLocks noGrp="1"/>
          </p:cNvSpPr>
          <p:nvPr/>
        </p:nvSpPr>
        <p:spPr>
          <a:xfrm>
            <a:off x="590550" y="4038600"/>
            <a:ext cx="2190750" cy="428625"/>
          </a:xfrm>
          <a:prstGeom prst="rect">
            <a:avLst/>
          </a:prstGeom>
          <a:solidFill>
            <a:srgbClr val="F1F5F9"/>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713522A9-4BC5-40A6-B4BD-5DFE427C1377}"/>
              </a:ext>
            </a:extLst>
          </p:cNvPr>
          <p:cNvSpPr>
            <a:spLocks noGrp="1"/>
          </p:cNvSpPr>
          <p:nvPr/>
        </p:nvSpPr>
        <p:spPr>
          <a:xfrm>
            <a:off x="666750" y="4124325"/>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linear_attention_state</a:t>
            </a:r>
          </a:p>
        </p:txBody>
      </p:sp>
      <p:sp>
        <p:nvSpPr>
          <p:cNvPr id="44" name="Rectangle 43">
            <a:extLst>
              <a:ext uri="{FF2B5EF4-FFF2-40B4-BE49-F238E27FC236}">
                <a16:creationId xmlns:a16="http://schemas.microsoft.com/office/drawing/2014/main" id="{73B8255A-3869-48BE-88B1-634814E9A1B7}"/>
              </a:ext>
            </a:extLst>
          </p:cNvPr>
          <p:cNvSpPr>
            <a:spLocks noGrp="1"/>
          </p:cNvSpPr>
          <p:nvPr/>
        </p:nvSpPr>
        <p:spPr>
          <a:xfrm>
            <a:off x="2781300" y="4038600"/>
            <a:ext cx="4095750" cy="428625"/>
          </a:xfrm>
          <a:prstGeom prst="rect">
            <a:avLst/>
          </a:prstGeom>
          <a:solidFill>
            <a:srgbClr val="F1F5F9"/>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6EDF2130-0481-4402-B953-260E621F5149}"/>
              </a:ext>
            </a:extLst>
          </p:cNvPr>
          <p:cNvSpPr>
            <a:spLocks noGrp="1"/>
          </p:cNvSpPr>
          <p:nvPr/>
        </p:nvSpPr>
        <p:spPr>
          <a:xfrm>
            <a:off x="2857500" y="4124325"/>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custom recurrent update</a:t>
            </a:r>
          </a:p>
        </p:txBody>
      </p:sp>
      <p:sp>
        <p:nvSpPr>
          <p:cNvPr id="46" name="Rectangle 45">
            <a:extLst>
              <a:ext uri="{FF2B5EF4-FFF2-40B4-BE49-F238E27FC236}">
                <a16:creationId xmlns:a16="http://schemas.microsoft.com/office/drawing/2014/main" id="{F35A753D-2ED8-4B9A-846D-B13DC9A14331}"/>
              </a:ext>
            </a:extLst>
          </p:cNvPr>
          <p:cNvSpPr>
            <a:spLocks noGrp="1"/>
          </p:cNvSpPr>
          <p:nvPr/>
        </p:nvSpPr>
        <p:spPr>
          <a:xfrm>
            <a:off x="6877050" y="4038600"/>
            <a:ext cx="4724400" cy="428625"/>
          </a:xfrm>
          <a:prstGeom prst="rect">
            <a:avLst/>
          </a:prstGeom>
          <a:solidFill>
            <a:srgbClr val="F1F5F9"/>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2873E7EE-1ED6-4FC9-8156-0E44ED2E147E}"/>
              </a:ext>
            </a:extLst>
          </p:cNvPr>
          <p:cNvSpPr>
            <a:spLocks noGrp="1"/>
          </p:cNvSpPr>
          <p:nvPr/>
        </p:nvSpPr>
        <p:spPr>
          <a:xfrm>
            <a:off x="6953250" y="4124325"/>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linear_attention_state_update_custom</a:t>
            </a:r>
          </a:p>
        </p:txBody>
      </p:sp>
      <p:sp>
        <p:nvSpPr>
          <p:cNvPr id="48" name="Rectangle 47">
            <a:extLst>
              <a:ext uri="{FF2B5EF4-FFF2-40B4-BE49-F238E27FC236}">
                <a16:creationId xmlns:a16="http://schemas.microsoft.com/office/drawing/2014/main" id="{1FD52706-81D7-4840-A160-D84DA94AF128}"/>
              </a:ext>
            </a:extLst>
          </p:cNvPr>
          <p:cNvSpPr>
            <a:spLocks noGrp="1"/>
          </p:cNvSpPr>
          <p:nvPr/>
        </p:nvSpPr>
        <p:spPr>
          <a:xfrm>
            <a:off x="590550" y="4467225"/>
            <a:ext cx="2190750" cy="428625"/>
          </a:xfrm>
          <a:prstGeom prst="rect">
            <a:avLst/>
          </a:prstGeom>
          <a:solidFill>
            <a:srgbClr val="FFFFFF"/>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DB5C30D2-621C-4C78-8B91-0CA71E01CD42}"/>
              </a:ext>
            </a:extLst>
          </p:cNvPr>
          <p:cNvSpPr>
            <a:spLocks noGrp="1"/>
          </p:cNvSpPr>
          <p:nvPr/>
        </p:nvSpPr>
        <p:spPr>
          <a:xfrm>
            <a:off x="666750" y="4552950"/>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lm_head + sampling</a:t>
            </a:r>
          </a:p>
        </p:txBody>
      </p:sp>
      <p:sp>
        <p:nvSpPr>
          <p:cNvPr id="50" name="Rectangle 49">
            <a:extLst>
              <a:ext uri="{FF2B5EF4-FFF2-40B4-BE49-F238E27FC236}">
                <a16:creationId xmlns:a16="http://schemas.microsoft.com/office/drawing/2014/main" id="{82CD65B4-C4A8-41F8-9E05-C881B2341275}"/>
              </a:ext>
            </a:extLst>
          </p:cNvPr>
          <p:cNvSpPr>
            <a:spLocks noGrp="1"/>
          </p:cNvSpPr>
          <p:nvPr/>
        </p:nvSpPr>
        <p:spPr>
          <a:xfrm>
            <a:off x="2781300" y="4467225"/>
            <a:ext cx="4095750" cy="428625"/>
          </a:xfrm>
          <a:prstGeom prst="rect">
            <a:avLst/>
          </a:prstGeom>
          <a:solidFill>
            <a:srgbClr val="FFFFFF"/>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D958881E-F947-49FA-9144-495701071CE1}"/>
              </a:ext>
            </a:extLst>
          </p:cNvPr>
          <p:cNvSpPr>
            <a:spLocks noGrp="1"/>
          </p:cNvSpPr>
          <p:nvPr/>
        </p:nvSpPr>
        <p:spPr>
          <a:xfrm>
            <a:off x="2857500" y="4552950"/>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packed W4A16 logits + greedy argmax</a:t>
            </a:r>
          </a:p>
        </p:txBody>
      </p:sp>
      <p:sp>
        <p:nvSpPr>
          <p:cNvPr id="52" name="Rectangle 51">
            <a:extLst>
              <a:ext uri="{FF2B5EF4-FFF2-40B4-BE49-F238E27FC236}">
                <a16:creationId xmlns:a16="http://schemas.microsoft.com/office/drawing/2014/main" id="{E5CF06A8-1ADF-4006-82DB-096667BDC7D8}"/>
              </a:ext>
            </a:extLst>
          </p:cNvPr>
          <p:cNvSpPr>
            <a:spLocks noGrp="1"/>
          </p:cNvSpPr>
          <p:nvPr/>
        </p:nvSpPr>
        <p:spPr>
          <a:xfrm>
            <a:off x="6877050" y="4467225"/>
            <a:ext cx="4724400" cy="428625"/>
          </a:xfrm>
          <a:prstGeom prst="rect">
            <a:avLst/>
          </a:prstGeom>
          <a:solidFill>
            <a:srgbClr val="FFFFFF"/>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1CF2C014-7586-4BCD-8664-28291EDF8361}"/>
              </a:ext>
            </a:extLst>
          </p:cNvPr>
          <p:cNvSpPr>
            <a:spLocks noGrp="1"/>
          </p:cNvSpPr>
          <p:nvPr/>
        </p:nvSpPr>
        <p:spPr>
          <a:xfrm>
            <a:off x="6953250" y="4552950"/>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lm_head_custom, sampling_greedy_custom</a:t>
            </a:r>
          </a:p>
        </p:txBody>
      </p:sp>
      <p:sp>
        <p:nvSpPr>
          <p:cNvPr id="54" name="Rectangle 53">
            <a:extLst>
              <a:ext uri="{FF2B5EF4-FFF2-40B4-BE49-F238E27FC236}">
                <a16:creationId xmlns:a16="http://schemas.microsoft.com/office/drawing/2014/main" id="{6729EC88-9981-4897-9459-DDE0A648968D}"/>
              </a:ext>
            </a:extLst>
          </p:cNvPr>
          <p:cNvSpPr>
            <a:spLocks noGrp="1"/>
          </p:cNvSpPr>
          <p:nvPr/>
        </p:nvSpPr>
        <p:spPr>
          <a:xfrm>
            <a:off x="590550" y="4895850"/>
            <a:ext cx="2190750" cy="428625"/>
          </a:xfrm>
          <a:prstGeom prst="rect">
            <a:avLst/>
          </a:prstGeom>
          <a:solidFill>
            <a:srgbClr val="F1F5F9"/>
          </a:solidFill>
          <a:ln w="9525">
            <a:solidFill>
              <a:srgbClr val="CBD5E1"/>
            </a:solidFill>
            <a:prstDash val="solid"/>
          </a:ln>
        </p:spPr>
        <p:txBody>
          <a:bodyPr/>
          <a:lstStyle/>
          <a:p>
            <a:endParaRPr lang="en-US"/>
          </a:p>
        </p:txBody>
      </p:sp>
      <p:sp>
        <p:nvSpPr>
          <p:cNvPr id="55" name="Rectangle 54">
            <a:extLst>
              <a:ext uri="{FF2B5EF4-FFF2-40B4-BE49-F238E27FC236}">
                <a16:creationId xmlns:a16="http://schemas.microsoft.com/office/drawing/2014/main" id="{5936D597-96FD-4EB3-B8C3-35875C7FE182}"/>
              </a:ext>
            </a:extLst>
          </p:cNvPr>
          <p:cNvSpPr>
            <a:spLocks noGrp="1"/>
          </p:cNvSpPr>
          <p:nvPr/>
        </p:nvSpPr>
        <p:spPr>
          <a:xfrm>
            <a:off x="666750" y="4981575"/>
            <a:ext cx="2038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prefill_kv_build</a:t>
            </a:r>
          </a:p>
        </p:txBody>
      </p:sp>
      <p:sp>
        <p:nvSpPr>
          <p:cNvPr id="56" name="Rectangle 55">
            <a:extLst>
              <a:ext uri="{FF2B5EF4-FFF2-40B4-BE49-F238E27FC236}">
                <a16:creationId xmlns:a16="http://schemas.microsoft.com/office/drawing/2014/main" id="{6D49901B-A618-4490-9A38-0199DC1DD7C2}"/>
              </a:ext>
            </a:extLst>
          </p:cNvPr>
          <p:cNvSpPr>
            <a:spLocks noGrp="1"/>
          </p:cNvSpPr>
          <p:nvPr/>
        </p:nvSpPr>
        <p:spPr>
          <a:xfrm>
            <a:off x="2781300" y="4895850"/>
            <a:ext cx="4095750" cy="428625"/>
          </a:xfrm>
          <a:prstGeom prst="rect">
            <a:avLst/>
          </a:prstGeom>
          <a:solidFill>
            <a:srgbClr val="F1F5F9"/>
          </a:solidFill>
          <a:ln w="9525">
            <a:solidFill>
              <a:srgbClr val="CBD5E1"/>
            </a:solidFill>
            <a:prstDash val="solid"/>
          </a:ln>
        </p:spPr>
        <p:txBody>
          <a:bodyPr/>
          <a:lstStyle/>
          <a:p>
            <a:endParaRPr lang="en-US"/>
          </a:p>
        </p:txBody>
      </p:sp>
      <p:sp>
        <p:nvSpPr>
          <p:cNvPr id="57" name="Rectangle 56">
            <a:extLst>
              <a:ext uri="{FF2B5EF4-FFF2-40B4-BE49-F238E27FC236}">
                <a16:creationId xmlns:a16="http://schemas.microsoft.com/office/drawing/2014/main" id="{C67DABC7-C93C-4C0B-ADBD-B625638C5262}"/>
              </a:ext>
            </a:extLst>
          </p:cNvPr>
          <p:cNvSpPr>
            <a:spLocks noGrp="1"/>
          </p:cNvSpPr>
          <p:nvPr/>
        </p:nvSpPr>
        <p:spPr>
          <a:xfrm>
            <a:off x="2857500" y="4981575"/>
            <a:ext cx="394335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custom K/V append</a:t>
            </a:r>
          </a:p>
        </p:txBody>
      </p:sp>
      <p:sp>
        <p:nvSpPr>
          <p:cNvPr id="58" name="Rectangle 57">
            <a:extLst>
              <a:ext uri="{FF2B5EF4-FFF2-40B4-BE49-F238E27FC236}">
                <a16:creationId xmlns:a16="http://schemas.microsoft.com/office/drawing/2014/main" id="{20C74F41-7DCD-4E5B-AC8F-A88C2114DB96}"/>
              </a:ext>
            </a:extLst>
          </p:cNvPr>
          <p:cNvSpPr>
            <a:spLocks noGrp="1"/>
          </p:cNvSpPr>
          <p:nvPr/>
        </p:nvSpPr>
        <p:spPr>
          <a:xfrm>
            <a:off x="6877050" y="4895850"/>
            <a:ext cx="4724400" cy="428625"/>
          </a:xfrm>
          <a:prstGeom prst="rect">
            <a:avLst/>
          </a:prstGeom>
          <a:solidFill>
            <a:srgbClr val="F1F5F9"/>
          </a:solidFill>
          <a:ln w="9525">
            <a:solidFill>
              <a:srgbClr val="CBD5E1"/>
            </a:solidFill>
            <a:prstDash val="solid"/>
          </a:ln>
        </p:spPr>
        <p:txBody>
          <a:bodyPr/>
          <a:lstStyle/>
          <a:p>
            <a:endParaRPr lang="en-US"/>
          </a:p>
        </p:txBody>
      </p:sp>
      <p:sp>
        <p:nvSpPr>
          <p:cNvPr id="59" name="Rectangle 58">
            <a:extLst>
              <a:ext uri="{FF2B5EF4-FFF2-40B4-BE49-F238E27FC236}">
                <a16:creationId xmlns:a16="http://schemas.microsoft.com/office/drawing/2014/main" id="{584AD53A-4B82-4DDF-8123-CD52777027E2}"/>
              </a:ext>
            </a:extLst>
          </p:cNvPr>
          <p:cNvSpPr>
            <a:spLocks noGrp="1"/>
          </p:cNvSpPr>
          <p:nvPr/>
        </p:nvSpPr>
        <p:spPr>
          <a:xfrm>
            <a:off x="6953250" y="4981575"/>
            <a:ext cx="4572000" cy="333375"/>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prefill_kv_build_custom</a:t>
            </a:r>
          </a:p>
        </p:txBody>
      </p:sp>
    </p:spTree>
    <p:extLst>
      <p:ext uri="{BB962C8B-B14F-4D97-AF65-F5344CB8AC3E}">
        <p14:creationId xmlns:p14="http://schemas.microsoft.com/office/powerpoint/2010/main" val="624745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1F46CA-D6AA-47C7-94AC-77756EB7474D}"/>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F65FC2B7-4A64-4B56-A589-A86DF0A29032}"/>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Full-attention decode is implemented explicitly</a:t>
            </a:r>
          </a:p>
        </p:txBody>
      </p:sp>
      <p:sp>
        <p:nvSpPr>
          <p:cNvPr id="3" name="Rectangle 2">
            <a:extLst>
              <a:ext uri="{FF2B5EF4-FFF2-40B4-BE49-F238E27FC236}">
                <a16:creationId xmlns:a16="http://schemas.microsoft.com/office/drawing/2014/main" id="{F63F23AB-CF98-4603-A257-33127329E4C8}"/>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13</a:t>
            </a:r>
          </a:p>
        </p:txBody>
      </p:sp>
      <p:sp>
        <p:nvSpPr>
          <p:cNvPr id="4" name="Rectangle 3">
            <a:extLst>
              <a:ext uri="{FF2B5EF4-FFF2-40B4-BE49-F238E27FC236}">
                <a16:creationId xmlns:a16="http://schemas.microsoft.com/office/drawing/2014/main" id="{0A4834CA-C527-4B91-8E20-1B76DD9D4EEA}"/>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B633950-D85F-4A38-A001-7F0193F27A0A}"/>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6A3EA917-B3D5-4D50-AEBA-0FD3F3971241}"/>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Apply input RMSNorm, then q/k/v W4A16 projections.</a:t>
            </a:r>
          </a:p>
          <a:p>
            <a:pPr algn="l">
              <a:defRPr sz="1650" b="0">
                <a:solidFill>
                  <a:srgbClr val="0F172A"/>
                </a:solidFill>
                <a:latin typeface="Aptos"/>
                <a:ea typeface="Aptos"/>
                <a:cs typeface="Aptos"/>
              </a:defRPr>
            </a:pPr>
            <a:r>
              <a:rPr sz="1650" b="0">
                <a:solidFill>
                  <a:srgbClr val="0F172A"/>
                </a:solidFill>
                <a:latin typeface="Aptos"/>
                <a:ea typeface="Aptos"/>
                <a:cs typeface="Aptos"/>
              </a:rPr>
              <a:t>* Apply q_norm/k_norm and active-slice RoPE at the absolute position.</a:t>
            </a:r>
          </a:p>
          <a:p>
            <a:pPr algn="l">
              <a:defRPr sz="1650" b="0">
                <a:solidFill>
                  <a:srgbClr val="0F172A"/>
                </a:solidFill>
                <a:latin typeface="Aptos"/>
                <a:ea typeface="Aptos"/>
                <a:cs typeface="Aptos"/>
              </a:defRPr>
            </a:pPr>
            <a:r>
              <a:rPr sz="1650" b="0">
                <a:solidFill>
                  <a:srgbClr val="0F172A"/>
                </a:solidFill>
                <a:latin typeface="Aptos"/>
                <a:ea typeface="Aptos"/>
                <a:cs typeface="Aptos"/>
              </a:rPr>
              <a:t>* Append K/V to cache and map q heads to grouped KV heads.</a:t>
            </a:r>
          </a:p>
          <a:p>
            <a:pPr algn="l">
              <a:defRPr sz="1650" b="0">
                <a:solidFill>
                  <a:srgbClr val="0F172A"/>
                </a:solidFill>
                <a:latin typeface="Aptos"/>
                <a:ea typeface="Aptos"/>
                <a:cs typeface="Aptos"/>
              </a:defRPr>
            </a:pPr>
            <a:r>
              <a:rPr sz="1650" b="0">
                <a:solidFill>
                  <a:srgbClr val="0F172A"/>
                </a:solidFill>
                <a:latin typeface="Aptos"/>
                <a:ea typeface="Aptos"/>
                <a:cs typeface="Aptos"/>
              </a:rPr>
              <a:t>* Compute score = dot(q,k) / sqrt(head_dim).</a:t>
            </a:r>
          </a:p>
          <a:p>
            <a:pPr algn="l">
              <a:defRPr sz="1650" b="0">
                <a:solidFill>
                  <a:srgbClr val="0F172A"/>
                </a:solidFill>
                <a:latin typeface="Aptos"/>
                <a:ea typeface="Aptos"/>
                <a:cs typeface="Aptos"/>
              </a:defRPr>
            </a:pPr>
            <a:r>
              <a:rPr sz="1650" b="0">
                <a:solidFill>
                  <a:srgbClr val="0F172A"/>
                </a:solidFill>
                <a:latin typeface="Aptos"/>
                <a:ea typeface="Aptos"/>
                <a:cs typeface="Aptos"/>
              </a:rPr>
              <a:t>* Use stable softmax, reduce over V, apply output gate, then o_proj W4A16.</a:t>
            </a:r>
          </a:p>
          <a:p>
            <a:pPr algn="l">
              <a:defRPr sz="1650" b="0">
                <a:solidFill>
                  <a:srgbClr val="0F172A"/>
                </a:solidFill>
                <a:latin typeface="Aptos"/>
                <a:ea typeface="Aptos"/>
                <a:cs typeface="Aptos"/>
              </a:defRPr>
            </a:pPr>
            <a:r>
              <a:rPr sz="1650" b="0">
                <a:solidFill>
                  <a:srgbClr val="0F172A"/>
                </a:solidFill>
                <a:latin typeface="Aptos"/>
                <a:ea typeface="Aptos"/>
                <a:cs typeface="Aptos"/>
              </a:rPr>
              <a:t>* Trace rows: attention_score_custom, attention_softmax_custom, attention_v_reduce_custom, kv_append_custom, linear_o_proj_w4a16.</a:t>
            </a:r>
          </a:p>
        </p:txBody>
      </p:sp>
    </p:spTree>
    <p:extLst>
      <p:ext uri="{BB962C8B-B14F-4D97-AF65-F5344CB8AC3E}">
        <p14:creationId xmlns:p14="http://schemas.microsoft.com/office/powerpoint/2010/main" val="1398433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9E5D2D-52FD-4AA2-A6A5-00D2C43030D8}"/>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ECC87A01-3D61-498B-8523-0B5B2E0D151B}"/>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Linear-attention state is custom and accuracy-sensitive</a:t>
            </a:r>
          </a:p>
        </p:txBody>
      </p:sp>
      <p:sp>
        <p:nvSpPr>
          <p:cNvPr id="3" name="Rectangle 2">
            <a:extLst>
              <a:ext uri="{FF2B5EF4-FFF2-40B4-BE49-F238E27FC236}">
                <a16:creationId xmlns:a16="http://schemas.microsoft.com/office/drawing/2014/main" id="{D1A97C75-0E62-48A3-9003-D36026ED6386}"/>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14</a:t>
            </a:r>
          </a:p>
        </p:txBody>
      </p:sp>
      <p:sp>
        <p:nvSpPr>
          <p:cNvPr id="4" name="Rectangle 3">
            <a:extLst>
              <a:ext uri="{FF2B5EF4-FFF2-40B4-BE49-F238E27FC236}">
                <a16:creationId xmlns:a16="http://schemas.microsoft.com/office/drawing/2014/main" id="{73D5BC5B-89AD-4601-842D-8450BF0A177D}"/>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99F329EE-8546-4B31-8733-D56EAF2E399D}"/>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F90175FD-12EA-4EAA-A607-CD3E4E78D223}"/>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Maintains recurrent state per linear-attention layer across prefill and decode.</a:t>
            </a:r>
          </a:p>
          <a:p>
            <a:pPr algn="l">
              <a:defRPr sz="1650" b="0">
                <a:solidFill>
                  <a:srgbClr val="0F172A"/>
                </a:solidFill>
                <a:latin typeface="Aptos"/>
                <a:ea typeface="Aptos"/>
                <a:cs typeface="Aptos"/>
              </a:defRPr>
            </a:pPr>
            <a:r>
              <a:rPr sz="1650" b="0">
                <a:solidFill>
                  <a:srgbClr val="0F172A"/>
                </a:solidFill>
                <a:latin typeface="Aptos"/>
                <a:ea typeface="Aptos"/>
                <a:cs typeface="Aptos"/>
              </a:rPr>
              <a:t>* Uses exported tensors: in_proj_qkv, in_proj_a, in_proj_b, in_proj_z, out_proj, conv1d.weight, A_log, dt_bias.</a:t>
            </a:r>
          </a:p>
          <a:p>
            <a:pPr algn="l">
              <a:defRPr sz="1650" b="0">
                <a:solidFill>
                  <a:srgbClr val="0F172A"/>
                </a:solidFill>
                <a:latin typeface="Aptos"/>
                <a:ea typeface="Aptos"/>
                <a:cs typeface="Aptos"/>
              </a:defRPr>
            </a:pPr>
            <a:r>
              <a:rPr sz="1650" b="0">
                <a:solidFill>
                  <a:srgbClr val="0F172A"/>
                </a:solidFill>
                <a:latin typeface="Aptos"/>
                <a:ea typeface="Aptos"/>
                <a:cs typeface="Aptos"/>
              </a:rPr>
              <a:t>* Trace rows: linear_attention_conv1d_custom, qk_l2norm, state_update, gated_rmsnorm, out_proj.</a:t>
            </a:r>
          </a:p>
          <a:p>
            <a:pPr algn="l">
              <a:defRPr sz="1650" b="0">
                <a:solidFill>
                  <a:srgbClr val="0F172A"/>
                </a:solidFill>
                <a:latin typeface="Aptos"/>
                <a:ea typeface="Aptos"/>
                <a:cs typeface="Aptos"/>
              </a:defRPr>
            </a:pPr>
            <a:r>
              <a:rPr sz="1650" b="0">
                <a:solidFill>
                  <a:srgbClr val="0F172A"/>
                </a:solidFill>
                <a:latin typeface="Aptos"/>
                <a:ea typeface="Aptos"/>
                <a:cs typeface="Aptos"/>
              </a:rPr>
              <a:t>* Honesty point: later quality debugging identified graph-level mismatches around linear-attention gate/norm semantics.</a:t>
            </a:r>
          </a:p>
          <a:p>
            <a:pPr algn="l">
              <a:defRPr sz="1650" b="0">
                <a:solidFill>
                  <a:srgbClr val="0F172A"/>
                </a:solidFill>
                <a:latin typeface="Aptos"/>
                <a:ea typeface="Aptos"/>
                <a:cs typeface="Aptos"/>
              </a:defRPr>
            </a:pPr>
            <a:r>
              <a:rPr sz="1650" b="0">
                <a:solidFill>
                  <a:srgbClr val="0F172A"/>
                </a:solidFill>
                <a:latin typeface="Aptos"/>
                <a:ea typeface="Aptos"/>
                <a:cs typeface="Aptos"/>
              </a:rPr>
              <a:t>* This is a real custom implementation, but also the area I would harden next for production quality.</a:t>
            </a:r>
          </a:p>
        </p:txBody>
      </p:sp>
    </p:spTree>
    <p:extLst>
      <p:ext uri="{BB962C8B-B14F-4D97-AF65-F5344CB8AC3E}">
        <p14:creationId xmlns:p14="http://schemas.microsoft.com/office/powerpoint/2010/main" val="164101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DE77EF-0C14-4EB5-A22D-5638C1FBE8CA}"/>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0FBE6B83-0DB9-4A88-8CFC-2AAF6879A3F5}"/>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lm_head and sampling use real logits, not hash tokens</a:t>
            </a:r>
          </a:p>
        </p:txBody>
      </p:sp>
      <p:sp>
        <p:nvSpPr>
          <p:cNvPr id="3" name="Rectangle 2">
            <a:extLst>
              <a:ext uri="{FF2B5EF4-FFF2-40B4-BE49-F238E27FC236}">
                <a16:creationId xmlns:a16="http://schemas.microsoft.com/office/drawing/2014/main" id="{1B34EF2A-CB15-44D8-8B49-A3812556FB17}"/>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15</a:t>
            </a:r>
          </a:p>
        </p:txBody>
      </p:sp>
      <p:sp>
        <p:nvSpPr>
          <p:cNvPr id="4" name="Rectangle 3">
            <a:extLst>
              <a:ext uri="{FF2B5EF4-FFF2-40B4-BE49-F238E27FC236}">
                <a16:creationId xmlns:a16="http://schemas.microsoft.com/office/drawing/2014/main" id="{8A9C718D-1CDE-4DCB-A271-91D9CDEC6532}"/>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935A4B8C-B516-4E7B-9588-2D038499E88F}"/>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E1989E08-BD74-4313-A0C5-6AF209A6E16F}"/>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Earlier hash/placeholder token paths are not the measured custom path.</a:t>
            </a:r>
          </a:p>
          <a:p>
            <a:pPr algn="l">
              <a:defRPr sz="1650" b="0">
                <a:solidFill>
                  <a:srgbClr val="0F172A"/>
                </a:solidFill>
                <a:latin typeface="Aptos"/>
                <a:ea typeface="Aptos"/>
                <a:cs typeface="Aptos"/>
              </a:defRPr>
            </a:pPr>
            <a:r>
              <a:rPr sz="1650" b="0">
                <a:solidFill>
                  <a:srgbClr val="0F172A"/>
                </a:solidFill>
                <a:latin typeface="Aptos"/>
                <a:ea typeface="Aptos"/>
                <a:cs typeface="Aptos"/>
              </a:rPr>
              <a:t>* Runtime loads packed lm_head.weight from the custom package.</a:t>
            </a:r>
          </a:p>
          <a:p>
            <a:pPr algn="l">
              <a:defRPr sz="1650" b="0">
                <a:solidFill>
                  <a:srgbClr val="0F172A"/>
                </a:solidFill>
                <a:latin typeface="Aptos"/>
                <a:ea typeface="Aptos"/>
                <a:cs typeface="Aptos"/>
              </a:defRPr>
            </a:pPr>
            <a:r>
              <a:rPr sz="1650" b="0">
                <a:solidFill>
                  <a:srgbClr val="0F172A"/>
                </a:solidFill>
                <a:latin typeface="Aptos"/>
                <a:ea typeface="Aptos"/>
                <a:cs typeface="Aptos"/>
              </a:rPr>
              <a:t>* For greedy generation, customlib computes real logits and takes argmax.</a:t>
            </a:r>
          </a:p>
          <a:p>
            <a:pPr algn="l">
              <a:defRPr sz="1650" b="0">
                <a:solidFill>
                  <a:srgbClr val="0F172A"/>
                </a:solidFill>
                <a:latin typeface="Aptos"/>
                <a:ea typeface="Aptos"/>
                <a:cs typeface="Aptos"/>
              </a:defRPr>
            </a:pPr>
            <a:r>
              <a:rPr sz="1650" b="0">
                <a:solidFill>
                  <a:srgbClr val="0F172A"/>
                </a:solidFill>
                <a:latin typeface="Aptos"/>
                <a:ea typeface="Aptos"/>
                <a:cs typeface="Aptos"/>
              </a:rPr>
              <a:t>* The optimized path streams argmax so it can avoid materializing the full logits vector.</a:t>
            </a:r>
          </a:p>
          <a:p>
            <a:pPr algn="l">
              <a:defRPr sz="1650" b="0">
                <a:solidFill>
                  <a:srgbClr val="0F172A"/>
                </a:solidFill>
                <a:latin typeface="Aptos"/>
                <a:ea typeface="Aptos"/>
                <a:cs typeface="Aptos"/>
              </a:defRPr>
            </a:pPr>
            <a:r>
              <a:rPr sz="1650" b="0">
                <a:solidFill>
                  <a:srgbClr val="0F172A"/>
                </a:solidFill>
                <a:latin typeface="Aptos"/>
                <a:ea typeface="Aptos"/>
                <a:cs typeface="Aptos"/>
              </a:rPr>
              <a:t>* Trace rows: lm_head_custom and sampling_greedy_custom.</a:t>
            </a:r>
          </a:p>
          <a:p>
            <a:pPr algn="l">
              <a:defRPr sz="1650" b="0">
                <a:solidFill>
                  <a:srgbClr val="0F172A"/>
                </a:solidFill>
                <a:latin typeface="Aptos"/>
                <a:ea typeface="Aptos"/>
                <a:cs typeface="Aptos"/>
              </a:defRPr>
            </a:pPr>
            <a:r>
              <a:rPr sz="1650" b="0">
                <a:solidFill>
                  <a:srgbClr val="0F172A"/>
                </a:solidFill>
                <a:latin typeface="Aptos"/>
                <a:ea typeface="Aptos"/>
                <a:cs typeface="Aptos"/>
              </a:rPr>
              <a:t>* Quality validation still matters: real logits are necessary, not sufficient, for model-quality output.</a:t>
            </a:r>
          </a:p>
        </p:txBody>
      </p:sp>
    </p:spTree>
    <p:extLst>
      <p:ext uri="{BB962C8B-B14F-4D97-AF65-F5344CB8AC3E}">
        <p14:creationId xmlns:p14="http://schemas.microsoft.com/office/powerpoint/2010/main" val="811536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007205E0-BB1C-4C0F-873B-7E9EFEE38F58}"/>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C9C58215-1AB1-44D9-AF8C-990BA6DAAB96}"/>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Connectors are the glue around the custom kernels</a:t>
            </a:r>
          </a:p>
        </p:txBody>
      </p:sp>
      <p:sp>
        <p:nvSpPr>
          <p:cNvPr id="3" name="Rectangle 2">
            <a:extLst>
              <a:ext uri="{FF2B5EF4-FFF2-40B4-BE49-F238E27FC236}">
                <a16:creationId xmlns:a16="http://schemas.microsoft.com/office/drawing/2014/main" id="{340061BE-C70D-498B-A1F7-7AB253C89677}"/>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16</a:t>
            </a:r>
          </a:p>
        </p:txBody>
      </p:sp>
      <p:sp>
        <p:nvSpPr>
          <p:cNvPr id="4" name="Rectangle 3">
            <a:extLst>
              <a:ext uri="{FF2B5EF4-FFF2-40B4-BE49-F238E27FC236}">
                <a16:creationId xmlns:a16="http://schemas.microsoft.com/office/drawing/2014/main" id="{68A6D9FB-D866-4BDE-9652-D9C545EB82CC}"/>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5ABB98D3-FC6E-4F56-9E5C-04547C1F7AF7}"/>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15B3DB5B-AB5E-4BF3-AF95-55467CA4489C}"/>
              </a:ext>
            </a:extLst>
          </p:cNvPr>
          <p:cNvSpPr>
            <a:spLocks noGrp="1"/>
          </p:cNvSpPr>
          <p:nvPr/>
        </p:nvSpPr>
        <p:spPr>
          <a:xfrm>
            <a:off x="590550" y="1466850"/>
            <a:ext cx="1619250" cy="45720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1994FB14-886B-47A6-B034-4FBA488FCCDD}"/>
              </a:ext>
            </a:extLst>
          </p:cNvPr>
          <p:cNvSpPr>
            <a:spLocks noGrp="1"/>
          </p:cNvSpPr>
          <p:nvPr/>
        </p:nvSpPr>
        <p:spPr>
          <a:xfrm>
            <a:off x="666750" y="1562100"/>
            <a:ext cx="146685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Connector</a:t>
            </a:r>
          </a:p>
        </p:txBody>
      </p:sp>
      <p:sp>
        <p:nvSpPr>
          <p:cNvPr id="8" name="Rectangle 7">
            <a:extLst>
              <a:ext uri="{FF2B5EF4-FFF2-40B4-BE49-F238E27FC236}">
                <a16:creationId xmlns:a16="http://schemas.microsoft.com/office/drawing/2014/main" id="{8065CDDE-E793-4818-856C-CC4C3BD5ED22}"/>
              </a:ext>
            </a:extLst>
          </p:cNvPr>
          <p:cNvSpPr>
            <a:spLocks noGrp="1"/>
          </p:cNvSpPr>
          <p:nvPr/>
        </p:nvSpPr>
        <p:spPr>
          <a:xfrm>
            <a:off x="2209800" y="1466850"/>
            <a:ext cx="4000500" cy="45720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2544DE4A-5B5B-4640-9E99-38D49076D4CA}"/>
              </a:ext>
            </a:extLst>
          </p:cNvPr>
          <p:cNvSpPr>
            <a:spLocks noGrp="1"/>
          </p:cNvSpPr>
          <p:nvPr/>
        </p:nvSpPr>
        <p:spPr>
          <a:xfrm>
            <a:off x="2286000" y="1562100"/>
            <a:ext cx="384810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What it connects</a:t>
            </a:r>
          </a:p>
        </p:txBody>
      </p:sp>
      <p:sp>
        <p:nvSpPr>
          <p:cNvPr id="10" name="Rectangle 9">
            <a:extLst>
              <a:ext uri="{FF2B5EF4-FFF2-40B4-BE49-F238E27FC236}">
                <a16:creationId xmlns:a16="http://schemas.microsoft.com/office/drawing/2014/main" id="{44DC4B55-E40D-41CE-9AF8-8CC9A89487E0}"/>
              </a:ext>
            </a:extLst>
          </p:cNvPr>
          <p:cNvSpPr>
            <a:spLocks noGrp="1"/>
          </p:cNvSpPr>
          <p:nvPr/>
        </p:nvSpPr>
        <p:spPr>
          <a:xfrm>
            <a:off x="6210300" y="1466850"/>
            <a:ext cx="5391150" cy="45720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6AA9083A-FCE9-4A24-AA9F-D07345717518}"/>
              </a:ext>
            </a:extLst>
          </p:cNvPr>
          <p:cNvSpPr>
            <a:spLocks noGrp="1"/>
          </p:cNvSpPr>
          <p:nvPr/>
        </p:nvSpPr>
        <p:spPr>
          <a:xfrm>
            <a:off x="6286500" y="1562100"/>
            <a:ext cx="5238750" cy="3429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Evidence</a:t>
            </a:r>
          </a:p>
        </p:txBody>
      </p:sp>
      <p:sp>
        <p:nvSpPr>
          <p:cNvPr id="12" name="Rectangle 11">
            <a:extLst>
              <a:ext uri="{FF2B5EF4-FFF2-40B4-BE49-F238E27FC236}">
                <a16:creationId xmlns:a16="http://schemas.microsoft.com/office/drawing/2014/main" id="{E7C385C2-3DC9-479F-AA2F-C79CB301B129}"/>
              </a:ext>
            </a:extLst>
          </p:cNvPr>
          <p:cNvSpPr>
            <a:spLocks noGrp="1"/>
          </p:cNvSpPr>
          <p:nvPr/>
        </p:nvSpPr>
        <p:spPr>
          <a:xfrm>
            <a:off x="590550" y="1924050"/>
            <a:ext cx="1619250" cy="457200"/>
          </a:xfrm>
          <a:prstGeom prst="rect">
            <a:avLst/>
          </a:prstGeom>
          <a:solidFill>
            <a:srgbClr val="FFFFFF"/>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7FE96492-8BFB-48FC-AEB6-6967E48C16BB}"/>
              </a:ext>
            </a:extLst>
          </p:cNvPr>
          <p:cNvSpPr>
            <a:spLocks noGrp="1"/>
          </p:cNvSpPr>
          <p:nvPr/>
        </p:nvSpPr>
        <p:spPr>
          <a:xfrm>
            <a:off x="666750" y="20097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 ABI</a:t>
            </a:r>
          </a:p>
        </p:txBody>
      </p:sp>
      <p:sp>
        <p:nvSpPr>
          <p:cNvPr id="14" name="Rectangle 13">
            <a:extLst>
              <a:ext uri="{FF2B5EF4-FFF2-40B4-BE49-F238E27FC236}">
                <a16:creationId xmlns:a16="http://schemas.microsoft.com/office/drawing/2014/main" id="{772457F0-AFD0-4F9B-AAAE-7C9E87635E69}"/>
              </a:ext>
            </a:extLst>
          </p:cNvPr>
          <p:cNvSpPr>
            <a:spLocks noGrp="1"/>
          </p:cNvSpPr>
          <p:nvPr/>
        </p:nvSpPr>
        <p:spPr>
          <a:xfrm>
            <a:off x="2209800" y="1924050"/>
            <a:ext cx="4000500" cy="457200"/>
          </a:xfrm>
          <a:prstGeom prst="rect">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63F72651-4922-4118-8148-BB6C50108867}"/>
              </a:ext>
            </a:extLst>
          </p:cNvPr>
          <p:cNvSpPr>
            <a:spLocks noGrp="1"/>
          </p:cNvSpPr>
          <p:nvPr/>
        </p:nvSpPr>
        <p:spPr>
          <a:xfrm>
            <a:off x="2286000" y="20097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JNI/host callers to custom runtime</a:t>
            </a:r>
          </a:p>
        </p:txBody>
      </p:sp>
      <p:sp>
        <p:nvSpPr>
          <p:cNvPr id="16" name="Rectangle 15">
            <a:extLst>
              <a:ext uri="{FF2B5EF4-FFF2-40B4-BE49-F238E27FC236}">
                <a16:creationId xmlns:a16="http://schemas.microsoft.com/office/drawing/2014/main" id="{D75D3080-028D-45BC-BB8F-4A9A9FB580FA}"/>
              </a:ext>
            </a:extLst>
          </p:cNvPr>
          <p:cNvSpPr>
            <a:spLocks noGrp="1"/>
          </p:cNvSpPr>
          <p:nvPr/>
        </p:nvSpPr>
        <p:spPr>
          <a:xfrm>
            <a:off x="6210300" y="1924050"/>
            <a:ext cx="5391150" cy="457200"/>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92439776-6865-4142-B9C3-550414B80F54}"/>
              </a:ext>
            </a:extLst>
          </p:cNvPr>
          <p:cNvSpPr>
            <a:spLocks noGrp="1"/>
          </p:cNvSpPr>
          <p:nvPr/>
        </p:nvSpPr>
        <p:spPr>
          <a:xfrm>
            <a:off x="6286500" y="20097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xq_create, xq_generate, metrics APIs</a:t>
            </a:r>
          </a:p>
        </p:txBody>
      </p:sp>
      <p:sp>
        <p:nvSpPr>
          <p:cNvPr id="18" name="Rectangle 17">
            <a:extLst>
              <a:ext uri="{FF2B5EF4-FFF2-40B4-BE49-F238E27FC236}">
                <a16:creationId xmlns:a16="http://schemas.microsoft.com/office/drawing/2014/main" id="{23B2335E-FB87-42B1-87E2-F6EAF575486F}"/>
              </a:ext>
            </a:extLst>
          </p:cNvPr>
          <p:cNvSpPr>
            <a:spLocks noGrp="1"/>
          </p:cNvSpPr>
          <p:nvPr/>
        </p:nvSpPr>
        <p:spPr>
          <a:xfrm>
            <a:off x="590550" y="2381250"/>
            <a:ext cx="1619250" cy="457200"/>
          </a:xfrm>
          <a:prstGeom prst="rect">
            <a:avLst/>
          </a:prstGeom>
          <a:solidFill>
            <a:srgbClr val="F1F5F9"/>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8C1BB16A-AC44-4549-8704-F21EF83E1CED}"/>
              </a:ext>
            </a:extLst>
          </p:cNvPr>
          <p:cNvSpPr>
            <a:spLocks noGrp="1"/>
          </p:cNvSpPr>
          <p:nvPr/>
        </p:nvSpPr>
        <p:spPr>
          <a:xfrm>
            <a:off x="666750" y="24669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JNI</a:t>
            </a:r>
          </a:p>
        </p:txBody>
      </p:sp>
      <p:sp>
        <p:nvSpPr>
          <p:cNvPr id="20" name="Rectangle 19">
            <a:extLst>
              <a:ext uri="{FF2B5EF4-FFF2-40B4-BE49-F238E27FC236}">
                <a16:creationId xmlns:a16="http://schemas.microsoft.com/office/drawing/2014/main" id="{65F86CA1-74ED-4052-B02F-4246A4B6FD1E}"/>
              </a:ext>
            </a:extLst>
          </p:cNvPr>
          <p:cNvSpPr>
            <a:spLocks noGrp="1"/>
          </p:cNvSpPr>
          <p:nvPr/>
        </p:nvSpPr>
        <p:spPr>
          <a:xfrm>
            <a:off x="2209800" y="2381250"/>
            <a:ext cx="4000500" cy="457200"/>
          </a:xfrm>
          <a:prstGeom prst="rect">
            <a:avLst/>
          </a:prstGeom>
          <a:solidFill>
            <a:srgbClr val="F1F5F9"/>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60EFAAFA-DEF3-47C1-AFEF-030BD74FA800}"/>
              </a:ext>
            </a:extLst>
          </p:cNvPr>
          <p:cNvSpPr>
            <a:spLocks noGrp="1"/>
          </p:cNvSpPr>
          <p:nvPr/>
        </p:nvSpPr>
        <p:spPr>
          <a:xfrm>
            <a:off x="2286000" y="24669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Android benchmark to native C++</a:t>
            </a:r>
          </a:p>
        </p:txBody>
      </p:sp>
      <p:sp>
        <p:nvSpPr>
          <p:cNvPr id="22" name="Rectangle 21">
            <a:extLst>
              <a:ext uri="{FF2B5EF4-FFF2-40B4-BE49-F238E27FC236}">
                <a16:creationId xmlns:a16="http://schemas.microsoft.com/office/drawing/2014/main" id="{26819432-5676-481D-B33D-189724A8F4CA}"/>
              </a:ext>
            </a:extLst>
          </p:cNvPr>
          <p:cNvSpPr>
            <a:spLocks noGrp="1"/>
          </p:cNvSpPr>
          <p:nvPr/>
        </p:nvSpPr>
        <p:spPr>
          <a:xfrm>
            <a:off x="6210300" y="2381250"/>
            <a:ext cx="5391150" cy="457200"/>
          </a:xfrm>
          <a:prstGeom prst="rect">
            <a:avLst/>
          </a:prstGeom>
          <a:solidFill>
            <a:srgbClr val="F1F5F9"/>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A12FF929-8AC4-489C-AD69-4169F242D7A8}"/>
              </a:ext>
            </a:extLst>
          </p:cNvPr>
          <p:cNvSpPr>
            <a:spLocks noGrp="1"/>
          </p:cNvSpPr>
          <p:nvPr/>
        </p:nvSpPr>
        <p:spPr>
          <a:xfrm>
            <a:off x="6286500" y="24669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NativeBenchmark.runBenchmark</a:t>
            </a:r>
          </a:p>
        </p:txBody>
      </p:sp>
      <p:sp>
        <p:nvSpPr>
          <p:cNvPr id="24" name="Rectangle 23">
            <a:extLst>
              <a:ext uri="{FF2B5EF4-FFF2-40B4-BE49-F238E27FC236}">
                <a16:creationId xmlns:a16="http://schemas.microsoft.com/office/drawing/2014/main" id="{F97E8A24-F260-4914-83B8-C4B182893BAB}"/>
              </a:ext>
            </a:extLst>
          </p:cNvPr>
          <p:cNvSpPr>
            <a:spLocks noGrp="1"/>
          </p:cNvSpPr>
          <p:nvPr/>
        </p:nvSpPr>
        <p:spPr>
          <a:xfrm>
            <a:off x="590550" y="2838450"/>
            <a:ext cx="1619250" cy="457200"/>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D2014B84-CCD3-41EB-B259-4A3C35724010}"/>
              </a:ext>
            </a:extLst>
          </p:cNvPr>
          <p:cNvSpPr>
            <a:spLocks noGrp="1"/>
          </p:cNvSpPr>
          <p:nvPr/>
        </p:nvSpPr>
        <p:spPr>
          <a:xfrm>
            <a:off x="666750" y="29241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MNN</a:t>
            </a:r>
          </a:p>
        </p:txBody>
      </p:sp>
      <p:sp>
        <p:nvSpPr>
          <p:cNvPr id="26" name="Rectangle 25">
            <a:extLst>
              <a:ext uri="{FF2B5EF4-FFF2-40B4-BE49-F238E27FC236}">
                <a16:creationId xmlns:a16="http://schemas.microsoft.com/office/drawing/2014/main" id="{3FFC5D12-4D49-4AEE-B8AC-A92C152AE4CD}"/>
              </a:ext>
            </a:extLst>
          </p:cNvPr>
          <p:cNvSpPr>
            <a:spLocks noGrp="1"/>
          </p:cNvSpPr>
          <p:nvPr/>
        </p:nvSpPr>
        <p:spPr>
          <a:xfrm>
            <a:off x="2209800" y="2838450"/>
            <a:ext cx="4000500" cy="457200"/>
          </a:xfrm>
          <a:prstGeom prst="rect">
            <a:avLst/>
          </a:prstGeom>
          <a:solidFill>
            <a:srgbClr val="FFFFFF"/>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A6A93D94-5A0E-4764-AFB3-7BF2FCA62764}"/>
              </a:ext>
            </a:extLst>
          </p:cNvPr>
          <p:cNvSpPr>
            <a:spLocks noGrp="1"/>
          </p:cNvSpPr>
          <p:nvPr/>
        </p:nvSpPr>
        <p:spPr>
          <a:xfrm>
            <a:off x="2286000" y="29241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Stock baseline and optional debug fallback</a:t>
            </a:r>
          </a:p>
        </p:txBody>
      </p:sp>
      <p:sp>
        <p:nvSpPr>
          <p:cNvPr id="28" name="Rectangle 27">
            <a:extLst>
              <a:ext uri="{FF2B5EF4-FFF2-40B4-BE49-F238E27FC236}">
                <a16:creationId xmlns:a16="http://schemas.microsoft.com/office/drawing/2014/main" id="{A46CEDCD-C9F9-44EF-B8CC-E53602066B04}"/>
              </a:ext>
            </a:extLst>
          </p:cNvPr>
          <p:cNvSpPr>
            <a:spLocks noGrp="1"/>
          </p:cNvSpPr>
          <p:nvPr/>
        </p:nvSpPr>
        <p:spPr>
          <a:xfrm>
            <a:off x="6210300" y="2838450"/>
            <a:ext cx="5391150" cy="457200"/>
          </a:xfrm>
          <a:prstGeom prst="rect">
            <a:avLst/>
          </a:prstGeom>
          <a:solidFill>
            <a:srgbClr val="FFFFFF"/>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B40E070F-20B7-4711-A604-838D1573B8FC}"/>
              </a:ext>
            </a:extLst>
          </p:cNvPr>
          <p:cNvSpPr>
            <a:spLocks noGrp="1"/>
          </p:cNvSpPr>
          <p:nvPr/>
        </p:nvSpPr>
        <p:spPr>
          <a:xfrm>
            <a:off x="6286500" y="29241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MNN::Llm::response outside measured custom path</a:t>
            </a:r>
          </a:p>
        </p:txBody>
      </p:sp>
      <p:sp>
        <p:nvSpPr>
          <p:cNvPr id="30" name="Rectangle 29">
            <a:extLst>
              <a:ext uri="{FF2B5EF4-FFF2-40B4-BE49-F238E27FC236}">
                <a16:creationId xmlns:a16="http://schemas.microsoft.com/office/drawing/2014/main" id="{E575672C-2AD0-4EA8-8905-E33E2834C41C}"/>
              </a:ext>
            </a:extLst>
          </p:cNvPr>
          <p:cNvSpPr>
            <a:spLocks noGrp="1"/>
          </p:cNvSpPr>
          <p:nvPr/>
        </p:nvSpPr>
        <p:spPr>
          <a:xfrm>
            <a:off x="590550" y="3295650"/>
            <a:ext cx="1619250" cy="457200"/>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08F495F6-6078-41FA-8DE9-B6C2B03C84AF}"/>
              </a:ext>
            </a:extLst>
          </p:cNvPr>
          <p:cNvSpPr>
            <a:spLocks noGrp="1"/>
          </p:cNvSpPr>
          <p:nvPr/>
        </p:nvSpPr>
        <p:spPr>
          <a:xfrm>
            <a:off x="666750" y="33813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Benchmark</a:t>
            </a:r>
          </a:p>
        </p:txBody>
      </p:sp>
      <p:sp>
        <p:nvSpPr>
          <p:cNvPr id="32" name="Rectangle 31">
            <a:extLst>
              <a:ext uri="{FF2B5EF4-FFF2-40B4-BE49-F238E27FC236}">
                <a16:creationId xmlns:a16="http://schemas.microsoft.com/office/drawing/2014/main" id="{600D0109-E705-4806-B949-DE440B4F707A}"/>
              </a:ext>
            </a:extLst>
          </p:cNvPr>
          <p:cNvSpPr>
            <a:spLocks noGrp="1"/>
          </p:cNvSpPr>
          <p:nvPr/>
        </p:nvSpPr>
        <p:spPr>
          <a:xfrm>
            <a:off x="2209800" y="3295650"/>
            <a:ext cx="4000500" cy="457200"/>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1D216295-9C67-407F-8F0A-16185BC3EFE4}"/>
              </a:ext>
            </a:extLst>
          </p:cNvPr>
          <p:cNvSpPr>
            <a:spLocks noGrp="1"/>
          </p:cNvSpPr>
          <p:nvPr/>
        </p:nvSpPr>
        <p:spPr>
          <a:xfrm>
            <a:off x="2286000" y="33813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Runtime metrics to JSON</a:t>
            </a:r>
          </a:p>
        </p:txBody>
      </p:sp>
      <p:sp>
        <p:nvSpPr>
          <p:cNvPr id="34" name="Rectangle 33">
            <a:extLst>
              <a:ext uri="{FF2B5EF4-FFF2-40B4-BE49-F238E27FC236}">
                <a16:creationId xmlns:a16="http://schemas.microsoft.com/office/drawing/2014/main" id="{E16B07E3-2C4E-496C-96D2-343DABEF0EC1}"/>
              </a:ext>
            </a:extLst>
          </p:cNvPr>
          <p:cNvSpPr>
            <a:spLocks noGrp="1"/>
          </p:cNvSpPr>
          <p:nvPr/>
        </p:nvSpPr>
        <p:spPr>
          <a:xfrm>
            <a:off x="6210300" y="3295650"/>
            <a:ext cx="5391150" cy="457200"/>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171E65C4-AC19-424F-8622-AF0812712A8B}"/>
              </a:ext>
            </a:extLst>
          </p:cNvPr>
          <p:cNvSpPr>
            <a:spLocks noGrp="1"/>
          </p:cNvSpPr>
          <p:nvPr/>
        </p:nvSpPr>
        <p:spPr>
          <a:xfrm>
            <a:off x="6286500" y="33813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BENCH_RESULT_JSON, TPOT/TPS, wall clock</a:t>
            </a:r>
          </a:p>
        </p:txBody>
      </p:sp>
      <p:sp>
        <p:nvSpPr>
          <p:cNvPr id="36" name="Rectangle 35">
            <a:extLst>
              <a:ext uri="{FF2B5EF4-FFF2-40B4-BE49-F238E27FC236}">
                <a16:creationId xmlns:a16="http://schemas.microsoft.com/office/drawing/2014/main" id="{30343628-8006-4406-9733-0EBFEC2A44E7}"/>
              </a:ext>
            </a:extLst>
          </p:cNvPr>
          <p:cNvSpPr>
            <a:spLocks noGrp="1"/>
          </p:cNvSpPr>
          <p:nvPr/>
        </p:nvSpPr>
        <p:spPr>
          <a:xfrm>
            <a:off x="590550" y="3752850"/>
            <a:ext cx="1619250" cy="457200"/>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CC2556D4-08D9-4BD9-9ABE-1D96093497E3}"/>
              </a:ext>
            </a:extLst>
          </p:cNvPr>
          <p:cNvSpPr>
            <a:spLocks noGrp="1"/>
          </p:cNvSpPr>
          <p:nvPr/>
        </p:nvSpPr>
        <p:spPr>
          <a:xfrm>
            <a:off x="666750" y="38385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Device Farm</a:t>
            </a:r>
          </a:p>
        </p:txBody>
      </p:sp>
      <p:sp>
        <p:nvSpPr>
          <p:cNvPr id="38" name="Rectangle 37">
            <a:extLst>
              <a:ext uri="{FF2B5EF4-FFF2-40B4-BE49-F238E27FC236}">
                <a16:creationId xmlns:a16="http://schemas.microsoft.com/office/drawing/2014/main" id="{B61A11AD-A5D7-481C-9A0D-7D6A177AC5E9}"/>
              </a:ext>
            </a:extLst>
          </p:cNvPr>
          <p:cNvSpPr>
            <a:spLocks noGrp="1"/>
          </p:cNvSpPr>
          <p:nvPr/>
        </p:nvSpPr>
        <p:spPr>
          <a:xfrm>
            <a:off x="2209800" y="3752850"/>
            <a:ext cx="4000500" cy="457200"/>
          </a:xfrm>
          <a:prstGeom prst="rect">
            <a:avLst/>
          </a:prstGeom>
          <a:solidFill>
            <a:srgbClr val="FFFFFF"/>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955EE38D-AF95-4849-9E52-10B9EDEF0C9C}"/>
              </a:ext>
            </a:extLst>
          </p:cNvPr>
          <p:cNvSpPr>
            <a:spLocks noGrp="1"/>
          </p:cNvSpPr>
          <p:nvPr/>
        </p:nvSpPr>
        <p:spPr>
          <a:xfrm>
            <a:off x="2286000" y="38385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Model bootstrap, SHA check, artifacts</a:t>
            </a:r>
          </a:p>
        </p:txBody>
      </p:sp>
      <p:sp>
        <p:nvSpPr>
          <p:cNvPr id="40" name="Rectangle 39">
            <a:extLst>
              <a:ext uri="{FF2B5EF4-FFF2-40B4-BE49-F238E27FC236}">
                <a16:creationId xmlns:a16="http://schemas.microsoft.com/office/drawing/2014/main" id="{27E5946C-170F-47D7-8621-DAC5829A1B88}"/>
              </a:ext>
            </a:extLst>
          </p:cNvPr>
          <p:cNvSpPr>
            <a:spLocks noGrp="1"/>
          </p:cNvSpPr>
          <p:nvPr/>
        </p:nvSpPr>
        <p:spPr>
          <a:xfrm>
            <a:off x="6210300" y="3752850"/>
            <a:ext cx="5391150" cy="457200"/>
          </a:xfrm>
          <a:prstGeom prst="rect">
            <a:avLst/>
          </a:prstGeom>
          <a:solidFill>
            <a:srgbClr val="FFFFFF"/>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2C18F4EA-E5EF-40C2-ADE0-2CB0D0C2457A}"/>
              </a:ext>
            </a:extLst>
          </p:cNvPr>
          <p:cNvSpPr>
            <a:spLocks noGrp="1"/>
          </p:cNvSpPr>
          <p:nvPr/>
        </p:nvSpPr>
        <p:spPr>
          <a:xfrm>
            <a:off x="6286500" y="38385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run ARNs + evidence JSON</a:t>
            </a:r>
          </a:p>
        </p:txBody>
      </p:sp>
      <p:sp>
        <p:nvSpPr>
          <p:cNvPr id="42" name="Rectangle 41">
            <a:extLst>
              <a:ext uri="{FF2B5EF4-FFF2-40B4-BE49-F238E27FC236}">
                <a16:creationId xmlns:a16="http://schemas.microsoft.com/office/drawing/2014/main" id="{34C3F72D-DC6F-444A-B808-CDA79CADB758}"/>
              </a:ext>
            </a:extLst>
          </p:cNvPr>
          <p:cNvSpPr>
            <a:spLocks noGrp="1"/>
          </p:cNvSpPr>
          <p:nvPr/>
        </p:nvSpPr>
        <p:spPr>
          <a:xfrm>
            <a:off x="590550" y="4210050"/>
            <a:ext cx="1619250" cy="457200"/>
          </a:xfrm>
          <a:prstGeom prst="rect">
            <a:avLst/>
          </a:prstGeom>
          <a:solidFill>
            <a:srgbClr val="F1F5F9"/>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F14DE275-4F34-4870-8759-4DDE3A4F6BC6}"/>
              </a:ext>
            </a:extLst>
          </p:cNvPr>
          <p:cNvSpPr>
            <a:spLocks noGrp="1"/>
          </p:cNvSpPr>
          <p:nvPr/>
        </p:nvSpPr>
        <p:spPr>
          <a:xfrm>
            <a:off x="666750" y="42957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Vulkan probe</a:t>
            </a:r>
          </a:p>
        </p:txBody>
      </p:sp>
      <p:sp>
        <p:nvSpPr>
          <p:cNvPr id="44" name="Rectangle 43">
            <a:extLst>
              <a:ext uri="{FF2B5EF4-FFF2-40B4-BE49-F238E27FC236}">
                <a16:creationId xmlns:a16="http://schemas.microsoft.com/office/drawing/2014/main" id="{749805AF-39F2-4646-8059-DC015AAD12A5}"/>
              </a:ext>
            </a:extLst>
          </p:cNvPr>
          <p:cNvSpPr>
            <a:spLocks noGrp="1"/>
          </p:cNvSpPr>
          <p:nvPr/>
        </p:nvSpPr>
        <p:spPr>
          <a:xfrm>
            <a:off x="2209800" y="4210050"/>
            <a:ext cx="4000500" cy="457200"/>
          </a:xfrm>
          <a:prstGeom prst="rect">
            <a:avLst/>
          </a:prstGeom>
          <a:solidFill>
            <a:srgbClr val="F1F5F9"/>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7B78C29D-AB0D-45C0-ACD5-EE1B0CC483A2}"/>
              </a:ext>
            </a:extLst>
          </p:cNvPr>
          <p:cNvSpPr>
            <a:spLocks noGrp="1"/>
          </p:cNvSpPr>
          <p:nvPr/>
        </p:nvSpPr>
        <p:spPr>
          <a:xfrm>
            <a:off x="2286000" y="42957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Backend capability check</a:t>
            </a:r>
          </a:p>
        </p:txBody>
      </p:sp>
      <p:sp>
        <p:nvSpPr>
          <p:cNvPr id="46" name="Rectangle 45">
            <a:extLst>
              <a:ext uri="{FF2B5EF4-FFF2-40B4-BE49-F238E27FC236}">
                <a16:creationId xmlns:a16="http://schemas.microsoft.com/office/drawing/2014/main" id="{81588FF1-41C4-4712-8AEE-B8468B0C90BD}"/>
              </a:ext>
            </a:extLst>
          </p:cNvPr>
          <p:cNvSpPr>
            <a:spLocks noGrp="1"/>
          </p:cNvSpPr>
          <p:nvPr/>
        </p:nvSpPr>
        <p:spPr>
          <a:xfrm>
            <a:off x="6210300" y="4210050"/>
            <a:ext cx="5391150" cy="457200"/>
          </a:xfrm>
          <a:prstGeom prst="rect">
            <a:avLst/>
          </a:prstGeom>
          <a:solidFill>
            <a:srgbClr val="F1F5F9"/>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79110062-8C02-4061-A124-687D11BFABF5}"/>
              </a:ext>
            </a:extLst>
          </p:cNvPr>
          <p:cNvSpPr>
            <a:spLocks noGrp="1"/>
          </p:cNvSpPr>
          <p:nvPr/>
        </p:nvSpPr>
        <p:spPr>
          <a:xfrm>
            <a:off x="6286500" y="42957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probe succeeded, no custom Vulkan kernels claimed</a:t>
            </a:r>
          </a:p>
        </p:txBody>
      </p:sp>
      <p:sp>
        <p:nvSpPr>
          <p:cNvPr id="48" name="Rectangle 47">
            <a:extLst>
              <a:ext uri="{FF2B5EF4-FFF2-40B4-BE49-F238E27FC236}">
                <a16:creationId xmlns:a16="http://schemas.microsoft.com/office/drawing/2014/main" id="{C178390A-D390-48E4-821F-2C05CE5F568C}"/>
              </a:ext>
            </a:extLst>
          </p:cNvPr>
          <p:cNvSpPr>
            <a:spLocks noGrp="1"/>
          </p:cNvSpPr>
          <p:nvPr/>
        </p:nvSpPr>
        <p:spPr>
          <a:xfrm>
            <a:off x="590550" y="4667250"/>
            <a:ext cx="1619250" cy="457200"/>
          </a:xfrm>
          <a:prstGeom prst="rect">
            <a:avLst/>
          </a:prstGeom>
          <a:solidFill>
            <a:srgbClr val="FFFFFF"/>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7E9F84A1-BE78-408F-B301-4824DCD7EF42}"/>
              </a:ext>
            </a:extLst>
          </p:cNvPr>
          <p:cNvSpPr>
            <a:spLocks noGrp="1"/>
          </p:cNvSpPr>
          <p:nvPr/>
        </p:nvSpPr>
        <p:spPr>
          <a:xfrm>
            <a:off x="666750" y="4752975"/>
            <a:ext cx="14668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Quality</a:t>
            </a:r>
          </a:p>
        </p:txBody>
      </p:sp>
      <p:sp>
        <p:nvSpPr>
          <p:cNvPr id="50" name="Rectangle 49">
            <a:extLst>
              <a:ext uri="{FF2B5EF4-FFF2-40B4-BE49-F238E27FC236}">
                <a16:creationId xmlns:a16="http://schemas.microsoft.com/office/drawing/2014/main" id="{F5AF6FF0-5820-437D-B667-1E6B8B7499C2}"/>
              </a:ext>
            </a:extLst>
          </p:cNvPr>
          <p:cNvSpPr>
            <a:spLocks noGrp="1"/>
          </p:cNvSpPr>
          <p:nvPr/>
        </p:nvSpPr>
        <p:spPr>
          <a:xfrm>
            <a:off x="2209800" y="4667250"/>
            <a:ext cx="4000500" cy="457200"/>
          </a:xfrm>
          <a:prstGeom prst="rect">
            <a:avLst/>
          </a:prstGeom>
          <a:solidFill>
            <a:srgbClr val="FFFFFF"/>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3259004A-14D9-45BA-8928-F6005CF402E0}"/>
              </a:ext>
            </a:extLst>
          </p:cNvPr>
          <p:cNvSpPr>
            <a:spLocks noGrp="1"/>
          </p:cNvSpPr>
          <p:nvPr/>
        </p:nvSpPr>
        <p:spPr>
          <a:xfrm>
            <a:off x="2286000" y="4752975"/>
            <a:ext cx="384810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Token dumps and comparison</a:t>
            </a:r>
          </a:p>
        </p:txBody>
      </p:sp>
      <p:sp>
        <p:nvSpPr>
          <p:cNvPr id="52" name="Rectangle 51">
            <a:extLst>
              <a:ext uri="{FF2B5EF4-FFF2-40B4-BE49-F238E27FC236}">
                <a16:creationId xmlns:a16="http://schemas.microsoft.com/office/drawing/2014/main" id="{A52A3AC7-D1A3-4016-BE5F-DF569D2FBD42}"/>
              </a:ext>
            </a:extLst>
          </p:cNvPr>
          <p:cNvSpPr>
            <a:spLocks noGrp="1"/>
          </p:cNvSpPr>
          <p:nvPr/>
        </p:nvSpPr>
        <p:spPr>
          <a:xfrm>
            <a:off x="6210300" y="4667250"/>
            <a:ext cx="5391150" cy="457200"/>
          </a:xfrm>
          <a:prstGeom prst="rect">
            <a:avLst/>
          </a:prstGeom>
          <a:solidFill>
            <a:srgbClr val="FFFFFF"/>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605F9619-97DC-4498-B9F7-10FBC4607920}"/>
              </a:ext>
            </a:extLst>
          </p:cNvPr>
          <p:cNvSpPr>
            <a:spLocks noGrp="1"/>
          </p:cNvSpPr>
          <p:nvPr/>
        </p:nvSpPr>
        <p:spPr>
          <a:xfrm>
            <a:off x="6286500" y="4752975"/>
            <a:ext cx="5238750" cy="36195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BENCH_QUALITY_JSON + compare script</a:t>
            </a:r>
          </a:p>
        </p:txBody>
      </p:sp>
    </p:spTree>
    <p:extLst>
      <p:ext uri="{BB962C8B-B14F-4D97-AF65-F5344CB8AC3E}">
        <p14:creationId xmlns:p14="http://schemas.microsoft.com/office/powerpoint/2010/main" val="263646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9266F1-D31F-4747-834F-96A3EC46E7AA}"/>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3F12820E-7D34-4AE9-9349-2855FA16B4A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benchmark holds model, device, and settings constant</a:t>
            </a:r>
          </a:p>
        </p:txBody>
      </p:sp>
      <p:sp>
        <p:nvSpPr>
          <p:cNvPr id="3" name="Rectangle 2">
            <a:extLst>
              <a:ext uri="{FF2B5EF4-FFF2-40B4-BE49-F238E27FC236}">
                <a16:creationId xmlns:a16="http://schemas.microsoft.com/office/drawing/2014/main" id="{B7584C82-69B3-4FA1-A3C5-BBB651808C0C}"/>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17</a:t>
            </a:r>
          </a:p>
        </p:txBody>
      </p:sp>
      <p:sp>
        <p:nvSpPr>
          <p:cNvPr id="4" name="Rectangle 3">
            <a:extLst>
              <a:ext uri="{FF2B5EF4-FFF2-40B4-BE49-F238E27FC236}">
                <a16:creationId xmlns:a16="http://schemas.microsoft.com/office/drawing/2014/main" id="{A2FEF66E-AD65-425B-8B19-7515A5C52E95}"/>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517E4B20-5F65-4684-973F-61F34FF10766}"/>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2FB6E922-DAF9-43AD-8275-A0599EFB2ADD}"/>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Device: AWS Device Farm Samsung Galaxy S26 Ultra pool.</a:t>
            </a:r>
          </a:p>
          <a:p>
            <a:pPr algn="l">
              <a:defRPr sz="1650" b="0">
                <a:solidFill>
                  <a:srgbClr val="0F172A"/>
                </a:solidFill>
                <a:latin typeface="Aptos"/>
                <a:ea typeface="Aptos"/>
                <a:cs typeface="Aptos"/>
              </a:defRPr>
            </a:pPr>
            <a:r>
              <a:rPr sz="1650" b="0">
                <a:solidFill>
                  <a:srgbClr val="0F172A"/>
                </a:solidFill>
                <a:latin typeface="Aptos"/>
                <a:ea typeface="Aptos"/>
                <a:cs typeface="Aptos"/>
              </a:rPr>
              <a:t>* Model: full Qwen/Qwen3.5-9B W4A16 package with on-device SHA verification.</a:t>
            </a:r>
          </a:p>
          <a:p>
            <a:pPr algn="l">
              <a:defRPr sz="1650" b="0">
                <a:solidFill>
                  <a:srgbClr val="0F172A"/>
                </a:solidFill>
                <a:latin typeface="Aptos"/>
                <a:ea typeface="Aptos"/>
                <a:cs typeface="Aptos"/>
              </a:defRPr>
            </a:pPr>
            <a:r>
              <a:rPr sz="1650" b="0">
                <a:solidFill>
                  <a:srgbClr val="0F172A"/>
                </a:solidFill>
                <a:latin typeface="Aptos"/>
                <a:ea typeface="Aptos"/>
                <a:cs typeface="Aptos"/>
              </a:rPr>
              <a:t>* Performance prompt: 512 requested prompt tokens, fixed token id 16.</a:t>
            </a:r>
          </a:p>
          <a:p>
            <a:pPr algn="l">
              <a:defRPr sz="1650" b="0">
                <a:solidFill>
                  <a:srgbClr val="0F172A"/>
                </a:solidFill>
                <a:latin typeface="Aptos"/>
                <a:ea typeface="Aptos"/>
                <a:cs typeface="Aptos"/>
              </a:defRPr>
            </a:pPr>
            <a:r>
              <a:rPr sz="1650" b="0">
                <a:solidFill>
                  <a:srgbClr val="0F172A"/>
                </a:solidFill>
                <a:latin typeface="Aptos"/>
                <a:ea typeface="Aptos"/>
                <a:cs typeface="Aptos"/>
              </a:rPr>
              <a:t>* Generation: max_new_tokens 256, temperature 0, top_k 1, top_p 1, batch size 1.</a:t>
            </a:r>
          </a:p>
          <a:p>
            <a:pPr algn="l">
              <a:defRPr sz="1650" b="0">
                <a:solidFill>
                  <a:srgbClr val="0F172A"/>
                </a:solidFill>
                <a:latin typeface="Aptos"/>
                <a:ea typeface="Aptos"/>
                <a:cs typeface="Aptos"/>
              </a:defRPr>
            </a:pPr>
            <a:r>
              <a:rPr sz="1650" b="0">
                <a:solidFill>
                  <a:srgbClr val="0F172A"/>
                </a:solidFill>
                <a:latin typeface="Aptos"/>
                <a:ea typeface="Aptos"/>
                <a:cs typeface="Aptos"/>
              </a:rPr>
              <a:t>* Iterations: 1 warmup and 3 measured runs.</a:t>
            </a:r>
          </a:p>
          <a:p>
            <a:pPr algn="l">
              <a:defRPr sz="1650" b="0">
                <a:solidFill>
                  <a:srgbClr val="0F172A"/>
                </a:solidFill>
                <a:latin typeface="Aptos"/>
                <a:ea typeface="Aptos"/>
                <a:cs typeface="Aptos"/>
              </a:defRPr>
            </a:pPr>
            <a:r>
              <a:rPr sz="1650" b="0">
                <a:solidFill>
                  <a:srgbClr val="0F172A"/>
                </a:solidFill>
                <a:latin typeface="Aptos"/>
                <a:ea typeface="Aptos"/>
                <a:cs typeface="Aptos"/>
              </a:rPr>
              <a:t>* Decode TPS = generated tokens / decode time; TPOT = decode time / generated tokens.</a:t>
            </a:r>
          </a:p>
        </p:txBody>
      </p:sp>
    </p:spTree>
    <p:extLst>
      <p:ext uri="{BB962C8B-B14F-4D97-AF65-F5344CB8AC3E}">
        <p14:creationId xmlns:p14="http://schemas.microsoft.com/office/powerpoint/2010/main" val="1827002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E45F061D-C0C5-4EE7-BEB1-54479003D13F}"/>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1E52469C-5816-4684-8227-140B728F6B35}"/>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v27 benchmark result: custom reached 93.4% of stock CPU</a:t>
            </a:r>
          </a:p>
        </p:txBody>
      </p:sp>
      <p:sp>
        <p:nvSpPr>
          <p:cNvPr id="3" name="Rectangle 2">
            <a:extLst>
              <a:ext uri="{FF2B5EF4-FFF2-40B4-BE49-F238E27FC236}">
                <a16:creationId xmlns:a16="http://schemas.microsoft.com/office/drawing/2014/main" id="{0ABC438C-D5B7-452F-B8A7-A6E23E1FB96F}"/>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18</a:t>
            </a:r>
          </a:p>
        </p:txBody>
      </p:sp>
      <p:sp>
        <p:nvSpPr>
          <p:cNvPr id="4" name="Rectangle 3">
            <a:extLst>
              <a:ext uri="{FF2B5EF4-FFF2-40B4-BE49-F238E27FC236}">
                <a16:creationId xmlns:a16="http://schemas.microsoft.com/office/drawing/2014/main" id="{89CC498F-6130-4535-A6CE-E94EA62924C6}"/>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9FD80D42-3B2A-4E49-B356-3C6D296902A8}"/>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205D822F-7E11-45EA-85D6-4DCDD1231F9A}"/>
              </a:ext>
            </a:extLst>
          </p:cNvPr>
          <p:cNvSpPr>
            <a:spLocks noGrp="1"/>
          </p:cNvSpPr>
          <p:nvPr/>
        </p:nvSpPr>
        <p:spPr>
          <a:xfrm>
            <a:off x="590550" y="1466850"/>
            <a:ext cx="2476500" cy="55245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24D57C5B-5B26-4D52-9C1E-F2BDEA8489FC}"/>
              </a:ext>
            </a:extLst>
          </p:cNvPr>
          <p:cNvSpPr>
            <a:spLocks noGrp="1"/>
          </p:cNvSpPr>
          <p:nvPr/>
        </p:nvSpPr>
        <p:spPr>
          <a:xfrm>
            <a:off x="666750" y="1562100"/>
            <a:ext cx="2324100" cy="4381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Variant</a:t>
            </a:r>
          </a:p>
        </p:txBody>
      </p:sp>
      <p:sp>
        <p:nvSpPr>
          <p:cNvPr id="8" name="Rectangle 7">
            <a:extLst>
              <a:ext uri="{FF2B5EF4-FFF2-40B4-BE49-F238E27FC236}">
                <a16:creationId xmlns:a16="http://schemas.microsoft.com/office/drawing/2014/main" id="{5057AB94-75FC-4B53-B9F6-AB5DB3149F54}"/>
              </a:ext>
            </a:extLst>
          </p:cNvPr>
          <p:cNvSpPr>
            <a:spLocks noGrp="1"/>
          </p:cNvSpPr>
          <p:nvPr/>
        </p:nvSpPr>
        <p:spPr>
          <a:xfrm>
            <a:off x="3067050" y="1466850"/>
            <a:ext cx="2762250" cy="55245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52304546-6158-44C4-9310-1563B0C58FD2}"/>
              </a:ext>
            </a:extLst>
          </p:cNvPr>
          <p:cNvSpPr>
            <a:spLocks noGrp="1"/>
          </p:cNvSpPr>
          <p:nvPr/>
        </p:nvSpPr>
        <p:spPr>
          <a:xfrm>
            <a:off x="3143250" y="1562100"/>
            <a:ext cx="2609850" cy="4381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Requested / actual backend</a:t>
            </a:r>
          </a:p>
        </p:txBody>
      </p:sp>
      <p:sp>
        <p:nvSpPr>
          <p:cNvPr id="10" name="Rectangle 9">
            <a:extLst>
              <a:ext uri="{FF2B5EF4-FFF2-40B4-BE49-F238E27FC236}">
                <a16:creationId xmlns:a16="http://schemas.microsoft.com/office/drawing/2014/main" id="{538D1E6F-F2E1-48EE-9108-629600527498}"/>
              </a:ext>
            </a:extLst>
          </p:cNvPr>
          <p:cNvSpPr>
            <a:spLocks noGrp="1"/>
          </p:cNvSpPr>
          <p:nvPr/>
        </p:nvSpPr>
        <p:spPr>
          <a:xfrm>
            <a:off x="5829300" y="1466850"/>
            <a:ext cx="1714500" cy="55245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08478C12-34CC-4DAC-9A39-E9DA1E2DB3E7}"/>
              </a:ext>
            </a:extLst>
          </p:cNvPr>
          <p:cNvSpPr>
            <a:spLocks noGrp="1"/>
          </p:cNvSpPr>
          <p:nvPr/>
        </p:nvSpPr>
        <p:spPr>
          <a:xfrm>
            <a:off x="5905500" y="1562100"/>
            <a:ext cx="1562100" cy="4381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Prefill TPS</a:t>
            </a:r>
          </a:p>
        </p:txBody>
      </p:sp>
      <p:sp>
        <p:nvSpPr>
          <p:cNvPr id="12" name="Rectangle 11">
            <a:extLst>
              <a:ext uri="{FF2B5EF4-FFF2-40B4-BE49-F238E27FC236}">
                <a16:creationId xmlns:a16="http://schemas.microsoft.com/office/drawing/2014/main" id="{EC159BC2-AAA7-4450-A375-D0E222E05BE9}"/>
              </a:ext>
            </a:extLst>
          </p:cNvPr>
          <p:cNvSpPr>
            <a:spLocks noGrp="1"/>
          </p:cNvSpPr>
          <p:nvPr/>
        </p:nvSpPr>
        <p:spPr>
          <a:xfrm>
            <a:off x="7543800" y="1466850"/>
            <a:ext cx="1714500" cy="552450"/>
          </a:xfrm>
          <a:prstGeom prst="rect">
            <a:avLst/>
          </a:prstGeom>
          <a:solidFill>
            <a:srgbClr val="111827"/>
          </a:solidFill>
          <a:ln w="9525">
            <a:solidFill>
              <a:srgbClr val="111827"/>
            </a:solidFill>
            <a:prstDash val="solid"/>
          </a:ln>
        </p:spPr>
        <p:txBody>
          <a:bodyPr/>
          <a:lstStyle/>
          <a:p>
            <a:endParaRPr lang="en-US"/>
          </a:p>
        </p:txBody>
      </p:sp>
      <p:sp>
        <p:nvSpPr>
          <p:cNvPr id="13" name="Rectangle 12">
            <a:extLst>
              <a:ext uri="{FF2B5EF4-FFF2-40B4-BE49-F238E27FC236}">
                <a16:creationId xmlns:a16="http://schemas.microsoft.com/office/drawing/2014/main" id="{B0B0FF1C-AC77-4209-B77B-98DE7A4B2B4B}"/>
              </a:ext>
            </a:extLst>
          </p:cNvPr>
          <p:cNvSpPr>
            <a:spLocks noGrp="1"/>
          </p:cNvSpPr>
          <p:nvPr/>
        </p:nvSpPr>
        <p:spPr>
          <a:xfrm>
            <a:off x="7620000" y="1562100"/>
            <a:ext cx="1562100" cy="4381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Decode TPS</a:t>
            </a:r>
          </a:p>
        </p:txBody>
      </p:sp>
      <p:sp>
        <p:nvSpPr>
          <p:cNvPr id="14" name="Rectangle 13">
            <a:extLst>
              <a:ext uri="{FF2B5EF4-FFF2-40B4-BE49-F238E27FC236}">
                <a16:creationId xmlns:a16="http://schemas.microsoft.com/office/drawing/2014/main" id="{CC08077D-453D-49A2-99BD-600D240140FB}"/>
              </a:ext>
            </a:extLst>
          </p:cNvPr>
          <p:cNvSpPr>
            <a:spLocks noGrp="1"/>
          </p:cNvSpPr>
          <p:nvPr/>
        </p:nvSpPr>
        <p:spPr>
          <a:xfrm>
            <a:off x="9258300" y="1466850"/>
            <a:ext cx="2343150" cy="552450"/>
          </a:xfrm>
          <a:prstGeom prst="rect">
            <a:avLst/>
          </a:prstGeom>
          <a:solidFill>
            <a:srgbClr val="111827"/>
          </a:solidFill>
          <a:ln w="9525">
            <a:solidFill>
              <a:srgbClr val="111827"/>
            </a:solidFill>
            <a:prstDash val="solid"/>
          </a:ln>
        </p:spPr>
        <p:txBody>
          <a:bodyPr/>
          <a:lstStyle/>
          <a:p>
            <a:endParaRPr lang="en-US"/>
          </a:p>
        </p:txBody>
      </p:sp>
      <p:sp>
        <p:nvSpPr>
          <p:cNvPr id="15" name="Rectangle 14">
            <a:extLst>
              <a:ext uri="{FF2B5EF4-FFF2-40B4-BE49-F238E27FC236}">
                <a16:creationId xmlns:a16="http://schemas.microsoft.com/office/drawing/2014/main" id="{49DD442A-4A1F-49F4-A6E4-046F6371D619}"/>
              </a:ext>
            </a:extLst>
          </p:cNvPr>
          <p:cNvSpPr>
            <a:spLocks noGrp="1"/>
          </p:cNvSpPr>
          <p:nvPr/>
        </p:nvSpPr>
        <p:spPr>
          <a:xfrm>
            <a:off x="9334500" y="1562100"/>
            <a:ext cx="2190750" cy="4381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Decode TPOT</a:t>
            </a:r>
          </a:p>
        </p:txBody>
      </p:sp>
      <p:sp>
        <p:nvSpPr>
          <p:cNvPr id="16" name="Rectangle 15">
            <a:extLst>
              <a:ext uri="{FF2B5EF4-FFF2-40B4-BE49-F238E27FC236}">
                <a16:creationId xmlns:a16="http://schemas.microsoft.com/office/drawing/2014/main" id="{00EF618A-8AF7-471F-9DA0-7AFA775F09F9}"/>
              </a:ext>
            </a:extLst>
          </p:cNvPr>
          <p:cNvSpPr>
            <a:spLocks noGrp="1"/>
          </p:cNvSpPr>
          <p:nvPr/>
        </p:nvSpPr>
        <p:spPr>
          <a:xfrm>
            <a:off x="590550" y="2019300"/>
            <a:ext cx="2476500" cy="552450"/>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0EA5040B-373C-4FDA-9D48-CB801924DFAE}"/>
              </a:ext>
            </a:extLst>
          </p:cNvPr>
          <p:cNvSpPr>
            <a:spLocks noGrp="1"/>
          </p:cNvSpPr>
          <p:nvPr/>
        </p:nvSpPr>
        <p:spPr>
          <a:xfrm>
            <a:off x="666750" y="2105025"/>
            <a:ext cx="2324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Fresh stock MNN CPU</a:t>
            </a:r>
          </a:p>
        </p:txBody>
      </p:sp>
      <p:sp>
        <p:nvSpPr>
          <p:cNvPr id="18" name="Rectangle 17">
            <a:extLst>
              <a:ext uri="{FF2B5EF4-FFF2-40B4-BE49-F238E27FC236}">
                <a16:creationId xmlns:a16="http://schemas.microsoft.com/office/drawing/2014/main" id="{AD9C12E2-8A59-4CBC-AA54-AADF809FD944}"/>
              </a:ext>
            </a:extLst>
          </p:cNvPr>
          <p:cNvSpPr>
            <a:spLocks noGrp="1"/>
          </p:cNvSpPr>
          <p:nvPr/>
        </p:nvSpPr>
        <p:spPr>
          <a:xfrm>
            <a:off x="3067050" y="2019300"/>
            <a:ext cx="2762250" cy="552450"/>
          </a:xfrm>
          <a:prstGeom prst="rect">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A8269850-207A-4BD1-9DBF-F6F1B9622533}"/>
              </a:ext>
            </a:extLst>
          </p:cNvPr>
          <p:cNvSpPr>
            <a:spLocks noGrp="1"/>
          </p:cNvSpPr>
          <p:nvPr/>
        </p:nvSpPr>
        <p:spPr>
          <a:xfrm>
            <a:off x="3143250" y="2105025"/>
            <a:ext cx="26098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cpu / cpu</a:t>
            </a:r>
          </a:p>
        </p:txBody>
      </p:sp>
      <p:sp>
        <p:nvSpPr>
          <p:cNvPr id="20" name="Rectangle 19">
            <a:extLst>
              <a:ext uri="{FF2B5EF4-FFF2-40B4-BE49-F238E27FC236}">
                <a16:creationId xmlns:a16="http://schemas.microsoft.com/office/drawing/2014/main" id="{49CCD320-F120-4EF2-B0C0-C32882061123}"/>
              </a:ext>
            </a:extLst>
          </p:cNvPr>
          <p:cNvSpPr>
            <a:spLocks noGrp="1"/>
          </p:cNvSpPr>
          <p:nvPr/>
        </p:nvSpPr>
        <p:spPr>
          <a:xfrm>
            <a:off x="5829300" y="2019300"/>
            <a:ext cx="1714500" cy="552450"/>
          </a:xfrm>
          <a:prstGeom prst="rect">
            <a:avLst/>
          </a:prstGeom>
          <a:solidFill>
            <a:srgbClr val="FFFFFF"/>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420534A1-FE1C-4A1F-8559-EEA40552BBA4}"/>
              </a:ext>
            </a:extLst>
          </p:cNvPr>
          <p:cNvSpPr>
            <a:spLocks noGrp="1"/>
          </p:cNvSpPr>
          <p:nvPr/>
        </p:nvSpPr>
        <p:spPr>
          <a:xfrm>
            <a:off x="5905500" y="210502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45.25510</a:t>
            </a:r>
          </a:p>
        </p:txBody>
      </p:sp>
      <p:sp>
        <p:nvSpPr>
          <p:cNvPr id="22" name="Rectangle 21">
            <a:extLst>
              <a:ext uri="{FF2B5EF4-FFF2-40B4-BE49-F238E27FC236}">
                <a16:creationId xmlns:a16="http://schemas.microsoft.com/office/drawing/2014/main" id="{72271A91-7347-4F8F-AC64-A229169BFBA9}"/>
              </a:ext>
            </a:extLst>
          </p:cNvPr>
          <p:cNvSpPr>
            <a:spLocks noGrp="1"/>
          </p:cNvSpPr>
          <p:nvPr/>
        </p:nvSpPr>
        <p:spPr>
          <a:xfrm>
            <a:off x="7543800" y="2019300"/>
            <a:ext cx="1714500" cy="552450"/>
          </a:xfrm>
          <a:prstGeom prst="rect">
            <a:avLst/>
          </a:prstGeom>
          <a:solidFill>
            <a:srgbClr val="FFFFFF"/>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95F3F7FD-EB56-4F17-B0D8-C08C995C9346}"/>
              </a:ext>
            </a:extLst>
          </p:cNvPr>
          <p:cNvSpPr>
            <a:spLocks noGrp="1"/>
          </p:cNvSpPr>
          <p:nvPr/>
        </p:nvSpPr>
        <p:spPr>
          <a:xfrm>
            <a:off x="7620000" y="210502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2.26870</a:t>
            </a:r>
          </a:p>
        </p:txBody>
      </p:sp>
      <p:sp>
        <p:nvSpPr>
          <p:cNvPr id="24" name="Rectangle 23">
            <a:extLst>
              <a:ext uri="{FF2B5EF4-FFF2-40B4-BE49-F238E27FC236}">
                <a16:creationId xmlns:a16="http://schemas.microsoft.com/office/drawing/2014/main" id="{49D2AB2C-B806-4FC6-B4DF-2F41806BC5CB}"/>
              </a:ext>
            </a:extLst>
          </p:cNvPr>
          <p:cNvSpPr>
            <a:spLocks noGrp="1"/>
          </p:cNvSpPr>
          <p:nvPr/>
        </p:nvSpPr>
        <p:spPr>
          <a:xfrm>
            <a:off x="9258300" y="2019300"/>
            <a:ext cx="2343150" cy="552450"/>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5C87C7F1-D655-40AE-BC89-AE1A433BBAF6}"/>
              </a:ext>
            </a:extLst>
          </p:cNvPr>
          <p:cNvSpPr>
            <a:spLocks noGrp="1"/>
          </p:cNvSpPr>
          <p:nvPr/>
        </p:nvSpPr>
        <p:spPr>
          <a:xfrm>
            <a:off x="9334500" y="2105025"/>
            <a:ext cx="21907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440.780 ms</a:t>
            </a:r>
          </a:p>
        </p:txBody>
      </p:sp>
      <p:sp>
        <p:nvSpPr>
          <p:cNvPr id="26" name="Rectangle 25">
            <a:extLst>
              <a:ext uri="{FF2B5EF4-FFF2-40B4-BE49-F238E27FC236}">
                <a16:creationId xmlns:a16="http://schemas.microsoft.com/office/drawing/2014/main" id="{0C23D157-BD59-49FD-AA69-B17B4C19A6DA}"/>
              </a:ext>
            </a:extLst>
          </p:cNvPr>
          <p:cNvSpPr>
            <a:spLocks noGrp="1"/>
          </p:cNvSpPr>
          <p:nvPr/>
        </p:nvSpPr>
        <p:spPr>
          <a:xfrm>
            <a:off x="590550" y="2571750"/>
            <a:ext cx="2476500" cy="552450"/>
          </a:xfrm>
          <a:prstGeom prst="rect">
            <a:avLst/>
          </a:prstGeom>
          <a:solidFill>
            <a:srgbClr val="F1F5F9"/>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70974CE2-EF96-41D8-BF41-492BC0A7E4AC}"/>
              </a:ext>
            </a:extLst>
          </p:cNvPr>
          <p:cNvSpPr>
            <a:spLocks noGrp="1"/>
          </p:cNvSpPr>
          <p:nvPr/>
        </p:nvSpPr>
        <p:spPr>
          <a:xfrm>
            <a:off x="666750" y="2657475"/>
            <a:ext cx="2324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Accepted v17 custom</a:t>
            </a:r>
          </a:p>
        </p:txBody>
      </p:sp>
      <p:sp>
        <p:nvSpPr>
          <p:cNvPr id="28" name="Rectangle 27">
            <a:extLst>
              <a:ext uri="{FF2B5EF4-FFF2-40B4-BE49-F238E27FC236}">
                <a16:creationId xmlns:a16="http://schemas.microsoft.com/office/drawing/2014/main" id="{1CF33271-F646-4E0F-A937-7ECCE4E3A983}"/>
              </a:ext>
            </a:extLst>
          </p:cNvPr>
          <p:cNvSpPr>
            <a:spLocks noGrp="1"/>
          </p:cNvSpPr>
          <p:nvPr/>
        </p:nvSpPr>
        <p:spPr>
          <a:xfrm>
            <a:off x="3067050" y="2571750"/>
            <a:ext cx="2762250" cy="552450"/>
          </a:xfrm>
          <a:prstGeom prst="rect">
            <a:avLst/>
          </a:prstGeom>
          <a:solidFill>
            <a:srgbClr val="F1F5F9"/>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391D36CF-E5A7-4700-A6AE-E5B61E287C89}"/>
              </a:ext>
            </a:extLst>
          </p:cNvPr>
          <p:cNvSpPr>
            <a:spLocks noGrp="1"/>
          </p:cNvSpPr>
          <p:nvPr/>
        </p:nvSpPr>
        <p:spPr>
          <a:xfrm>
            <a:off x="3143250" y="2657475"/>
            <a:ext cx="26098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cpu_vulkan_hybrid / cpu</a:t>
            </a:r>
          </a:p>
        </p:txBody>
      </p:sp>
      <p:sp>
        <p:nvSpPr>
          <p:cNvPr id="30" name="Rectangle 29">
            <a:extLst>
              <a:ext uri="{FF2B5EF4-FFF2-40B4-BE49-F238E27FC236}">
                <a16:creationId xmlns:a16="http://schemas.microsoft.com/office/drawing/2014/main" id="{7A6D0AA5-4DE8-4B85-9E56-6AC639717C6C}"/>
              </a:ext>
            </a:extLst>
          </p:cNvPr>
          <p:cNvSpPr>
            <a:spLocks noGrp="1"/>
          </p:cNvSpPr>
          <p:nvPr/>
        </p:nvSpPr>
        <p:spPr>
          <a:xfrm>
            <a:off x="5829300" y="2571750"/>
            <a:ext cx="1714500" cy="552450"/>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C1D16F06-1188-4DF4-BC84-0E460D5319F7}"/>
              </a:ext>
            </a:extLst>
          </p:cNvPr>
          <p:cNvSpPr>
            <a:spLocks noGrp="1"/>
          </p:cNvSpPr>
          <p:nvPr/>
        </p:nvSpPr>
        <p:spPr>
          <a:xfrm>
            <a:off x="5905500" y="265747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2.21477</a:t>
            </a:r>
          </a:p>
        </p:txBody>
      </p:sp>
      <p:sp>
        <p:nvSpPr>
          <p:cNvPr id="32" name="Rectangle 31">
            <a:extLst>
              <a:ext uri="{FF2B5EF4-FFF2-40B4-BE49-F238E27FC236}">
                <a16:creationId xmlns:a16="http://schemas.microsoft.com/office/drawing/2014/main" id="{E1A2CD7A-7D12-433A-959D-70AE90229C43}"/>
              </a:ext>
            </a:extLst>
          </p:cNvPr>
          <p:cNvSpPr>
            <a:spLocks noGrp="1"/>
          </p:cNvSpPr>
          <p:nvPr/>
        </p:nvSpPr>
        <p:spPr>
          <a:xfrm>
            <a:off x="7543800" y="2571750"/>
            <a:ext cx="1714500" cy="552450"/>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0AB9658B-6021-41A3-A52C-4F007624964C}"/>
              </a:ext>
            </a:extLst>
          </p:cNvPr>
          <p:cNvSpPr>
            <a:spLocks noGrp="1"/>
          </p:cNvSpPr>
          <p:nvPr/>
        </p:nvSpPr>
        <p:spPr>
          <a:xfrm>
            <a:off x="7620000" y="265747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1.93417</a:t>
            </a:r>
          </a:p>
        </p:txBody>
      </p:sp>
      <p:sp>
        <p:nvSpPr>
          <p:cNvPr id="34" name="Rectangle 33">
            <a:extLst>
              <a:ext uri="{FF2B5EF4-FFF2-40B4-BE49-F238E27FC236}">
                <a16:creationId xmlns:a16="http://schemas.microsoft.com/office/drawing/2014/main" id="{FA9A8995-FE2E-426A-891D-FA46A22C9868}"/>
              </a:ext>
            </a:extLst>
          </p:cNvPr>
          <p:cNvSpPr>
            <a:spLocks noGrp="1"/>
          </p:cNvSpPr>
          <p:nvPr/>
        </p:nvSpPr>
        <p:spPr>
          <a:xfrm>
            <a:off x="9258300" y="2571750"/>
            <a:ext cx="2343150" cy="552450"/>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860ABBF4-FC38-4D4A-A3B5-A315071CC793}"/>
              </a:ext>
            </a:extLst>
          </p:cNvPr>
          <p:cNvSpPr>
            <a:spLocks noGrp="1"/>
          </p:cNvSpPr>
          <p:nvPr/>
        </p:nvSpPr>
        <p:spPr>
          <a:xfrm>
            <a:off x="9334500" y="2657475"/>
            <a:ext cx="21907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517.018 ms</a:t>
            </a:r>
          </a:p>
        </p:txBody>
      </p:sp>
      <p:sp>
        <p:nvSpPr>
          <p:cNvPr id="36" name="Rectangle 35">
            <a:extLst>
              <a:ext uri="{FF2B5EF4-FFF2-40B4-BE49-F238E27FC236}">
                <a16:creationId xmlns:a16="http://schemas.microsoft.com/office/drawing/2014/main" id="{86B52439-1625-4912-9102-0C7668B04E89}"/>
              </a:ext>
            </a:extLst>
          </p:cNvPr>
          <p:cNvSpPr>
            <a:spLocks noGrp="1"/>
          </p:cNvSpPr>
          <p:nvPr/>
        </p:nvSpPr>
        <p:spPr>
          <a:xfrm>
            <a:off x="590550" y="3124200"/>
            <a:ext cx="2476500" cy="552450"/>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29FFF48D-9632-4F90-92B5-4DF9BFB1FA73}"/>
              </a:ext>
            </a:extLst>
          </p:cNvPr>
          <p:cNvSpPr>
            <a:spLocks noGrp="1"/>
          </p:cNvSpPr>
          <p:nvPr/>
        </p:nvSpPr>
        <p:spPr>
          <a:xfrm>
            <a:off x="666750" y="3209925"/>
            <a:ext cx="2324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Final custom v27</a:t>
            </a:r>
          </a:p>
        </p:txBody>
      </p:sp>
      <p:sp>
        <p:nvSpPr>
          <p:cNvPr id="38" name="Rectangle 37">
            <a:extLst>
              <a:ext uri="{FF2B5EF4-FFF2-40B4-BE49-F238E27FC236}">
                <a16:creationId xmlns:a16="http://schemas.microsoft.com/office/drawing/2014/main" id="{31058C02-849F-4E30-9606-323C4D607660}"/>
              </a:ext>
            </a:extLst>
          </p:cNvPr>
          <p:cNvSpPr>
            <a:spLocks noGrp="1"/>
          </p:cNvSpPr>
          <p:nvPr/>
        </p:nvSpPr>
        <p:spPr>
          <a:xfrm>
            <a:off x="3067050" y="3124200"/>
            <a:ext cx="2762250" cy="552450"/>
          </a:xfrm>
          <a:prstGeom prst="rect">
            <a:avLst/>
          </a:prstGeom>
          <a:solidFill>
            <a:srgbClr val="FFFFFF"/>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6BE4DE3D-5553-46C6-8B1F-7B4968FCF6B6}"/>
              </a:ext>
            </a:extLst>
          </p:cNvPr>
          <p:cNvSpPr>
            <a:spLocks noGrp="1"/>
          </p:cNvSpPr>
          <p:nvPr/>
        </p:nvSpPr>
        <p:spPr>
          <a:xfrm>
            <a:off x="3143250" y="3209925"/>
            <a:ext cx="26098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cpu_vulkan_hybrid / cpu</a:t>
            </a:r>
          </a:p>
        </p:txBody>
      </p:sp>
      <p:sp>
        <p:nvSpPr>
          <p:cNvPr id="40" name="Rectangle 39">
            <a:extLst>
              <a:ext uri="{FF2B5EF4-FFF2-40B4-BE49-F238E27FC236}">
                <a16:creationId xmlns:a16="http://schemas.microsoft.com/office/drawing/2014/main" id="{7B630F44-43BF-475E-BBFB-993625815EF2}"/>
              </a:ext>
            </a:extLst>
          </p:cNvPr>
          <p:cNvSpPr>
            <a:spLocks noGrp="1"/>
          </p:cNvSpPr>
          <p:nvPr/>
        </p:nvSpPr>
        <p:spPr>
          <a:xfrm>
            <a:off x="5829300" y="3124200"/>
            <a:ext cx="1714500" cy="552450"/>
          </a:xfrm>
          <a:prstGeom prst="rect">
            <a:avLst/>
          </a:prstGeom>
          <a:solidFill>
            <a:srgbClr val="FFFFFF"/>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7D6FD0A3-60B1-4E44-BC3E-851DBCF919F4}"/>
              </a:ext>
            </a:extLst>
          </p:cNvPr>
          <p:cNvSpPr>
            <a:spLocks noGrp="1"/>
          </p:cNvSpPr>
          <p:nvPr/>
        </p:nvSpPr>
        <p:spPr>
          <a:xfrm>
            <a:off x="5905500" y="320992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2.47191</a:t>
            </a:r>
          </a:p>
        </p:txBody>
      </p:sp>
      <p:sp>
        <p:nvSpPr>
          <p:cNvPr id="42" name="Rectangle 41">
            <a:extLst>
              <a:ext uri="{FF2B5EF4-FFF2-40B4-BE49-F238E27FC236}">
                <a16:creationId xmlns:a16="http://schemas.microsoft.com/office/drawing/2014/main" id="{97A47867-8EAE-4D16-812E-D6964C7D579A}"/>
              </a:ext>
            </a:extLst>
          </p:cNvPr>
          <p:cNvSpPr>
            <a:spLocks noGrp="1"/>
          </p:cNvSpPr>
          <p:nvPr/>
        </p:nvSpPr>
        <p:spPr>
          <a:xfrm>
            <a:off x="7543800" y="3124200"/>
            <a:ext cx="1714500" cy="552450"/>
          </a:xfrm>
          <a:prstGeom prst="rect">
            <a:avLst/>
          </a:prstGeom>
          <a:solidFill>
            <a:srgbClr val="FFFFFF"/>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ADC761E1-DA88-4D7B-A174-91319905B6C0}"/>
              </a:ext>
            </a:extLst>
          </p:cNvPr>
          <p:cNvSpPr>
            <a:spLocks noGrp="1"/>
          </p:cNvSpPr>
          <p:nvPr/>
        </p:nvSpPr>
        <p:spPr>
          <a:xfrm>
            <a:off x="7620000" y="320992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2.11989</a:t>
            </a:r>
          </a:p>
        </p:txBody>
      </p:sp>
      <p:sp>
        <p:nvSpPr>
          <p:cNvPr id="44" name="Rectangle 43">
            <a:extLst>
              <a:ext uri="{FF2B5EF4-FFF2-40B4-BE49-F238E27FC236}">
                <a16:creationId xmlns:a16="http://schemas.microsoft.com/office/drawing/2014/main" id="{0300B076-0A29-493E-A805-CE9EF0A4CA8D}"/>
              </a:ext>
            </a:extLst>
          </p:cNvPr>
          <p:cNvSpPr>
            <a:spLocks noGrp="1"/>
          </p:cNvSpPr>
          <p:nvPr/>
        </p:nvSpPr>
        <p:spPr>
          <a:xfrm>
            <a:off x="9258300" y="3124200"/>
            <a:ext cx="2343150" cy="552450"/>
          </a:xfrm>
          <a:prstGeom prst="rect">
            <a:avLst/>
          </a:prstGeom>
          <a:solidFill>
            <a:srgbClr val="FFFFFF"/>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2E1031B6-F996-40C3-93D4-BF241F30D16E}"/>
              </a:ext>
            </a:extLst>
          </p:cNvPr>
          <p:cNvSpPr>
            <a:spLocks noGrp="1"/>
          </p:cNvSpPr>
          <p:nvPr/>
        </p:nvSpPr>
        <p:spPr>
          <a:xfrm>
            <a:off x="9334500" y="3209925"/>
            <a:ext cx="21907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471.723 ms</a:t>
            </a:r>
          </a:p>
        </p:txBody>
      </p:sp>
      <p:sp>
        <p:nvSpPr>
          <p:cNvPr id="46" name="Rectangle 45">
            <a:extLst>
              <a:ext uri="{FF2B5EF4-FFF2-40B4-BE49-F238E27FC236}">
                <a16:creationId xmlns:a16="http://schemas.microsoft.com/office/drawing/2014/main" id="{E9D430F5-6D03-44FB-BE75-6652032BF3ED}"/>
              </a:ext>
            </a:extLst>
          </p:cNvPr>
          <p:cNvSpPr>
            <a:spLocks noGrp="1"/>
          </p:cNvSpPr>
          <p:nvPr/>
        </p:nvSpPr>
        <p:spPr>
          <a:xfrm>
            <a:off x="590550" y="3676650"/>
            <a:ext cx="2476500" cy="552450"/>
          </a:xfrm>
          <a:prstGeom prst="rect">
            <a:avLst/>
          </a:prstGeom>
          <a:solidFill>
            <a:srgbClr val="F1F5F9"/>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FDFA3D79-4BD1-495D-B299-DBC284FB36BB}"/>
              </a:ext>
            </a:extLst>
          </p:cNvPr>
          <p:cNvSpPr>
            <a:spLocks noGrp="1"/>
          </p:cNvSpPr>
          <p:nvPr/>
        </p:nvSpPr>
        <p:spPr>
          <a:xfrm>
            <a:off x="666750" y="3762375"/>
            <a:ext cx="2324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Final custom / stock</a:t>
            </a:r>
          </a:p>
        </p:txBody>
      </p:sp>
      <p:sp>
        <p:nvSpPr>
          <p:cNvPr id="48" name="Rectangle 47">
            <a:extLst>
              <a:ext uri="{FF2B5EF4-FFF2-40B4-BE49-F238E27FC236}">
                <a16:creationId xmlns:a16="http://schemas.microsoft.com/office/drawing/2014/main" id="{489BC09A-6C60-4986-8E35-606B34CD6255}"/>
              </a:ext>
            </a:extLst>
          </p:cNvPr>
          <p:cNvSpPr>
            <a:spLocks noGrp="1"/>
          </p:cNvSpPr>
          <p:nvPr/>
        </p:nvSpPr>
        <p:spPr>
          <a:xfrm>
            <a:off x="3067050" y="3676650"/>
            <a:ext cx="2762250" cy="552450"/>
          </a:xfrm>
          <a:prstGeom prst="rect">
            <a:avLst/>
          </a:prstGeom>
          <a:solidFill>
            <a:srgbClr val="F1F5F9"/>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4A9A7B15-896F-46F9-BA22-8DD1247F6EF6}"/>
              </a:ext>
            </a:extLst>
          </p:cNvPr>
          <p:cNvSpPr>
            <a:spLocks noGrp="1"/>
          </p:cNvSpPr>
          <p:nvPr/>
        </p:nvSpPr>
        <p:spPr>
          <a:xfrm>
            <a:off x="3143250" y="3762375"/>
            <a:ext cx="26098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CPU comparison</a:t>
            </a:r>
          </a:p>
        </p:txBody>
      </p:sp>
      <p:sp>
        <p:nvSpPr>
          <p:cNvPr id="50" name="Rectangle 49">
            <a:extLst>
              <a:ext uri="{FF2B5EF4-FFF2-40B4-BE49-F238E27FC236}">
                <a16:creationId xmlns:a16="http://schemas.microsoft.com/office/drawing/2014/main" id="{A0EC1B44-8FD9-48D6-BDF7-5AE4B8C5FE8C}"/>
              </a:ext>
            </a:extLst>
          </p:cNvPr>
          <p:cNvSpPr>
            <a:spLocks noGrp="1"/>
          </p:cNvSpPr>
          <p:nvPr/>
        </p:nvSpPr>
        <p:spPr>
          <a:xfrm>
            <a:off x="5829300" y="3676650"/>
            <a:ext cx="1714500" cy="552450"/>
          </a:xfrm>
          <a:prstGeom prst="rect">
            <a:avLst/>
          </a:prstGeom>
          <a:solidFill>
            <a:srgbClr val="F1F5F9"/>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18C6BFC7-AA8D-49E5-A1F6-BBE677A9CC70}"/>
              </a:ext>
            </a:extLst>
          </p:cNvPr>
          <p:cNvSpPr>
            <a:spLocks noGrp="1"/>
          </p:cNvSpPr>
          <p:nvPr/>
        </p:nvSpPr>
        <p:spPr>
          <a:xfrm>
            <a:off x="5905500" y="3762375"/>
            <a:ext cx="1562100" cy="457200"/>
          </a:xfrm>
          <a:prstGeom prst="rect">
            <a:avLst/>
          </a:prstGeom>
          <a:noFill/>
          <a:ln w="0">
            <a:solidFill>
              <a:srgbClr val="000000">
                <a:alpha val="0"/>
              </a:srgbClr>
            </a:solidFill>
            <a:prstDash val="solid"/>
          </a:ln>
        </p:spPr>
        <p:txBody>
          <a:bodyPr/>
          <a:lstStyle/>
          <a:p>
            <a:endParaRPr/>
          </a:p>
        </p:txBody>
      </p:sp>
      <p:sp>
        <p:nvSpPr>
          <p:cNvPr id="52" name="Rectangle 51">
            <a:extLst>
              <a:ext uri="{FF2B5EF4-FFF2-40B4-BE49-F238E27FC236}">
                <a16:creationId xmlns:a16="http://schemas.microsoft.com/office/drawing/2014/main" id="{F0EFEC40-4DFE-4E16-8164-9B75C9EC70E8}"/>
              </a:ext>
            </a:extLst>
          </p:cNvPr>
          <p:cNvSpPr>
            <a:spLocks noGrp="1"/>
          </p:cNvSpPr>
          <p:nvPr/>
        </p:nvSpPr>
        <p:spPr>
          <a:xfrm>
            <a:off x="7543800" y="3676650"/>
            <a:ext cx="1714500" cy="552450"/>
          </a:xfrm>
          <a:prstGeom prst="rect">
            <a:avLst/>
          </a:prstGeom>
          <a:solidFill>
            <a:srgbClr val="F1F5F9"/>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FB21D9C0-C945-4478-8B9D-461296E46816}"/>
              </a:ext>
            </a:extLst>
          </p:cNvPr>
          <p:cNvSpPr>
            <a:spLocks noGrp="1"/>
          </p:cNvSpPr>
          <p:nvPr/>
        </p:nvSpPr>
        <p:spPr>
          <a:xfrm>
            <a:off x="7620000" y="3762375"/>
            <a:ext cx="156210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0.9344x</a:t>
            </a:r>
          </a:p>
        </p:txBody>
      </p:sp>
      <p:sp>
        <p:nvSpPr>
          <p:cNvPr id="54" name="Rectangle 53">
            <a:extLst>
              <a:ext uri="{FF2B5EF4-FFF2-40B4-BE49-F238E27FC236}">
                <a16:creationId xmlns:a16="http://schemas.microsoft.com/office/drawing/2014/main" id="{0AEBAC61-42DA-4DC1-B3F2-0DBF19F6EC8C}"/>
              </a:ext>
            </a:extLst>
          </p:cNvPr>
          <p:cNvSpPr>
            <a:spLocks noGrp="1"/>
          </p:cNvSpPr>
          <p:nvPr/>
        </p:nvSpPr>
        <p:spPr>
          <a:xfrm>
            <a:off x="9258300" y="3676650"/>
            <a:ext cx="2343150" cy="552450"/>
          </a:xfrm>
          <a:prstGeom prst="rect">
            <a:avLst/>
          </a:prstGeom>
          <a:solidFill>
            <a:srgbClr val="F1F5F9"/>
          </a:solidFill>
          <a:ln w="9525">
            <a:solidFill>
              <a:srgbClr val="CBD5E1"/>
            </a:solidFill>
            <a:prstDash val="solid"/>
          </a:ln>
        </p:spPr>
        <p:txBody>
          <a:bodyPr/>
          <a:lstStyle/>
          <a:p>
            <a:endParaRPr lang="en-US"/>
          </a:p>
        </p:txBody>
      </p:sp>
      <p:sp>
        <p:nvSpPr>
          <p:cNvPr id="55" name="Rectangle 54">
            <a:extLst>
              <a:ext uri="{FF2B5EF4-FFF2-40B4-BE49-F238E27FC236}">
                <a16:creationId xmlns:a16="http://schemas.microsoft.com/office/drawing/2014/main" id="{8E0110ED-1751-4BCA-8147-D726B1C333AD}"/>
              </a:ext>
            </a:extLst>
          </p:cNvPr>
          <p:cNvSpPr>
            <a:spLocks noGrp="1"/>
          </p:cNvSpPr>
          <p:nvPr/>
        </p:nvSpPr>
        <p:spPr>
          <a:xfrm>
            <a:off x="9334500" y="3762375"/>
            <a:ext cx="2190750" cy="457200"/>
          </a:xfrm>
          <a:prstGeom prst="rect">
            <a:avLst/>
          </a:prstGeom>
          <a:noFill/>
          <a:ln w="0">
            <a:solidFill>
              <a:srgbClr val="000000">
                <a:alpha val="0"/>
              </a:srgbClr>
            </a:solidFill>
            <a:prstDash val="solid"/>
          </a:ln>
        </p:spPr>
        <p:txBody>
          <a:bodyPr/>
          <a:lstStyle/>
          <a:p>
            <a:pPr algn="l">
              <a:defRPr sz="1125" b="0">
                <a:solidFill>
                  <a:srgbClr val="0F172A"/>
                </a:solidFill>
                <a:latin typeface="Aptos"/>
                <a:ea typeface="Aptos"/>
                <a:cs typeface="Aptos"/>
              </a:defRPr>
            </a:pPr>
            <a:r>
              <a:rPr sz="1125" b="0">
                <a:solidFill>
                  <a:srgbClr val="0F172A"/>
                </a:solidFill>
                <a:latin typeface="Aptos"/>
                <a:ea typeface="Aptos"/>
                <a:cs typeface="Aptos"/>
              </a:rPr>
              <a:t>No speedup</a:t>
            </a:r>
          </a:p>
        </p:txBody>
      </p:sp>
    </p:spTree>
    <p:extLst>
      <p:ext uri="{BB962C8B-B14F-4D97-AF65-F5344CB8AC3E}">
        <p14:creationId xmlns:p14="http://schemas.microsoft.com/office/powerpoint/2010/main" val="1499904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49631801-EB0F-4924-ADCB-1B2F77769D6C}"/>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F5264B1F-A472-43F2-8EC7-FB7B5043C1BA}"/>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v27 per-kernel wall clock shows where custom time goes</a:t>
            </a:r>
          </a:p>
        </p:txBody>
      </p:sp>
      <p:sp>
        <p:nvSpPr>
          <p:cNvPr id="3" name="Rectangle 2">
            <a:extLst>
              <a:ext uri="{FF2B5EF4-FFF2-40B4-BE49-F238E27FC236}">
                <a16:creationId xmlns:a16="http://schemas.microsoft.com/office/drawing/2014/main" id="{A1DB3370-CA21-422D-AC11-557E1D91A74A}"/>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19</a:t>
            </a:r>
          </a:p>
        </p:txBody>
      </p:sp>
      <p:sp>
        <p:nvSpPr>
          <p:cNvPr id="4" name="Rectangle 3">
            <a:extLst>
              <a:ext uri="{FF2B5EF4-FFF2-40B4-BE49-F238E27FC236}">
                <a16:creationId xmlns:a16="http://schemas.microsoft.com/office/drawing/2014/main" id="{483DEF87-84EE-4CBC-9B47-F30054FFDEE8}"/>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57F67C3B-9305-429B-9294-76903EB46E83}"/>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B1E646D1-854A-49FE-B0B8-ABCAED6EA8B2}"/>
              </a:ext>
            </a:extLst>
          </p:cNvPr>
          <p:cNvSpPr>
            <a:spLocks noGrp="1"/>
          </p:cNvSpPr>
          <p:nvPr/>
        </p:nvSpPr>
        <p:spPr>
          <a:xfrm>
            <a:off x="590550" y="1466850"/>
            <a:ext cx="3143250" cy="41910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1491C2B7-FDB1-4CCF-8D98-8F2E1AC6B37F}"/>
              </a:ext>
            </a:extLst>
          </p:cNvPr>
          <p:cNvSpPr>
            <a:spLocks noGrp="1"/>
          </p:cNvSpPr>
          <p:nvPr/>
        </p:nvSpPr>
        <p:spPr>
          <a:xfrm>
            <a:off x="666750" y="1562100"/>
            <a:ext cx="299085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Kernel / row</a:t>
            </a:r>
          </a:p>
        </p:txBody>
      </p:sp>
      <p:sp>
        <p:nvSpPr>
          <p:cNvPr id="8" name="Rectangle 7">
            <a:extLst>
              <a:ext uri="{FF2B5EF4-FFF2-40B4-BE49-F238E27FC236}">
                <a16:creationId xmlns:a16="http://schemas.microsoft.com/office/drawing/2014/main" id="{B14FE66A-9EE1-41A8-9AA9-593F37DC3130}"/>
              </a:ext>
            </a:extLst>
          </p:cNvPr>
          <p:cNvSpPr>
            <a:spLocks noGrp="1"/>
          </p:cNvSpPr>
          <p:nvPr/>
        </p:nvSpPr>
        <p:spPr>
          <a:xfrm>
            <a:off x="3733800" y="1466850"/>
            <a:ext cx="1714500" cy="41910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D48E6AB3-37E3-4DBC-B951-3980D0AAC13B}"/>
              </a:ext>
            </a:extLst>
          </p:cNvPr>
          <p:cNvSpPr>
            <a:spLocks noGrp="1"/>
          </p:cNvSpPr>
          <p:nvPr/>
        </p:nvSpPr>
        <p:spPr>
          <a:xfrm>
            <a:off x="3810000" y="1562100"/>
            <a:ext cx="156210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Family</a:t>
            </a:r>
          </a:p>
        </p:txBody>
      </p:sp>
      <p:sp>
        <p:nvSpPr>
          <p:cNvPr id="10" name="Rectangle 9">
            <a:extLst>
              <a:ext uri="{FF2B5EF4-FFF2-40B4-BE49-F238E27FC236}">
                <a16:creationId xmlns:a16="http://schemas.microsoft.com/office/drawing/2014/main" id="{1A8A678D-434B-4554-BDE6-47F6DA45AB41}"/>
              </a:ext>
            </a:extLst>
          </p:cNvPr>
          <p:cNvSpPr>
            <a:spLocks noGrp="1"/>
          </p:cNvSpPr>
          <p:nvPr/>
        </p:nvSpPr>
        <p:spPr>
          <a:xfrm>
            <a:off x="5448300" y="1466850"/>
            <a:ext cx="857250" cy="41910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F6E7BF2A-4027-4870-AC19-27EE5C023ECB}"/>
              </a:ext>
            </a:extLst>
          </p:cNvPr>
          <p:cNvSpPr>
            <a:spLocks noGrp="1"/>
          </p:cNvSpPr>
          <p:nvPr/>
        </p:nvSpPr>
        <p:spPr>
          <a:xfrm>
            <a:off x="5524500" y="1562100"/>
            <a:ext cx="70485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Backend</a:t>
            </a:r>
          </a:p>
        </p:txBody>
      </p:sp>
      <p:sp>
        <p:nvSpPr>
          <p:cNvPr id="12" name="Rectangle 11">
            <a:extLst>
              <a:ext uri="{FF2B5EF4-FFF2-40B4-BE49-F238E27FC236}">
                <a16:creationId xmlns:a16="http://schemas.microsoft.com/office/drawing/2014/main" id="{E44535B8-AB73-4067-B0B5-1B287F567FFF}"/>
              </a:ext>
            </a:extLst>
          </p:cNvPr>
          <p:cNvSpPr>
            <a:spLocks noGrp="1"/>
          </p:cNvSpPr>
          <p:nvPr/>
        </p:nvSpPr>
        <p:spPr>
          <a:xfrm>
            <a:off x="6305550" y="1466850"/>
            <a:ext cx="952500" cy="419100"/>
          </a:xfrm>
          <a:prstGeom prst="rect">
            <a:avLst/>
          </a:prstGeom>
          <a:solidFill>
            <a:srgbClr val="111827"/>
          </a:solidFill>
          <a:ln w="9525">
            <a:solidFill>
              <a:srgbClr val="111827"/>
            </a:solidFill>
            <a:prstDash val="solid"/>
          </a:ln>
        </p:spPr>
        <p:txBody>
          <a:bodyPr/>
          <a:lstStyle/>
          <a:p>
            <a:endParaRPr lang="en-US"/>
          </a:p>
        </p:txBody>
      </p:sp>
      <p:sp>
        <p:nvSpPr>
          <p:cNvPr id="13" name="Rectangle 12">
            <a:extLst>
              <a:ext uri="{FF2B5EF4-FFF2-40B4-BE49-F238E27FC236}">
                <a16:creationId xmlns:a16="http://schemas.microsoft.com/office/drawing/2014/main" id="{D14066E7-8285-474A-93BD-F206F1E27BC5}"/>
              </a:ext>
            </a:extLst>
          </p:cNvPr>
          <p:cNvSpPr>
            <a:spLocks noGrp="1"/>
          </p:cNvSpPr>
          <p:nvPr/>
        </p:nvSpPr>
        <p:spPr>
          <a:xfrm>
            <a:off x="6381750" y="1562100"/>
            <a:ext cx="80010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Calls</a:t>
            </a:r>
          </a:p>
        </p:txBody>
      </p:sp>
      <p:sp>
        <p:nvSpPr>
          <p:cNvPr id="14" name="Rectangle 13">
            <a:extLst>
              <a:ext uri="{FF2B5EF4-FFF2-40B4-BE49-F238E27FC236}">
                <a16:creationId xmlns:a16="http://schemas.microsoft.com/office/drawing/2014/main" id="{D3CA4E0B-3305-43D1-8B1B-D73582616E03}"/>
              </a:ext>
            </a:extLst>
          </p:cNvPr>
          <p:cNvSpPr>
            <a:spLocks noGrp="1"/>
          </p:cNvSpPr>
          <p:nvPr/>
        </p:nvSpPr>
        <p:spPr>
          <a:xfrm>
            <a:off x="7258050" y="1466850"/>
            <a:ext cx="1428750" cy="419100"/>
          </a:xfrm>
          <a:prstGeom prst="rect">
            <a:avLst/>
          </a:prstGeom>
          <a:solidFill>
            <a:srgbClr val="111827"/>
          </a:solidFill>
          <a:ln w="9525">
            <a:solidFill>
              <a:srgbClr val="111827"/>
            </a:solidFill>
            <a:prstDash val="solid"/>
          </a:ln>
        </p:spPr>
        <p:txBody>
          <a:bodyPr/>
          <a:lstStyle/>
          <a:p>
            <a:endParaRPr lang="en-US"/>
          </a:p>
        </p:txBody>
      </p:sp>
      <p:sp>
        <p:nvSpPr>
          <p:cNvPr id="15" name="Rectangle 14">
            <a:extLst>
              <a:ext uri="{FF2B5EF4-FFF2-40B4-BE49-F238E27FC236}">
                <a16:creationId xmlns:a16="http://schemas.microsoft.com/office/drawing/2014/main" id="{9D21D5AC-7673-46F4-B02B-0B40D533E6EF}"/>
              </a:ext>
            </a:extLst>
          </p:cNvPr>
          <p:cNvSpPr>
            <a:spLocks noGrp="1"/>
          </p:cNvSpPr>
          <p:nvPr/>
        </p:nvSpPr>
        <p:spPr>
          <a:xfrm>
            <a:off x="7334250" y="1562100"/>
            <a:ext cx="127635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Total ms</a:t>
            </a:r>
          </a:p>
        </p:txBody>
      </p:sp>
      <p:sp>
        <p:nvSpPr>
          <p:cNvPr id="16" name="Rectangle 15">
            <a:extLst>
              <a:ext uri="{FF2B5EF4-FFF2-40B4-BE49-F238E27FC236}">
                <a16:creationId xmlns:a16="http://schemas.microsoft.com/office/drawing/2014/main" id="{51E8E9C2-A8D6-493D-9625-731AF8A11CF7}"/>
              </a:ext>
            </a:extLst>
          </p:cNvPr>
          <p:cNvSpPr>
            <a:spLocks noGrp="1"/>
          </p:cNvSpPr>
          <p:nvPr/>
        </p:nvSpPr>
        <p:spPr>
          <a:xfrm>
            <a:off x="8686800" y="1466850"/>
            <a:ext cx="1428750" cy="419100"/>
          </a:xfrm>
          <a:prstGeom prst="rect">
            <a:avLst/>
          </a:prstGeom>
          <a:solidFill>
            <a:srgbClr val="111827"/>
          </a:solidFill>
          <a:ln w="9525">
            <a:solidFill>
              <a:srgbClr val="111827"/>
            </a:solidFill>
            <a:prstDash val="solid"/>
          </a:ln>
        </p:spPr>
        <p:txBody>
          <a:bodyPr/>
          <a:lstStyle/>
          <a:p>
            <a:endParaRPr lang="en-US"/>
          </a:p>
        </p:txBody>
      </p:sp>
      <p:sp>
        <p:nvSpPr>
          <p:cNvPr id="17" name="Rectangle 16">
            <a:extLst>
              <a:ext uri="{FF2B5EF4-FFF2-40B4-BE49-F238E27FC236}">
                <a16:creationId xmlns:a16="http://schemas.microsoft.com/office/drawing/2014/main" id="{95542C26-E221-4D87-90D8-613641DA12F6}"/>
              </a:ext>
            </a:extLst>
          </p:cNvPr>
          <p:cNvSpPr>
            <a:spLocks noGrp="1"/>
          </p:cNvSpPr>
          <p:nvPr/>
        </p:nvSpPr>
        <p:spPr>
          <a:xfrm>
            <a:off x="8763000" y="1562100"/>
            <a:ext cx="1276350" cy="30480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Mean ms</a:t>
            </a:r>
          </a:p>
        </p:txBody>
      </p:sp>
      <p:sp>
        <p:nvSpPr>
          <p:cNvPr id="18" name="Rectangle 17">
            <a:extLst>
              <a:ext uri="{FF2B5EF4-FFF2-40B4-BE49-F238E27FC236}">
                <a16:creationId xmlns:a16="http://schemas.microsoft.com/office/drawing/2014/main" id="{BE37CE2C-E412-45D1-954A-26BDD80446FB}"/>
              </a:ext>
            </a:extLst>
          </p:cNvPr>
          <p:cNvSpPr>
            <a:spLocks noGrp="1"/>
          </p:cNvSpPr>
          <p:nvPr/>
        </p:nvSpPr>
        <p:spPr>
          <a:xfrm>
            <a:off x="590550" y="1885950"/>
            <a:ext cx="3143250" cy="419100"/>
          </a:xfrm>
          <a:prstGeom prst="rect">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5B635706-86C1-4BB0-8CCF-FD659F4770D1}"/>
              </a:ext>
            </a:extLst>
          </p:cNvPr>
          <p:cNvSpPr>
            <a:spLocks noGrp="1"/>
          </p:cNvSpPr>
          <p:nvPr/>
        </p:nvSpPr>
        <p:spPr>
          <a:xfrm>
            <a:off x="666750" y="19716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prefill_token_custom</a:t>
            </a:r>
          </a:p>
        </p:txBody>
      </p:sp>
      <p:sp>
        <p:nvSpPr>
          <p:cNvPr id="20" name="Rectangle 19">
            <a:extLst>
              <a:ext uri="{FF2B5EF4-FFF2-40B4-BE49-F238E27FC236}">
                <a16:creationId xmlns:a16="http://schemas.microsoft.com/office/drawing/2014/main" id="{396ECB09-443E-4139-BAE5-F1125AD0B155}"/>
              </a:ext>
            </a:extLst>
          </p:cNvPr>
          <p:cNvSpPr>
            <a:spLocks noGrp="1"/>
          </p:cNvSpPr>
          <p:nvPr/>
        </p:nvSpPr>
        <p:spPr>
          <a:xfrm>
            <a:off x="3733800" y="1885950"/>
            <a:ext cx="1714500" cy="419100"/>
          </a:xfrm>
          <a:prstGeom prst="rect">
            <a:avLst/>
          </a:prstGeom>
          <a:solidFill>
            <a:srgbClr val="FFFFFF"/>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6A2388EC-223A-4C54-A08A-EA6E1214CF5E}"/>
              </a:ext>
            </a:extLst>
          </p:cNvPr>
          <p:cNvSpPr>
            <a:spLocks noGrp="1"/>
          </p:cNvSpPr>
          <p:nvPr/>
        </p:nvSpPr>
        <p:spPr>
          <a:xfrm>
            <a:off x="3810000" y="19716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other</a:t>
            </a:r>
          </a:p>
        </p:txBody>
      </p:sp>
      <p:sp>
        <p:nvSpPr>
          <p:cNvPr id="22" name="Rectangle 21">
            <a:extLst>
              <a:ext uri="{FF2B5EF4-FFF2-40B4-BE49-F238E27FC236}">
                <a16:creationId xmlns:a16="http://schemas.microsoft.com/office/drawing/2014/main" id="{5ED93FDF-5474-493F-817D-820CFAA888C0}"/>
              </a:ext>
            </a:extLst>
          </p:cNvPr>
          <p:cNvSpPr>
            <a:spLocks noGrp="1"/>
          </p:cNvSpPr>
          <p:nvPr/>
        </p:nvSpPr>
        <p:spPr>
          <a:xfrm>
            <a:off x="5448300" y="1885950"/>
            <a:ext cx="857250" cy="419100"/>
          </a:xfrm>
          <a:prstGeom prst="rect">
            <a:avLst/>
          </a:prstGeom>
          <a:solidFill>
            <a:srgbClr val="FFFFFF"/>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19CB1C36-BB32-40B4-8AF2-E0B91EA7061E}"/>
              </a:ext>
            </a:extLst>
          </p:cNvPr>
          <p:cNvSpPr>
            <a:spLocks noGrp="1"/>
          </p:cNvSpPr>
          <p:nvPr/>
        </p:nvSpPr>
        <p:spPr>
          <a:xfrm>
            <a:off x="5524500" y="19716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24" name="Rectangle 23">
            <a:extLst>
              <a:ext uri="{FF2B5EF4-FFF2-40B4-BE49-F238E27FC236}">
                <a16:creationId xmlns:a16="http://schemas.microsoft.com/office/drawing/2014/main" id="{15FDDA74-9274-4B0A-A1CC-16C8DCC53058}"/>
              </a:ext>
            </a:extLst>
          </p:cNvPr>
          <p:cNvSpPr>
            <a:spLocks noGrp="1"/>
          </p:cNvSpPr>
          <p:nvPr/>
        </p:nvSpPr>
        <p:spPr>
          <a:xfrm>
            <a:off x="6305550" y="1885950"/>
            <a:ext cx="952500" cy="419100"/>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AF488739-49A7-41EE-A6FA-1A71B944654E}"/>
              </a:ext>
            </a:extLst>
          </p:cNvPr>
          <p:cNvSpPr>
            <a:spLocks noGrp="1"/>
          </p:cNvSpPr>
          <p:nvPr/>
        </p:nvSpPr>
        <p:spPr>
          <a:xfrm>
            <a:off x="6381750" y="19716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512</a:t>
            </a:r>
          </a:p>
        </p:txBody>
      </p:sp>
      <p:sp>
        <p:nvSpPr>
          <p:cNvPr id="26" name="Rectangle 25">
            <a:extLst>
              <a:ext uri="{FF2B5EF4-FFF2-40B4-BE49-F238E27FC236}">
                <a16:creationId xmlns:a16="http://schemas.microsoft.com/office/drawing/2014/main" id="{5E21EFCF-2CAB-4FAE-8AD5-D54102E0B743}"/>
              </a:ext>
            </a:extLst>
          </p:cNvPr>
          <p:cNvSpPr>
            <a:spLocks noGrp="1"/>
          </p:cNvSpPr>
          <p:nvPr/>
        </p:nvSpPr>
        <p:spPr>
          <a:xfrm>
            <a:off x="7258050" y="1885950"/>
            <a:ext cx="1428750" cy="419100"/>
          </a:xfrm>
          <a:prstGeom prst="rect">
            <a:avLst/>
          </a:prstGeom>
          <a:solidFill>
            <a:srgbClr val="FFFFFF"/>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B30D891C-AE2E-4FDD-9B2D-FFB18D4C9EF7}"/>
              </a:ext>
            </a:extLst>
          </p:cNvPr>
          <p:cNvSpPr>
            <a:spLocks noGrp="1"/>
          </p:cNvSpPr>
          <p:nvPr/>
        </p:nvSpPr>
        <p:spPr>
          <a:xfrm>
            <a:off x="7334250" y="19716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208930.0</a:t>
            </a:r>
          </a:p>
        </p:txBody>
      </p:sp>
      <p:sp>
        <p:nvSpPr>
          <p:cNvPr id="28" name="Rectangle 27">
            <a:extLst>
              <a:ext uri="{FF2B5EF4-FFF2-40B4-BE49-F238E27FC236}">
                <a16:creationId xmlns:a16="http://schemas.microsoft.com/office/drawing/2014/main" id="{A243A6DE-0230-47E7-AFA6-B5EBA52F5840}"/>
              </a:ext>
            </a:extLst>
          </p:cNvPr>
          <p:cNvSpPr>
            <a:spLocks noGrp="1"/>
          </p:cNvSpPr>
          <p:nvPr/>
        </p:nvSpPr>
        <p:spPr>
          <a:xfrm>
            <a:off x="8686800" y="1885950"/>
            <a:ext cx="1428750" cy="419100"/>
          </a:xfrm>
          <a:prstGeom prst="rect">
            <a:avLst/>
          </a:prstGeom>
          <a:solidFill>
            <a:srgbClr val="FFFFFF"/>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F6C478DA-588B-4EFE-9FEF-EB14422ED6C4}"/>
              </a:ext>
            </a:extLst>
          </p:cNvPr>
          <p:cNvSpPr>
            <a:spLocks noGrp="1"/>
          </p:cNvSpPr>
          <p:nvPr/>
        </p:nvSpPr>
        <p:spPr>
          <a:xfrm>
            <a:off x="8763000" y="19716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408.067</a:t>
            </a:r>
          </a:p>
        </p:txBody>
      </p:sp>
      <p:sp>
        <p:nvSpPr>
          <p:cNvPr id="30" name="Rectangle 29">
            <a:extLst>
              <a:ext uri="{FF2B5EF4-FFF2-40B4-BE49-F238E27FC236}">
                <a16:creationId xmlns:a16="http://schemas.microsoft.com/office/drawing/2014/main" id="{17D64F51-2C02-42C8-9400-E2FB12E1A26F}"/>
              </a:ext>
            </a:extLst>
          </p:cNvPr>
          <p:cNvSpPr>
            <a:spLocks noGrp="1"/>
          </p:cNvSpPr>
          <p:nvPr/>
        </p:nvSpPr>
        <p:spPr>
          <a:xfrm>
            <a:off x="590550" y="2305050"/>
            <a:ext cx="3143250" cy="419100"/>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B168AEFA-4C0C-427E-97AB-9A2DDC3536CE}"/>
              </a:ext>
            </a:extLst>
          </p:cNvPr>
          <p:cNvSpPr>
            <a:spLocks noGrp="1"/>
          </p:cNvSpPr>
          <p:nvPr/>
        </p:nvSpPr>
        <p:spPr>
          <a:xfrm>
            <a:off x="666750" y="23907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linear_down_proj_w4a16</a:t>
            </a:r>
          </a:p>
        </p:txBody>
      </p:sp>
      <p:sp>
        <p:nvSpPr>
          <p:cNvPr id="32" name="Rectangle 31">
            <a:extLst>
              <a:ext uri="{FF2B5EF4-FFF2-40B4-BE49-F238E27FC236}">
                <a16:creationId xmlns:a16="http://schemas.microsoft.com/office/drawing/2014/main" id="{54804AB1-09F5-45BB-930D-61BD70140780}"/>
              </a:ext>
            </a:extLst>
          </p:cNvPr>
          <p:cNvSpPr>
            <a:spLocks noGrp="1"/>
          </p:cNvSpPr>
          <p:nvPr/>
        </p:nvSpPr>
        <p:spPr>
          <a:xfrm>
            <a:off x="3733800" y="2305050"/>
            <a:ext cx="1714500" cy="419100"/>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A713A5DE-32D1-4D5D-A422-C495B6FAD1BC}"/>
              </a:ext>
            </a:extLst>
          </p:cNvPr>
          <p:cNvSpPr>
            <a:spLocks noGrp="1"/>
          </p:cNvSpPr>
          <p:nvPr/>
        </p:nvSpPr>
        <p:spPr>
          <a:xfrm>
            <a:off x="3810000" y="23907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down_proj</a:t>
            </a:r>
          </a:p>
        </p:txBody>
      </p:sp>
      <p:sp>
        <p:nvSpPr>
          <p:cNvPr id="34" name="Rectangle 33">
            <a:extLst>
              <a:ext uri="{FF2B5EF4-FFF2-40B4-BE49-F238E27FC236}">
                <a16:creationId xmlns:a16="http://schemas.microsoft.com/office/drawing/2014/main" id="{5AC3FCE5-AD06-4885-B85E-21815A33A2F8}"/>
              </a:ext>
            </a:extLst>
          </p:cNvPr>
          <p:cNvSpPr>
            <a:spLocks noGrp="1"/>
          </p:cNvSpPr>
          <p:nvPr/>
        </p:nvSpPr>
        <p:spPr>
          <a:xfrm>
            <a:off x="5448300" y="2305050"/>
            <a:ext cx="857250" cy="419100"/>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6824297A-E798-4B2C-84CC-C21B34257341}"/>
              </a:ext>
            </a:extLst>
          </p:cNvPr>
          <p:cNvSpPr>
            <a:spLocks noGrp="1"/>
          </p:cNvSpPr>
          <p:nvPr/>
        </p:nvSpPr>
        <p:spPr>
          <a:xfrm>
            <a:off x="5524500" y="23907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36" name="Rectangle 35">
            <a:extLst>
              <a:ext uri="{FF2B5EF4-FFF2-40B4-BE49-F238E27FC236}">
                <a16:creationId xmlns:a16="http://schemas.microsoft.com/office/drawing/2014/main" id="{0441034B-52D4-455D-9127-AB1456A04860}"/>
              </a:ext>
            </a:extLst>
          </p:cNvPr>
          <p:cNvSpPr>
            <a:spLocks noGrp="1"/>
          </p:cNvSpPr>
          <p:nvPr/>
        </p:nvSpPr>
        <p:spPr>
          <a:xfrm>
            <a:off x="6305550" y="2305050"/>
            <a:ext cx="952500" cy="419100"/>
          </a:xfrm>
          <a:prstGeom prst="rect">
            <a:avLst/>
          </a:prstGeom>
          <a:solidFill>
            <a:srgbClr val="F1F5F9"/>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1699B2C1-4B67-4D3A-B6CA-836816A87E7E}"/>
              </a:ext>
            </a:extLst>
          </p:cNvPr>
          <p:cNvSpPr>
            <a:spLocks noGrp="1"/>
          </p:cNvSpPr>
          <p:nvPr/>
        </p:nvSpPr>
        <p:spPr>
          <a:xfrm>
            <a:off x="6381750" y="23907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24576</a:t>
            </a:r>
          </a:p>
        </p:txBody>
      </p:sp>
      <p:sp>
        <p:nvSpPr>
          <p:cNvPr id="38" name="Rectangle 37">
            <a:extLst>
              <a:ext uri="{FF2B5EF4-FFF2-40B4-BE49-F238E27FC236}">
                <a16:creationId xmlns:a16="http://schemas.microsoft.com/office/drawing/2014/main" id="{8691F895-6ECA-44CB-941F-22524D849ADB}"/>
              </a:ext>
            </a:extLst>
          </p:cNvPr>
          <p:cNvSpPr>
            <a:spLocks noGrp="1"/>
          </p:cNvSpPr>
          <p:nvPr/>
        </p:nvSpPr>
        <p:spPr>
          <a:xfrm>
            <a:off x="7258050" y="2305050"/>
            <a:ext cx="1428750" cy="419100"/>
          </a:xfrm>
          <a:prstGeom prst="rect">
            <a:avLst/>
          </a:prstGeom>
          <a:solidFill>
            <a:srgbClr val="F1F5F9"/>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962087A4-7B82-42AE-B9E0-045FEA11C689}"/>
              </a:ext>
            </a:extLst>
          </p:cNvPr>
          <p:cNvSpPr>
            <a:spLocks noGrp="1"/>
          </p:cNvSpPr>
          <p:nvPr/>
        </p:nvSpPr>
        <p:spPr>
          <a:xfrm>
            <a:off x="7334250" y="23907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62198.3</a:t>
            </a:r>
          </a:p>
        </p:txBody>
      </p:sp>
      <p:sp>
        <p:nvSpPr>
          <p:cNvPr id="40" name="Rectangle 39">
            <a:extLst>
              <a:ext uri="{FF2B5EF4-FFF2-40B4-BE49-F238E27FC236}">
                <a16:creationId xmlns:a16="http://schemas.microsoft.com/office/drawing/2014/main" id="{E619AA7A-2A01-4D48-B9CD-67E1AD13B9FC}"/>
              </a:ext>
            </a:extLst>
          </p:cNvPr>
          <p:cNvSpPr>
            <a:spLocks noGrp="1"/>
          </p:cNvSpPr>
          <p:nvPr/>
        </p:nvSpPr>
        <p:spPr>
          <a:xfrm>
            <a:off x="8686800" y="2305050"/>
            <a:ext cx="1428750" cy="419100"/>
          </a:xfrm>
          <a:prstGeom prst="rect">
            <a:avLst/>
          </a:prstGeom>
          <a:solidFill>
            <a:srgbClr val="F1F5F9"/>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A347646B-E8F6-428E-8F6A-11F1F69A522C}"/>
              </a:ext>
            </a:extLst>
          </p:cNvPr>
          <p:cNvSpPr>
            <a:spLocks noGrp="1"/>
          </p:cNvSpPr>
          <p:nvPr/>
        </p:nvSpPr>
        <p:spPr>
          <a:xfrm>
            <a:off x="8763000" y="23907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2.531</a:t>
            </a:r>
          </a:p>
        </p:txBody>
      </p:sp>
      <p:sp>
        <p:nvSpPr>
          <p:cNvPr id="42" name="Rectangle 41">
            <a:extLst>
              <a:ext uri="{FF2B5EF4-FFF2-40B4-BE49-F238E27FC236}">
                <a16:creationId xmlns:a16="http://schemas.microsoft.com/office/drawing/2014/main" id="{63CDE244-8834-425B-97A7-3E1E4BC38850}"/>
              </a:ext>
            </a:extLst>
          </p:cNvPr>
          <p:cNvSpPr>
            <a:spLocks noGrp="1"/>
          </p:cNvSpPr>
          <p:nvPr/>
        </p:nvSpPr>
        <p:spPr>
          <a:xfrm>
            <a:off x="590550" y="2724150"/>
            <a:ext cx="3143250" cy="419100"/>
          </a:xfrm>
          <a:prstGeom prst="rect">
            <a:avLst/>
          </a:prstGeom>
          <a:solidFill>
            <a:srgbClr val="FFFFFF"/>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B42CFE12-9221-4726-BE5B-F7C1EBAD56F1}"/>
              </a:ext>
            </a:extLst>
          </p:cNvPr>
          <p:cNvSpPr>
            <a:spLocks noGrp="1"/>
          </p:cNvSpPr>
          <p:nvPr/>
        </p:nvSpPr>
        <p:spPr>
          <a:xfrm>
            <a:off x="666750" y="28098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linear_gate_proj_w4a16</a:t>
            </a:r>
          </a:p>
        </p:txBody>
      </p:sp>
      <p:sp>
        <p:nvSpPr>
          <p:cNvPr id="44" name="Rectangle 43">
            <a:extLst>
              <a:ext uri="{FF2B5EF4-FFF2-40B4-BE49-F238E27FC236}">
                <a16:creationId xmlns:a16="http://schemas.microsoft.com/office/drawing/2014/main" id="{2BC8EF22-CCE6-48D9-B649-81375A24B076}"/>
              </a:ext>
            </a:extLst>
          </p:cNvPr>
          <p:cNvSpPr>
            <a:spLocks noGrp="1"/>
          </p:cNvSpPr>
          <p:nvPr/>
        </p:nvSpPr>
        <p:spPr>
          <a:xfrm>
            <a:off x="3733800" y="2724150"/>
            <a:ext cx="1714500" cy="419100"/>
          </a:xfrm>
          <a:prstGeom prst="rect">
            <a:avLst/>
          </a:prstGeom>
          <a:solidFill>
            <a:srgbClr val="FFFFFF"/>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9F67D566-062A-4EC1-AAFE-C3C2BC0F930D}"/>
              </a:ext>
            </a:extLst>
          </p:cNvPr>
          <p:cNvSpPr>
            <a:spLocks noGrp="1"/>
          </p:cNvSpPr>
          <p:nvPr/>
        </p:nvSpPr>
        <p:spPr>
          <a:xfrm>
            <a:off x="3810000" y="28098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gate_proj</a:t>
            </a:r>
          </a:p>
        </p:txBody>
      </p:sp>
      <p:sp>
        <p:nvSpPr>
          <p:cNvPr id="46" name="Rectangle 45">
            <a:extLst>
              <a:ext uri="{FF2B5EF4-FFF2-40B4-BE49-F238E27FC236}">
                <a16:creationId xmlns:a16="http://schemas.microsoft.com/office/drawing/2014/main" id="{16C6A1CC-EDC0-4698-A95A-EB3C783D628D}"/>
              </a:ext>
            </a:extLst>
          </p:cNvPr>
          <p:cNvSpPr>
            <a:spLocks noGrp="1"/>
          </p:cNvSpPr>
          <p:nvPr/>
        </p:nvSpPr>
        <p:spPr>
          <a:xfrm>
            <a:off x="5448300" y="2724150"/>
            <a:ext cx="857250" cy="419100"/>
          </a:xfrm>
          <a:prstGeom prst="rect">
            <a:avLst/>
          </a:prstGeom>
          <a:solidFill>
            <a:srgbClr val="FFFFFF"/>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90D79CC2-8E72-42EF-8DF0-22AA59084397}"/>
              </a:ext>
            </a:extLst>
          </p:cNvPr>
          <p:cNvSpPr>
            <a:spLocks noGrp="1"/>
          </p:cNvSpPr>
          <p:nvPr/>
        </p:nvSpPr>
        <p:spPr>
          <a:xfrm>
            <a:off x="5524500" y="28098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48" name="Rectangle 47">
            <a:extLst>
              <a:ext uri="{FF2B5EF4-FFF2-40B4-BE49-F238E27FC236}">
                <a16:creationId xmlns:a16="http://schemas.microsoft.com/office/drawing/2014/main" id="{FB930AA3-9435-42F9-8F24-A3DF0214EDB4}"/>
              </a:ext>
            </a:extLst>
          </p:cNvPr>
          <p:cNvSpPr>
            <a:spLocks noGrp="1"/>
          </p:cNvSpPr>
          <p:nvPr/>
        </p:nvSpPr>
        <p:spPr>
          <a:xfrm>
            <a:off x="6305550" y="2724150"/>
            <a:ext cx="952500" cy="419100"/>
          </a:xfrm>
          <a:prstGeom prst="rect">
            <a:avLst/>
          </a:prstGeom>
          <a:solidFill>
            <a:srgbClr val="FFFFFF"/>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BD9AF46D-CF86-4293-9F9F-8FEEECD720FC}"/>
              </a:ext>
            </a:extLst>
          </p:cNvPr>
          <p:cNvSpPr>
            <a:spLocks noGrp="1"/>
          </p:cNvSpPr>
          <p:nvPr/>
        </p:nvSpPr>
        <p:spPr>
          <a:xfrm>
            <a:off x="6381750" y="28098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24576</a:t>
            </a:r>
          </a:p>
        </p:txBody>
      </p:sp>
      <p:sp>
        <p:nvSpPr>
          <p:cNvPr id="50" name="Rectangle 49">
            <a:extLst>
              <a:ext uri="{FF2B5EF4-FFF2-40B4-BE49-F238E27FC236}">
                <a16:creationId xmlns:a16="http://schemas.microsoft.com/office/drawing/2014/main" id="{AFCE451D-B203-4AE5-A27C-71EA772A5DBD}"/>
              </a:ext>
            </a:extLst>
          </p:cNvPr>
          <p:cNvSpPr>
            <a:spLocks noGrp="1"/>
          </p:cNvSpPr>
          <p:nvPr/>
        </p:nvSpPr>
        <p:spPr>
          <a:xfrm>
            <a:off x="7258050" y="2724150"/>
            <a:ext cx="1428750" cy="419100"/>
          </a:xfrm>
          <a:prstGeom prst="rect">
            <a:avLst/>
          </a:prstGeom>
          <a:solidFill>
            <a:srgbClr val="FFFFFF"/>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85C1444F-F705-490E-904C-7330792A623E}"/>
              </a:ext>
            </a:extLst>
          </p:cNvPr>
          <p:cNvSpPr>
            <a:spLocks noGrp="1"/>
          </p:cNvSpPr>
          <p:nvPr/>
        </p:nvSpPr>
        <p:spPr>
          <a:xfrm>
            <a:off x="7334250" y="28098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61881.4</a:t>
            </a:r>
          </a:p>
        </p:txBody>
      </p:sp>
      <p:sp>
        <p:nvSpPr>
          <p:cNvPr id="52" name="Rectangle 51">
            <a:extLst>
              <a:ext uri="{FF2B5EF4-FFF2-40B4-BE49-F238E27FC236}">
                <a16:creationId xmlns:a16="http://schemas.microsoft.com/office/drawing/2014/main" id="{7BB18B70-6412-4D17-9945-1F262DBD2F78}"/>
              </a:ext>
            </a:extLst>
          </p:cNvPr>
          <p:cNvSpPr>
            <a:spLocks noGrp="1"/>
          </p:cNvSpPr>
          <p:nvPr/>
        </p:nvSpPr>
        <p:spPr>
          <a:xfrm>
            <a:off x="8686800" y="2724150"/>
            <a:ext cx="1428750" cy="419100"/>
          </a:xfrm>
          <a:prstGeom prst="rect">
            <a:avLst/>
          </a:prstGeom>
          <a:solidFill>
            <a:srgbClr val="FFFFFF"/>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087A33A3-1671-4BB0-B7D5-A26E5E07E443}"/>
              </a:ext>
            </a:extLst>
          </p:cNvPr>
          <p:cNvSpPr>
            <a:spLocks noGrp="1"/>
          </p:cNvSpPr>
          <p:nvPr/>
        </p:nvSpPr>
        <p:spPr>
          <a:xfrm>
            <a:off x="8763000" y="28098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2.518</a:t>
            </a:r>
          </a:p>
        </p:txBody>
      </p:sp>
      <p:sp>
        <p:nvSpPr>
          <p:cNvPr id="54" name="Rectangle 53">
            <a:extLst>
              <a:ext uri="{FF2B5EF4-FFF2-40B4-BE49-F238E27FC236}">
                <a16:creationId xmlns:a16="http://schemas.microsoft.com/office/drawing/2014/main" id="{8D7A6B4A-81EC-44B1-B10F-380C6757DFDB}"/>
              </a:ext>
            </a:extLst>
          </p:cNvPr>
          <p:cNvSpPr>
            <a:spLocks noGrp="1"/>
          </p:cNvSpPr>
          <p:nvPr/>
        </p:nvSpPr>
        <p:spPr>
          <a:xfrm>
            <a:off x="590550" y="3143250"/>
            <a:ext cx="3143250" cy="419100"/>
          </a:xfrm>
          <a:prstGeom prst="rect">
            <a:avLst/>
          </a:prstGeom>
          <a:solidFill>
            <a:srgbClr val="F1F5F9"/>
          </a:solidFill>
          <a:ln w="9525">
            <a:solidFill>
              <a:srgbClr val="CBD5E1"/>
            </a:solidFill>
            <a:prstDash val="solid"/>
          </a:ln>
        </p:spPr>
        <p:txBody>
          <a:bodyPr/>
          <a:lstStyle/>
          <a:p>
            <a:endParaRPr lang="en-US"/>
          </a:p>
        </p:txBody>
      </p:sp>
      <p:sp>
        <p:nvSpPr>
          <p:cNvPr id="55" name="Rectangle 54">
            <a:extLst>
              <a:ext uri="{FF2B5EF4-FFF2-40B4-BE49-F238E27FC236}">
                <a16:creationId xmlns:a16="http://schemas.microsoft.com/office/drawing/2014/main" id="{63803613-BC65-418C-8470-F3A7752DA00B}"/>
              </a:ext>
            </a:extLst>
          </p:cNvPr>
          <p:cNvSpPr>
            <a:spLocks noGrp="1"/>
          </p:cNvSpPr>
          <p:nvPr/>
        </p:nvSpPr>
        <p:spPr>
          <a:xfrm>
            <a:off x="666750" y="32289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linear_up_proj_w4a16</a:t>
            </a:r>
          </a:p>
        </p:txBody>
      </p:sp>
      <p:sp>
        <p:nvSpPr>
          <p:cNvPr id="56" name="Rectangle 55">
            <a:extLst>
              <a:ext uri="{FF2B5EF4-FFF2-40B4-BE49-F238E27FC236}">
                <a16:creationId xmlns:a16="http://schemas.microsoft.com/office/drawing/2014/main" id="{A67FA47F-DE5C-4649-A0CD-F4C8A2B27751}"/>
              </a:ext>
            </a:extLst>
          </p:cNvPr>
          <p:cNvSpPr>
            <a:spLocks noGrp="1"/>
          </p:cNvSpPr>
          <p:nvPr/>
        </p:nvSpPr>
        <p:spPr>
          <a:xfrm>
            <a:off x="3733800" y="3143250"/>
            <a:ext cx="1714500" cy="419100"/>
          </a:xfrm>
          <a:prstGeom prst="rect">
            <a:avLst/>
          </a:prstGeom>
          <a:solidFill>
            <a:srgbClr val="F1F5F9"/>
          </a:solidFill>
          <a:ln w="9525">
            <a:solidFill>
              <a:srgbClr val="CBD5E1"/>
            </a:solidFill>
            <a:prstDash val="solid"/>
          </a:ln>
        </p:spPr>
        <p:txBody>
          <a:bodyPr/>
          <a:lstStyle/>
          <a:p>
            <a:endParaRPr lang="en-US"/>
          </a:p>
        </p:txBody>
      </p:sp>
      <p:sp>
        <p:nvSpPr>
          <p:cNvPr id="57" name="Rectangle 56">
            <a:extLst>
              <a:ext uri="{FF2B5EF4-FFF2-40B4-BE49-F238E27FC236}">
                <a16:creationId xmlns:a16="http://schemas.microsoft.com/office/drawing/2014/main" id="{049E0348-2886-4AB3-9A79-2E8ADB90F40D}"/>
              </a:ext>
            </a:extLst>
          </p:cNvPr>
          <p:cNvSpPr>
            <a:spLocks noGrp="1"/>
          </p:cNvSpPr>
          <p:nvPr/>
        </p:nvSpPr>
        <p:spPr>
          <a:xfrm>
            <a:off x="3810000" y="32289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up_proj</a:t>
            </a:r>
          </a:p>
        </p:txBody>
      </p:sp>
      <p:sp>
        <p:nvSpPr>
          <p:cNvPr id="58" name="Rectangle 57">
            <a:extLst>
              <a:ext uri="{FF2B5EF4-FFF2-40B4-BE49-F238E27FC236}">
                <a16:creationId xmlns:a16="http://schemas.microsoft.com/office/drawing/2014/main" id="{62628218-994B-427D-8AA8-E6961AB8FA36}"/>
              </a:ext>
            </a:extLst>
          </p:cNvPr>
          <p:cNvSpPr>
            <a:spLocks noGrp="1"/>
          </p:cNvSpPr>
          <p:nvPr/>
        </p:nvSpPr>
        <p:spPr>
          <a:xfrm>
            <a:off x="5448300" y="3143250"/>
            <a:ext cx="857250" cy="419100"/>
          </a:xfrm>
          <a:prstGeom prst="rect">
            <a:avLst/>
          </a:prstGeom>
          <a:solidFill>
            <a:srgbClr val="F1F5F9"/>
          </a:solidFill>
          <a:ln w="9525">
            <a:solidFill>
              <a:srgbClr val="CBD5E1"/>
            </a:solidFill>
            <a:prstDash val="solid"/>
          </a:ln>
        </p:spPr>
        <p:txBody>
          <a:bodyPr/>
          <a:lstStyle/>
          <a:p>
            <a:endParaRPr lang="en-US"/>
          </a:p>
        </p:txBody>
      </p:sp>
      <p:sp>
        <p:nvSpPr>
          <p:cNvPr id="59" name="Rectangle 58">
            <a:extLst>
              <a:ext uri="{FF2B5EF4-FFF2-40B4-BE49-F238E27FC236}">
                <a16:creationId xmlns:a16="http://schemas.microsoft.com/office/drawing/2014/main" id="{E806B57B-4E44-41A4-AB5D-DD60211A07C1}"/>
              </a:ext>
            </a:extLst>
          </p:cNvPr>
          <p:cNvSpPr>
            <a:spLocks noGrp="1"/>
          </p:cNvSpPr>
          <p:nvPr/>
        </p:nvSpPr>
        <p:spPr>
          <a:xfrm>
            <a:off x="5524500" y="32289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60" name="Rectangle 59">
            <a:extLst>
              <a:ext uri="{FF2B5EF4-FFF2-40B4-BE49-F238E27FC236}">
                <a16:creationId xmlns:a16="http://schemas.microsoft.com/office/drawing/2014/main" id="{22FFB7FA-76AC-4295-AA7B-D9D0E8761A47}"/>
              </a:ext>
            </a:extLst>
          </p:cNvPr>
          <p:cNvSpPr>
            <a:spLocks noGrp="1"/>
          </p:cNvSpPr>
          <p:nvPr/>
        </p:nvSpPr>
        <p:spPr>
          <a:xfrm>
            <a:off x="6305550" y="3143250"/>
            <a:ext cx="952500" cy="419100"/>
          </a:xfrm>
          <a:prstGeom prst="rect">
            <a:avLst/>
          </a:prstGeom>
          <a:solidFill>
            <a:srgbClr val="F1F5F9"/>
          </a:solidFill>
          <a:ln w="9525">
            <a:solidFill>
              <a:srgbClr val="CBD5E1"/>
            </a:solidFill>
            <a:prstDash val="solid"/>
          </a:ln>
        </p:spPr>
        <p:txBody>
          <a:bodyPr/>
          <a:lstStyle/>
          <a:p>
            <a:endParaRPr lang="en-US"/>
          </a:p>
        </p:txBody>
      </p:sp>
      <p:sp>
        <p:nvSpPr>
          <p:cNvPr id="61" name="Rectangle 60">
            <a:extLst>
              <a:ext uri="{FF2B5EF4-FFF2-40B4-BE49-F238E27FC236}">
                <a16:creationId xmlns:a16="http://schemas.microsoft.com/office/drawing/2014/main" id="{D6CD94E7-E087-4B49-956F-6D0BB2A0FBB5}"/>
              </a:ext>
            </a:extLst>
          </p:cNvPr>
          <p:cNvSpPr>
            <a:spLocks noGrp="1"/>
          </p:cNvSpPr>
          <p:nvPr/>
        </p:nvSpPr>
        <p:spPr>
          <a:xfrm>
            <a:off x="6381750" y="32289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24576</a:t>
            </a:r>
          </a:p>
        </p:txBody>
      </p:sp>
      <p:sp>
        <p:nvSpPr>
          <p:cNvPr id="62" name="Rectangle 61">
            <a:extLst>
              <a:ext uri="{FF2B5EF4-FFF2-40B4-BE49-F238E27FC236}">
                <a16:creationId xmlns:a16="http://schemas.microsoft.com/office/drawing/2014/main" id="{AAD2B394-6FF5-424B-A3C5-AC9952E4E465}"/>
              </a:ext>
            </a:extLst>
          </p:cNvPr>
          <p:cNvSpPr>
            <a:spLocks noGrp="1"/>
          </p:cNvSpPr>
          <p:nvPr/>
        </p:nvSpPr>
        <p:spPr>
          <a:xfrm>
            <a:off x="7258050" y="3143250"/>
            <a:ext cx="1428750" cy="419100"/>
          </a:xfrm>
          <a:prstGeom prst="rect">
            <a:avLst/>
          </a:prstGeom>
          <a:solidFill>
            <a:srgbClr val="F1F5F9"/>
          </a:solidFill>
          <a:ln w="9525">
            <a:solidFill>
              <a:srgbClr val="CBD5E1"/>
            </a:solidFill>
            <a:prstDash val="solid"/>
          </a:ln>
        </p:spPr>
        <p:txBody>
          <a:bodyPr/>
          <a:lstStyle/>
          <a:p>
            <a:endParaRPr lang="en-US"/>
          </a:p>
        </p:txBody>
      </p:sp>
      <p:sp>
        <p:nvSpPr>
          <p:cNvPr id="63" name="Rectangle 62">
            <a:extLst>
              <a:ext uri="{FF2B5EF4-FFF2-40B4-BE49-F238E27FC236}">
                <a16:creationId xmlns:a16="http://schemas.microsoft.com/office/drawing/2014/main" id="{4CC845A1-5FFB-4E4C-8A9B-B7793D089272}"/>
              </a:ext>
            </a:extLst>
          </p:cNvPr>
          <p:cNvSpPr>
            <a:spLocks noGrp="1"/>
          </p:cNvSpPr>
          <p:nvPr/>
        </p:nvSpPr>
        <p:spPr>
          <a:xfrm>
            <a:off x="7334250" y="32289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61864.2</a:t>
            </a:r>
          </a:p>
        </p:txBody>
      </p:sp>
      <p:sp>
        <p:nvSpPr>
          <p:cNvPr id="64" name="Rectangle 63">
            <a:extLst>
              <a:ext uri="{FF2B5EF4-FFF2-40B4-BE49-F238E27FC236}">
                <a16:creationId xmlns:a16="http://schemas.microsoft.com/office/drawing/2014/main" id="{EB5A4494-D788-438D-B2E8-DFC24EC0D1E7}"/>
              </a:ext>
            </a:extLst>
          </p:cNvPr>
          <p:cNvSpPr>
            <a:spLocks noGrp="1"/>
          </p:cNvSpPr>
          <p:nvPr/>
        </p:nvSpPr>
        <p:spPr>
          <a:xfrm>
            <a:off x="8686800" y="3143250"/>
            <a:ext cx="1428750" cy="419100"/>
          </a:xfrm>
          <a:prstGeom prst="rect">
            <a:avLst/>
          </a:prstGeom>
          <a:solidFill>
            <a:srgbClr val="F1F5F9"/>
          </a:solidFill>
          <a:ln w="9525">
            <a:solidFill>
              <a:srgbClr val="CBD5E1"/>
            </a:solidFill>
            <a:prstDash val="solid"/>
          </a:ln>
        </p:spPr>
        <p:txBody>
          <a:bodyPr/>
          <a:lstStyle/>
          <a:p>
            <a:endParaRPr lang="en-US"/>
          </a:p>
        </p:txBody>
      </p:sp>
      <p:sp>
        <p:nvSpPr>
          <p:cNvPr id="65" name="Rectangle 64">
            <a:extLst>
              <a:ext uri="{FF2B5EF4-FFF2-40B4-BE49-F238E27FC236}">
                <a16:creationId xmlns:a16="http://schemas.microsoft.com/office/drawing/2014/main" id="{4683FD4B-2E60-4B5E-82B4-B33C513D70EB}"/>
              </a:ext>
            </a:extLst>
          </p:cNvPr>
          <p:cNvSpPr>
            <a:spLocks noGrp="1"/>
          </p:cNvSpPr>
          <p:nvPr/>
        </p:nvSpPr>
        <p:spPr>
          <a:xfrm>
            <a:off x="8763000" y="32289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2.517</a:t>
            </a:r>
          </a:p>
        </p:txBody>
      </p:sp>
      <p:sp>
        <p:nvSpPr>
          <p:cNvPr id="66" name="Rectangle 65">
            <a:extLst>
              <a:ext uri="{FF2B5EF4-FFF2-40B4-BE49-F238E27FC236}">
                <a16:creationId xmlns:a16="http://schemas.microsoft.com/office/drawing/2014/main" id="{F1D7EBED-2E57-432D-B06C-49BFF5AEB6CD}"/>
              </a:ext>
            </a:extLst>
          </p:cNvPr>
          <p:cNvSpPr>
            <a:spLocks noGrp="1"/>
          </p:cNvSpPr>
          <p:nvPr/>
        </p:nvSpPr>
        <p:spPr>
          <a:xfrm>
            <a:off x="590550" y="3562350"/>
            <a:ext cx="3143250" cy="419100"/>
          </a:xfrm>
          <a:prstGeom prst="rect">
            <a:avLst/>
          </a:prstGeom>
          <a:solidFill>
            <a:srgbClr val="FFFFFF"/>
          </a:solidFill>
          <a:ln w="9525">
            <a:solidFill>
              <a:srgbClr val="CBD5E1"/>
            </a:solidFill>
            <a:prstDash val="solid"/>
          </a:ln>
        </p:spPr>
        <p:txBody>
          <a:bodyPr/>
          <a:lstStyle/>
          <a:p>
            <a:endParaRPr lang="en-US"/>
          </a:p>
        </p:txBody>
      </p:sp>
      <p:sp>
        <p:nvSpPr>
          <p:cNvPr id="67" name="Rectangle 66">
            <a:extLst>
              <a:ext uri="{FF2B5EF4-FFF2-40B4-BE49-F238E27FC236}">
                <a16:creationId xmlns:a16="http://schemas.microsoft.com/office/drawing/2014/main" id="{39204CEC-079B-4B5E-B79D-2962A27351FF}"/>
              </a:ext>
            </a:extLst>
          </p:cNvPr>
          <p:cNvSpPr>
            <a:spLocks noGrp="1"/>
          </p:cNvSpPr>
          <p:nvPr/>
        </p:nvSpPr>
        <p:spPr>
          <a:xfrm>
            <a:off x="666750" y="36480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linear_attn_in_proj_qkv_w4a16</a:t>
            </a:r>
          </a:p>
        </p:txBody>
      </p:sp>
      <p:sp>
        <p:nvSpPr>
          <p:cNvPr id="68" name="Rectangle 67">
            <a:extLst>
              <a:ext uri="{FF2B5EF4-FFF2-40B4-BE49-F238E27FC236}">
                <a16:creationId xmlns:a16="http://schemas.microsoft.com/office/drawing/2014/main" id="{204B8745-9E56-455E-A796-F2A2238581A3}"/>
              </a:ext>
            </a:extLst>
          </p:cNvPr>
          <p:cNvSpPr>
            <a:spLocks noGrp="1"/>
          </p:cNvSpPr>
          <p:nvPr/>
        </p:nvSpPr>
        <p:spPr>
          <a:xfrm>
            <a:off x="3733800" y="3562350"/>
            <a:ext cx="1714500" cy="419100"/>
          </a:xfrm>
          <a:prstGeom prst="rect">
            <a:avLst/>
          </a:prstGeom>
          <a:solidFill>
            <a:srgbClr val="FFFFFF"/>
          </a:solidFill>
          <a:ln w="9525">
            <a:solidFill>
              <a:srgbClr val="CBD5E1"/>
            </a:solidFill>
            <a:prstDash val="solid"/>
          </a:ln>
        </p:spPr>
        <p:txBody>
          <a:bodyPr/>
          <a:lstStyle/>
          <a:p>
            <a:endParaRPr lang="en-US"/>
          </a:p>
        </p:txBody>
      </p:sp>
      <p:sp>
        <p:nvSpPr>
          <p:cNvPr id="69" name="Rectangle 68">
            <a:extLst>
              <a:ext uri="{FF2B5EF4-FFF2-40B4-BE49-F238E27FC236}">
                <a16:creationId xmlns:a16="http://schemas.microsoft.com/office/drawing/2014/main" id="{E2ABE6B6-77FE-45DC-820B-5F9AA6F3817C}"/>
              </a:ext>
            </a:extLst>
          </p:cNvPr>
          <p:cNvSpPr>
            <a:spLocks noGrp="1"/>
          </p:cNvSpPr>
          <p:nvPr/>
        </p:nvSpPr>
        <p:spPr>
          <a:xfrm>
            <a:off x="3810000" y="36480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 attn</a:t>
            </a:r>
          </a:p>
        </p:txBody>
      </p:sp>
      <p:sp>
        <p:nvSpPr>
          <p:cNvPr id="70" name="Rectangle 69">
            <a:extLst>
              <a:ext uri="{FF2B5EF4-FFF2-40B4-BE49-F238E27FC236}">
                <a16:creationId xmlns:a16="http://schemas.microsoft.com/office/drawing/2014/main" id="{AC4EF2BD-B0A7-448E-A71C-84B843A31709}"/>
              </a:ext>
            </a:extLst>
          </p:cNvPr>
          <p:cNvSpPr>
            <a:spLocks noGrp="1"/>
          </p:cNvSpPr>
          <p:nvPr/>
        </p:nvSpPr>
        <p:spPr>
          <a:xfrm>
            <a:off x="5448300" y="3562350"/>
            <a:ext cx="857250" cy="419100"/>
          </a:xfrm>
          <a:prstGeom prst="rect">
            <a:avLst/>
          </a:prstGeom>
          <a:solidFill>
            <a:srgbClr val="FFFFFF"/>
          </a:solidFill>
          <a:ln w="9525">
            <a:solidFill>
              <a:srgbClr val="CBD5E1"/>
            </a:solidFill>
            <a:prstDash val="solid"/>
          </a:ln>
        </p:spPr>
        <p:txBody>
          <a:bodyPr/>
          <a:lstStyle/>
          <a:p>
            <a:endParaRPr lang="en-US"/>
          </a:p>
        </p:txBody>
      </p:sp>
      <p:sp>
        <p:nvSpPr>
          <p:cNvPr id="71" name="Rectangle 70">
            <a:extLst>
              <a:ext uri="{FF2B5EF4-FFF2-40B4-BE49-F238E27FC236}">
                <a16:creationId xmlns:a16="http://schemas.microsoft.com/office/drawing/2014/main" id="{0F2E712F-15A7-45E5-A909-927DACE5CD02}"/>
              </a:ext>
            </a:extLst>
          </p:cNvPr>
          <p:cNvSpPr>
            <a:spLocks noGrp="1"/>
          </p:cNvSpPr>
          <p:nvPr/>
        </p:nvSpPr>
        <p:spPr>
          <a:xfrm>
            <a:off x="5524500" y="36480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72" name="Rectangle 71">
            <a:extLst>
              <a:ext uri="{FF2B5EF4-FFF2-40B4-BE49-F238E27FC236}">
                <a16:creationId xmlns:a16="http://schemas.microsoft.com/office/drawing/2014/main" id="{DFACA04C-ED93-4B0A-A54A-65FEE716626A}"/>
              </a:ext>
            </a:extLst>
          </p:cNvPr>
          <p:cNvSpPr>
            <a:spLocks noGrp="1"/>
          </p:cNvSpPr>
          <p:nvPr/>
        </p:nvSpPr>
        <p:spPr>
          <a:xfrm>
            <a:off x="6305550" y="3562350"/>
            <a:ext cx="952500" cy="419100"/>
          </a:xfrm>
          <a:prstGeom prst="rect">
            <a:avLst/>
          </a:prstGeom>
          <a:solidFill>
            <a:srgbClr val="FFFFFF"/>
          </a:solidFill>
          <a:ln w="9525">
            <a:solidFill>
              <a:srgbClr val="CBD5E1"/>
            </a:solidFill>
            <a:prstDash val="solid"/>
          </a:ln>
        </p:spPr>
        <p:txBody>
          <a:bodyPr/>
          <a:lstStyle/>
          <a:p>
            <a:endParaRPr lang="en-US"/>
          </a:p>
        </p:txBody>
      </p:sp>
      <p:sp>
        <p:nvSpPr>
          <p:cNvPr id="73" name="Rectangle 72">
            <a:extLst>
              <a:ext uri="{FF2B5EF4-FFF2-40B4-BE49-F238E27FC236}">
                <a16:creationId xmlns:a16="http://schemas.microsoft.com/office/drawing/2014/main" id="{241A9B70-13B3-4102-B386-F3765BE2981A}"/>
              </a:ext>
            </a:extLst>
          </p:cNvPr>
          <p:cNvSpPr>
            <a:spLocks noGrp="1"/>
          </p:cNvSpPr>
          <p:nvPr/>
        </p:nvSpPr>
        <p:spPr>
          <a:xfrm>
            <a:off x="6381750" y="36480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18432</a:t>
            </a:r>
          </a:p>
        </p:txBody>
      </p:sp>
      <p:sp>
        <p:nvSpPr>
          <p:cNvPr id="74" name="Rectangle 73">
            <a:extLst>
              <a:ext uri="{FF2B5EF4-FFF2-40B4-BE49-F238E27FC236}">
                <a16:creationId xmlns:a16="http://schemas.microsoft.com/office/drawing/2014/main" id="{68610979-A0E5-4877-8780-91D138566A8D}"/>
              </a:ext>
            </a:extLst>
          </p:cNvPr>
          <p:cNvSpPr>
            <a:spLocks noGrp="1"/>
          </p:cNvSpPr>
          <p:nvPr/>
        </p:nvSpPr>
        <p:spPr>
          <a:xfrm>
            <a:off x="7258050" y="3562350"/>
            <a:ext cx="1428750" cy="419100"/>
          </a:xfrm>
          <a:prstGeom prst="rect">
            <a:avLst/>
          </a:prstGeom>
          <a:solidFill>
            <a:srgbClr val="FFFFFF"/>
          </a:solidFill>
          <a:ln w="9525">
            <a:solidFill>
              <a:srgbClr val="CBD5E1"/>
            </a:solidFill>
            <a:prstDash val="solid"/>
          </a:ln>
        </p:spPr>
        <p:txBody>
          <a:bodyPr/>
          <a:lstStyle/>
          <a:p>
            <a:endParaRPr lang="en-US"/>
          </a:p>
        </p:txBody>
      </p:sp>
      <p:sp>
        <p:nvSpPr>
          <p:cNvPr id="75" name="Rectangle 74">
            <a:extLst>
              <a:ext uri="{FF2B5EF4-FFF2-40B4-BE49-F238E27FC236}">
                <a16:creationId xmlns:a16="http://schemas.microsoft.com/office/drawing/2014/main" id="{5AA27A16-5BBF-49F6-B701-CAA9EB2C9B20}"/>
              </a:ext>
            </a:extLst>
          </p:cNvPr>
          <p:cNvSpPr>
            <a:spLocks noGrp="1"/>
          </p:cNvSpPr>
          <p:nvPr/>
        </p:nvSpPr>
        <p:spPr>
          <a:xfrm>
            <a:off x="7334250" y="36480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31118.1</a:t>
            </a:r>
          </a:p>
        </p:txBody>
      </p:sp>
      <p:sp>
        <p:nvSpPr>
          <p:cNvPr id="76" name="Rectangle 75">
            <a:extLst>
              <a:ext uri="{FF2B5EF4-FFF2-40B4-BE49-F238E27FC236}">
                <a16:creationId xmlns:a16="http://schemas.microsoft.com/office/drawing/2014/main" id="{FB9571B2-8624-47BA-997A-9B7F69E8E31B}"/>
              </a:ext>
            </a:extLst>
          </p:cNvPr>
          <p:cNvSpPr>
            <a:spLocks noGrp="1"/>
          </p:cNvSpPr>
          <p:nvPr/>
        </p:nvSpPr>
        <p:spPr>
          <a:xfrm>
            <a:off x="8686800" y="3562350"/>
            <a:ext cx="1428750" cy="419100"/>
          </a:xfrm>
          <a:prstGeom prst="rect">
            <a:avLst/>
          </a:prstGeom>
          <a:solidFill>
            <a:srgbClr val="FFFFFF"/>
          </a:solidFill>
          <a:ln w="9525">
            <a:solidFill>
              <a:srgbClr val="CBD5E1"/>
            </a:solidFill>
            <a:prstDash val="solid"/>
          </a:ln>
        </p:spPr>
        <p:txBody>
          <a:bodyPr/>
          <a:lstStyle/>
          <a:p>
            <a:endParaRPr lang="en-US"/>
          </a:p>
        </p:txBody>
      </p:sp>
      <p:sp>
        <p:nvSpPr>
          <p:cNvPr id="77" name="Rectangle 76">
            <a:extLst>
              <a:ext uri="{FF2B5EF4-FFF2-40B4-BE49-F238E27FC236}">
                <a16:creationId xmlns:a16="http://schemas.microsoft.com/office/drawing/2014/main" id="{0D82031E-FC75-49AF-9196-495B5D397F8E}"/>
              </a:ext>
            </a:extLst>
          </p:cNvPr>
          <p:cNvSpPr>
            <a:spLocks noGrp="1"/>
          </p:cNvSpPr>
          <p:nvPr/>
        </p:nvSpPr>
        <p:spPr>
          <a:xfrm>
            <a:off x="8763000" y="36480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1.688</a:t>
            </a:r>
          </a:p>
        </p:txBody>
      </p:sp>
      <p:sp>
        <p:nvSpPr>
          <p:cNvPr id="78" name="Rectangle 77">
            <a:extLst>
              <a:ext uri="{FF2B5EF4-FFF2-40B4-BE49-F238E27FC236}">
                <a16:creationId xmlns:a16="http://schemas.microsoft.com/office/drawing/2014/main" id="{64E5B402-1BB8-4379-A7BB-C7EE3A60E5D6}"/>
              </a:ext>
            </a:extLst>
          </p:cNvPr>
          <p:cNvSpPr>
            <a:spLocks noGrp="1"/>
          </p:cNvSpPr>
          <p:nvPr/>
        </p:nvSpPr>
        <p:spPr>
          <a:xfrm>
            <a:off x="590550" y="3981450"/>
            <a:ext cx="3143250" cy="419100"/>
          </a:xfrm>
          <a:prstGeom prst="rect">
            <a:avLst/>
          </a:prstGeom>
          <a:solidFill>
            <a:srgbClr val="F1F5F9"/>
          </a:solidFill>
          <a:ln w="9525">
            <a:solidFill>
              <a:srgbClr val="CBD5E1"/>
            </a:solidFill>
            <a:prstDash val="solid"/>
          </a:ln>
        </p:spPr>
        <p:txBody>
          <a:bodyPr/>
          <a:lstStyle/>
          <a:p>
            <a:endParaRPr lang="en-US"/>
          </a:p>
        </p:txBody>
      </p:sp>
      <p:sp>
        <p:nvSpPr>
          <p:cNvPr id="79" name="Rectangle 78">
            <a:extLst>
              <a:ext uri="{FF2B5EF4-FFF2-40B4-BE49-F238E27FC236}">
                <a16:creationId xmlns:a16="http://schemas.microsoft.com/office/drawing/2014/main" id="{4B1B21E8-6236-4698-8A47-55B238B58E5B}"/>
              </a:ext>
            </a:extLst>
          </p:cNvPr>
          <p:cNvSpPr>
            <a:spLocks noGrp="1"/>
          </p:cNvSpPr>
          <p:nvPr/>
        </p:nvSpPr>
        <p:spPr>
          <a:xfrm>
            <a:off x="666750" y="40671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linear_attention_state_update_custom</a:t>
            </a:r>
          </a:p>
        </p:txBody>
      </p:sp>
      <p:sp>
        <p:nvSpPr>
          <p:cNvPr id="80" name="Rectangle 79">
            <a:extLst>
              <a:ext uri="{FF2B5EF4-FFF2-40B4-BE49-F238E27FC236}">
                <a16:creationId xmlns:a16="http://schemas.microsoft.com/office/drawing/2014/main" id="{445220DC-D5BC-4455-9CE3-0DCC168E8B0A}"/>
              </a:ext>
            </a:extLst>
          </p:cNvPr>
          <p:cNvSpPr>
            <a:spLocks noGrp="1"/>
          </p:cNvSpPr>
          <p:nvPr/>
        </p:nvSpPr>
        <p:spPr>
          <a:xfrm>
            <a:off x="3733800" y="3981450"/>
            <a:ext cx="1714500" cy="419100"/>
          </a:xfrm>
          <a:prstGeom prst="rect">
            <a:avLst/>
          </a:prstGeom>
          <a:solidFill>
            <a:srgbClr val="F1F5F9"/>
          </a:solidFill>
          <a:ln w="9525">
            <a:solidFill>
              <a:srgbClr val="CBD5E1"/>
            </a:solidFill>
            <a:prstDash val="solid"/>
          </a:ln>
        </p:spPr>
        <p:txBody>
          <a:bodyPr/>
          <a:lstStyle/>
          <a:p>
            <a:endParaRPr lang="en-US"/>
          </a:p>
        </p:txBody>
      </p:sp>
      <p:sp>
        <p:nvSpPr>
          <p:cNvPr id="81" name="Rectangle 80">
            <a:extLst>
              <a:ext uri="{FF2B5EF4-FFF2-40B4-BE49-F238E27FC236}">
                <a16:creationId xmlns:a16="http://schemas.microsoft.com/office/drawing/2014/main" id="{E99A3644-CEB3-4A89-BD81-9DB2B75EFF77}"/>
              </a:ext>
            </a:extLst>
          </p:cNvPr>
          <p:cNvSpPr>
            <a:spLocks noGrp="1"/>
          </p:cNvSpPr>
          <p:nvPr/>
        </p:nvSpPr>
        <p:spPr>
          <a:xfrm>
            <a:off x="3810000" y="40671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linear state</a:t>
            </a:r>
          </a:p>
        </p:txBody>
      </p:sp>
      <p:sp>
        <p:nvSpPr>
          <p:cNvPr id="82" name="Rectangle 81">
            <a:extLst>
              <a:ext uri="{FF2B5EF4-FFF2-40B4-BE49-F238E27FC236}">
                <a16:creationId xmlns:a16="http://schemas.microsoft.com/office/drawing/2014/main" id="{9489ACBB-A796-43DD-96D0-3E774ABA495D}"/>
              </a:ext>
            </a:extLst>
          </p:cNvPr>
          <p:cNvSpPr>
            <a:spLocks noGrp="1"/>
          </p:cNvSpPr>
          <p:nvPr/>
        </p:nvSpPr>
        <p:spPr>
          <a:xfrm>
            <a:off x="5448300" y="3981450"/>
            <a:ext cx="857250" cy="419100"/>
          </a:xfrm>
          <a:prstGeom prst="rect">
            <a:avLst/>
          </a:prstGeom>
          <a:solidFill>
            <a:srgbClr val="F1F5F9"/>
          </a:solidFill>
          <a:ln w="9525">
            <a:solidFill>
              <a:srgbClr val="CBD5E1"/>
            </a:solidFill>
            <a:prstDash val="solid"/>
          </a:ln>
        </p:spPr>
        <p:txBody>
          <a:bodyPr/>
          <a:lstStyle/>
          <a:p>
            <a:endParaRPr lang="en-US"/>
          </a:p>
        </p:txBody>
      </p:sp>
      <p:sp>
        <p:nvSpPr>
          <p:cNvPr id="83" name="Rectangle 82">
            <a:extLst>
              <a:ext uri="{FF2B5EF4-FFF2-40B4-BE49-F238E27FC236}">
                <a16:creationId xmlns:a16="http://schemas.microsoft.com/office/drawing/2014/main" id="{8AF6474C-5A23-4D76-9589-18FAACBBBA23}"/>
              </a:ext>
            </a:extLst>
          </p:cNvPr>
          <p:cNvSpPr>
            <a:spLocks noGrp="1"/>
          </p:cNvSpPr>
          <p:nvPr/>
        </p:nvSpPr>
        <p:spPr>
          <a:xfrm>
            <a:off x="5524500" y="40671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84" name="Rectangle 83">
            <a:extLst>
              <a:ext uri="{FF2B5EF4-FFF2-40B4-BE49-F238E27FC236}">
                <a16:creationId xmlns:a16="http://schemas.microsoft.com/office/drawing/2014/main" id="{91DD04AC-439A-49F0-9921-A8538FD306B0}"/>
              </a:ext>
            </a:extLst>
          </p:cNvPr>
          <p:cNvSpPr>
            <a:spLocks noGrp="1"/>
          </p:cNvSpPr>
          <p:nvPr/>
        </p:nvSpPr>
        <p:spPr>
          <a:xfrm>
            <a:off x="6305550" y="3981450"/>
            <a:ext cx="952500" cy="419100"/>
          </a:xfrm>
          <a:prstGeom prst="rect">
            <a:avLst/>
          </a:prstGeom>
          <a:solidFill>
            <a:srgbClr val="F1F5F9"/>
          </a:solidFill>
          <a:ln w="9525">
            <a:solidFill>
              <a:srgbClr val="CBD5E1"/>
            </a:solidFill>
            <a:prstDash val="solid"/>
          </a:ln>
        </p:spPr>
        <p:txBody>
          <a:bodyPr/>
          <a:lstStyle/>
          <a:p>
            <a:endParaRPr lang="en-US"/>
          </a:p>
        </p:txBody>
      </p:sp>
      <p:sp>
        <p:nvSpPr>
          <p:cNvPr id="85" name="Rectangle 84">
            <a:extLst>
              <a:ext uri="{FF2B5EF4-FFF2-40B4-BE49-F238E27FC236}">
                <a16:creationId xmlns:a16="http://schemas.microsoft.com/office/drawing/2014/main" id="{E5D9C805-C2BA-4F6D-942E-0AA14D5FD604}"/>
              </a:ext>
            </a:extLst>
          </p:cNvPr>
          <p:cNvSpPr>
            <a:spLocks noGrp="1"/>
          </p:cNvSpPr>
          <p:nvPr/>
        </p:nvSpPr>
        <p:spPr>
          <a:xfrm>
            <a:off x="6381750" y="40671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18432</a:t>
            </a:r>
          </a:p>
        </p:txBody>
      </p:sp>
      <p:sp>
        <p:nvSpPr>
          <p:cNvPr id="86" name="Rectangle 85">
            <a:extLst>
              <a:ext uri="{FF2B5EF4-FFF2-40B4-BE49-F238E27FC236}">
                <a16:creationId xmlns:a16="http://schemas.microsoft.com/office/drawing/2014/main" id="{5F4AEF6C-A785-410D-871E-2BB36B67BC7A}"/>
              </a:ext>
            </a:extLst>
          </p:cNvPr>
          <p:cNvSpPr>
            <a:spLocks noGrp="1"/>
          </p:cNvSpPr>
          <p:nvPr/>
        </p:nvSpPr>
        <p:spPr>
          <a:xfrm>
            <a:off x="7258050" y="3981450"/>
            <a:ext cx="1428750" cy="419100"/>
          </a:xfrm>
          <a:prstGeom prst="rect">
            <a:avLst/>
          </a:prstGeom>
          <a:solidFill>
            <a:srgbClr val="F1F5F9"/>
          </a:solidFill>
          <a:ln w="9525">
            <a:solidFill>
              <a:srgbClr val="CBD5E1"/>
            </a:solidFill>
            <a:prstDash val="solid"/>
          </a:ln>
        </p:spPr>
        <p:txBody>
          <a:bodyPr/>
          <a:lstStyle/>
          <a:p>
            <a:endParaRPr lang="en-US"/>
          </a:p>
        </p:txBody>
      </p:sp>
      <p:sp>
        <p:nvSpPr>
          <p:cNvPr id="87" name="Rectangle 86">
            <a:extLst>
              <a:ext uri="{FF2B5EF4-FFF2-40B4-BE49-F238E27FC236}">
                <a16:creationId xmlns:a16="http://schemas.microsoft.com/office/drawing/2014/main" id="{82002369-2B60-49DE-9201-02A9139FA2F6}"/>
              </a:ext>
            </a:extLst>
          </p:cNvPr>
          <p:cNvSpPr>
            <a:spLocks noGrp="1"/>
          </p:cNvSpPr>
          <p:nvPr/>
        </p:nvSpPr>
        <p:spPr>
          <a:xfrm>
            <a:off x="7334250" y="40671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30394.7</a:t>
            </a:r>
          </a:p>
        </p:txBody>
      </p:sp>
      <p:sp>
        <p:nvSpPr>
          <p:cNvPr id="88" name="Rectangle 87">
            <a:extLst>
              <a:ext uri="{FF2B5EF4-FFF2-40B4-BE49-F238E27FC236}">
                <a16:creationId xmlns:a16="http://schemas.microsoft.com/office/drawing/2014/main" id="{6F399CF0-90BD-4040-B006-09818D4B32F6}"/>
              </a:ext>
            </a:extLst>
          </p:cNvPr>
          <p:cNvSpPr>
            <a:spLocks noGrp="1"/>
          </p:cNvSpPr>
          <p:nvPr/>
        </p:nvSpPr>
        <p:spPr>
          <a:xfrm>
            <a:off x="8686800" y="3981450"/>
            <a:ext cx="1428750" cy="419100"/>
          </a:xfrm>
          <a:prstGeom prst="rect">
            <a:avLst/>
          </a:prstGeom>
          <a:solidFill>
            <a:srgbClr val="F1F5F9"/>
          </a:solidFill>
          <a:ln w="9525">
            <a:solidFill>
              <a:srgbClr val="CBD5E1"/>
            </a:solidFill>
            <a:prstDash val="solid"/>
          </a:ln>
        </p:spPr>
        <p:txBody>
          <a:bodyPr/>
          <a:lstStyle/>
          <a:p>
            <a:endParaRPr lang="en-US"/>
          </a:p>
        </p:txBody>
      </p:sp>
      <p:sp>
        <p:nvSpPr>
          <p:cNvPr id="89" name="Rectangle 88">
            <a:extLst>
              <a:ext uri="{FF2B5EF4-FFF2-40B4-BE49-F238E27FC236}">
                <a16:creationId xmlns:a16="http://schemas.microsoft.com/office/drawing/2014/main" id="{BB0FC9D6-AE26-4233-887D-855428B0FBC4}"/>
              </a:ext>
            </a:extLst>
          </p:cNvPr>
          <p:cNvSpPr>
            <a:spLocks noGrp="1"/>
          </p:cNvSpPr>
          <p:nvPr/>
        </p:nvSpPr>
        <p:spPr>
          <a:xfrm>
            <a:off x="8763000" y="40671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1.649</a:t>
            </a:r>
          </a:p>
        </p:txBody>
      </p:sp>
      <p:sp>
        <p:nvSpPr>
          <p:cNvPr id="90" name="Rectangle 89">
            <a:extLst>
              <a:ext uri="{FF2B5EF4-FFF2-40B4-BE49-F238E27FC236}">
                <a16:creationId xmlns:a16="http://schemas.microsoft.com/office/drawing/2014/main" id="{BC43BB36-42B8-46FA-91CE-DA08C08AB7FF}"/>
              </a:ext>
            </a:extLst>
          </p:cNvPr>
          <p:cNvSpPr>
            <a:spLocks noGrp="1"/>
          </p:cNvSpPr>
          <p:nvPr/>
        </p:nvSpPr>
        <p:spPr>
          <a:xfrm>
            <a:off x="590550" y="4400550"/>
            <a:ext cx="3143250" cy="419100"/>
          </a:xfrm>
          <a:prstGeom prst="rect">
            <a:avLst/>
          </a:prstGeom>
          <a:solidFill>
            <a:srgbClr val="FFFFFF"/>
          </a:solidFill>
          <a:ln w="9525">
            <a:solidFill>
              <a:srgbClr val="CBD5E1"/>
            </a:solidFill>
            <a:prstDash val="solid"/>
          </a:ln>
        </p:spPr>
        <p:txBody>
          <a:bodyPr/>
          <a:lstStyle/>
          <a:p>
            <a:endParaRPr lang="en-US"/>
          </a:p>
        </p:txBody>
      </p:sp>
      <p:sp>
        <p:nvSpPr>
          <p:cNvPr id="91" name="Rectangle 90">
            <a:extLst>
              <a:ext uri="{FF2B5EF4-FFF2-40B4-BE49-F238E27FC236}">
                <a16:creationId xmlns:a16="http://schemas.microsoft.com/office/drawing/2014/main" id="{C7C690D6-48EC-455E-971A-36CE0E71683A}"/>
              </a:ext>
            </a:extLst>
          </p:cNvPr>
          <p:cNvSpPr>
            <a:spLocks noGrp="1"/>
          </p:cNvSpPr>
          <p:nvPr/>
        </p:nvSpPr>
        <p:spPr>
          <a:xfrm>
            <a:off x="666750" y="44862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lm_head_custom</a:t>
            </a:r>
          </a:p>
        </p:txBody>
      </p:sp>
      <p:sp>
        <p:nvSpPr>
          <p:cNvPr id="92" name="Rectangle 91">
            <a:extLst>
              <a:ext uri="{FF2B5EF4-FFF2-40B4-BE49-F238E27FC236}">
                <a16:creationId xmlns:a16="http://schemas.microsoft.com/office/drawing/2014/main" id="{714F3AEA-9BA7-4406-8477-1535C24BD359}"/>
              </a:ext>
            </a:extLst>
          </p:cNvPr>
          <p:cNvSpPr>
            <a:spLocks noGrp="1"/>
          </p:cNvSpPr>
          <p:nvPr/>
        </p:nvSpPr>
        <p:spPr>
          <a:xfrm>
            <a:off x="3733800" y="4400550"/>
            <a:ext cx="1714500" cy="419100"/>
          </a:xfrm>
          <a:prstGeom prst="rect">
            <a:avLst/>
          </a:prstGeom>
          <a:solidFill>
            <a:srgbClr val="FFFFFF"/>
          </a:solidFill>
          <a:ln w="9525">
            <a:solidFill>
              <a:srgbClr val="CBD5E1"/>
            </a:solidFill>
            <a:prstDash val="solid"/>
          </a:ln>
        </p:spPr>
        <p:txBody>
          <a:bodyPr/>
          <a:lstStyle/>
          <a:p>
            <a:endParaRPr lang="en-US"/>
          </a:p>
        </p:txBody>
      </p:sp>
      <p:sp>
        <p:nvSpPr>
          <p:cNvPr id="93" name="Rectangle 92">
            <a:extLst>
              <a:ext uri="{FF2B5EF4-FFF2-40B4-BE49-F238E27FC236}">
                <a16:creationId xmlns:a16="http://schemas.microsoft.com/office/drawing/2014/main" id="{0EC545AC-5D12-4ABA-9A52-B51890FC133A}"/>
              </a:ext>
            </a:extLst>
          </p:cNvPr>
          <p:cNvSpPr>
            <a:spLocks noGrp="1"/>
          </p:cNvSpPr>
          <p:nvPr/>
        </p:nvSpPr>
        <p:spPr>
          <a:xfrm>
            <a:off x="3810000" y="44862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lm_head</a:t>
            </a:r>
          </a:p>
        </p:txBody>
      </p:sp>
      <p:sp>
        <p:nvSpPr>
          <p:cNvPr id="94" name="Rectangle 93">
            <a:extLst>
              <a:ext uri="{FF2B5EF4-FFF2-40B4-BE49-F238E27FC236}">
                <a16:creationId xmlns:a16="http://schemas.microsoft.com/office/drawing/2014/main" id="{123E0CD8-17D7-4CA2-B8A9-42AC2A7B2120}"/>
              </a:ext>
            </a:extLst>
          </p:cNvPr>
          <p:cNvSpPr>
            <a:spLocks noGrp="1"/>
          </p:cNvSpPr>
          <p:nvPr/>
        </p:nvSpPr>
        <p:spPr>
          <a:xfrm>
            <a:off x="5448300" y="4400550"/>
            <a:ext cx="857250" cy="419100"/>
          </a:xfrm>
          <a:prstGeom prst="rect">
            <a:avLst/>
          </a:prstGeom>
          <a:solidFill>
            <a:srgbClr val="FFFFFF"/>
          </a:solidFill>
          <a:ln w="9525">
            <a:solidFill>
              <a:srgbClr val="CBD5E1"/>
            </a:solidFill>
            <a:prstDash val="solid"/>
          </a:ln>
        </p:spPr>
        <p:txBody>
          <a:bodyPr/>
          <a:lstStyle/>
          <a:p>
            <a:endParaRPr lang="en-US"/>
          </a:p>
        </p:txBody>
      </p:sp>
      <p:sp>
        <p:nvSpPr>
          <p:cNvPr id="95" name="Rectangle 94">
            <a:extLst>
              <a:ext uri="{FF2B5EF4-FFF2-40B4-BE49-F238E27FC236}">
                <a16:creationId xmlns:a16="http://schemas.microsoft.com/office/drawing/2014/main" id="{A7230882-FB22-43F2-B550-C67FDA682A50}"/>
              </a:ext>
            </a:extLst>
          </p:cNvPr>
          <p:cNvSpPr>
            <a:spLocks noGrp="1"/>
          </p:cNvSpPr>
          <p:nvPr/>
        </p:nvSpPr>
        <p:spPr>
          <a:xfrm>
            <a:off x="5524500" y="44862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96" name="Rectangle 95">
            <a:extLst>
              <a:ext uri="{FF2B5EF4-FFF2-40B4-BE49-F238E27FC236}">
                <a16:creationId xmlns:a16="http://schemas.microsoft.com/office/drawing/2014/main" id="{9B4C0C1D-7FE3-40ED-98A6-D82285825A6E}"/>
              </a:ext>
            </a:extLst>
          </p:cNvPr>
          <p:cNvSpPr>
            <a:spLocks noGrp="1"/>
          </p:cNvSpPr>
          <p:nvPr/>
        </p:nvSpPr>
        <p:spPr>
          <a:xfrm>
            <a:off x="6305550" y="4400550"/>
            <a:ext cx="952500" cy="419100"/>
          </a:xfrm>
          <a:prstGeom prst="rect">
            <a:avLst/>
          </a:prstGeom>
          <a:solidFill>
            <a:srgbClr val="FFFFFF"/>
          </a:solidFill>
          <a:ln w="9525">
            <a:solidFill>
              <a:srgbClr val="CBD5E1"/>
            </a:solidFill>
            <a:prstDash val="solid"/>
          </a:ln>
        </p:spPr>
        <p:txBody>
          <a:bodyPr/>
          <a:lstStyle/>
          <a:p>
            <a:endParaRPr lang="en-US"/>
          </a:p>
        </p:txBody>
      </p:sp>
      <p:sp>
        <p:nvSpPr>
          <p:cNvPr id="97" name="Rectangle 96">
            <a:extLst>
              <a:ext uri="{FF2B5EF4-FFF2-40B4-BE49-F238E27FC236}">
                <a16:creationId xmlns:a16="http://schemas.microsoft.com/office/drawing/2014/main" id="{C265F12F-D20A-40B1-B342-34602ABAC23C}"/>
              </a:ext>
            </a:extLst>
          </p:cNvPr>
          <p:cNvSpPr>
            <a:spLocks noGrp="1"/>
          </p:cNvSpPr>
          <p:nvPr/>
        </p:nvSpPr>
        <p:spPr>
          <a:xfrm>
            <a:off x="6381750" y="44862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256</a:t>
            </a:r>
          </a:p>
        </p:txBody>
      </p:sp>
      <p:sp>
        <p:nvSpPr>
          <p:cNvPr id="98" name="Rectangle 97">
            <a:extLst>
              <a:ext uri="{FF2B5EF4-FFF2-40B4-BE49-F238E27FC236}">
                <a16:creationId xmlns:a16="http://schemas.microsoft.com/office/drawing/2014/main" id="{28B53E65-0E60-48B4-B2D3-1C017D7A5793}"/>
              </a:ext>
            </a:extLst>
          </p:cNvPr>
          <p:cNvSpPr>
            <a:spLocks noGrp="1"/>
          </p:cNvSpPr>
          <p:nvPr/>
        </p:nvSpPr>
        <p:spPr>
          <a:xfrm>
            <a:off x="7258050" y="4400550"/>
            <a:ext cx="1428750" cy="419100"/>
          </a:xfrm>
          <a:prstGeom prst="rect">
            <a:avLst/>
          </a:prstGeom>
          <a:solidFill>
            <a:srgbClr val="FFFFFF"/>
          </a:solidFill>
          <a:ln w="9525">
            <a:solidFill>
              <a:srgbClr val="CBD5E1"/>
            </a:solidFill>
            <a:prstDash val="solid"/>
          </a:ln>
        </p:spPr>
        <p:txBody>
          <a:bodyPr/>
          <a:lstStyle/>
          <a:p>
            <a:endParaRPr lang="en-US"/>
          </a:p>
        </p:txBody>
      </p:sp>
      <p:sp>
        <p:nvSpPr>
          <p:cNvPr id="99" name="Rectangle 98">
            <a:extLst>
              <a:ext uri="{FF2B5EF4-FFF2-40B4-BE49-F238E27FC236}">
                <a16:creationId xmlns:a16="http://schemas.microsoft.com/office/drawing/2014/main" id="{F1BF47AB-F09F-4902-8225-9B22CA4F8E71}"/>
              </a:ext>
            </a:extLst>
          </p:cNvPr>
          <p:cNvSpPr>
            <a:spLocks noGrp="1"/>
          </p:cNvSpPr>
          <p:nvPr/>
        </p:nvSpPr>
        <p:spPr>
          <a:xfrm>
            <a:off x="7334250" y="44862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12108.0</a:t>
            </a:r>
          </a:p>
        </p:txBody>
      </p:sp>
      <p:sp>
        <p:nvSpPr>
          <p:cNvPr id="100" name="Rectangle 99">
            <a:extLst>
              <a:ext uri="{FF2B5EF4-FFF2-40B4-BE49-F238E27FC236}">
                <a16:creationId xmlns:a16="http://schemas.microsoft.com/office/drawing/2014/main" id="{92E0EA8B-9350-4481-A168-9DDB855417EB}"/>
              </a:ext>
            </a:extLst>
          </p:cNvPr>
          <p:cNvSpPr>
            <a:spLocks noGrp="1"/>
          </p:cNvSpPr>
          <p:nvPr/>
        </p:nvSpPr>
        <p:spPr>
          <a:xfrm>
            <a:off x="8686800" y="4400550"/>
            <a:ext cx="1428750" cy="419100"/>
          </a:xfrm>
          <a:prstGeom prst="rect">
            <a:avLst/>
          </a:prstGeom>
          <a:solidFill>
            <a:srgbClr val="FFFFFF"/>
          </a:solidFill>
          <a:ln w="9525">
            <a:solidFill>
              <a:srgbClr val="CBD5E1"/>
            </a:solidFill>
            <a:prstDash val="solid"/>
          </a:ln>
        </p:spPr>
        <p:txBody>
          <a:bodyPr/>
          <a:lstStyle/>
          <a:p>
            <a:endParaRPr lang="en-US"/>
          </a:p>
        </p:txBody>
      </p:sp>
      <p:sp>
        <p:nvSpPr>
          <p:cNvPr id="101" name="Rectangle 100">
            <a:extLst>
              <a:ext uri="{FF2B5EF4-FFF2-40B4-BE49-F238E27FC236}">
                <a16:creationId xmlns:a16="http://schemas.microsoft.com/office/drawing/2014/main" id="{48A08756-F585-4144-920D-7F47E72C9A24}"/>
              </a:ext>
            </a:extLst>
          </p:cNvPr>
          <p:cNvSpPr>
            <a:spLocks noGrp="1"/>
          </p:cNvSpPr>
          <p:nvPr/>
        </p:nvSpPr>
        <p:spPr>
          <a:xfrm>
            <a:off x="8763000" y="44862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47.297</a:t>
            </a:r>
          </a:p>
        </p:txBody>
      </p:sp>
      <p:sp>
        <p:nvSpPr>
          <p:cNvPr id="102" name="Rectangle 101">
            <a:extLst>
              <a:ext uri="{FF2B5EF4-FFF2-40B4-BE49-F238E27FC236}">
                <a16:creationId xmlns:a16="http://schemas.microsoft.com/office/drawing/2014/main" id="{3D22D3E1-BF8A-45BC-A7A1-B2562BCA85BC}"/>
              </a:ext>
            </a:extLst>
          </p:cNvPr>
          <p:cNvSpPr>
            <a:spLocks noGrp="1"/>
          </p:cNvSpPr>
          <p:nvPr/>
        </p:nvSpPr>
        <p:spPr>
          <a:xfrm>
            <a:off x="590550" y="4819650"/>
            <a:ext cx="3143250" cy="419100"/>
          </a:xfrm>
          <a:prstGeom prst="rect">
            <a:avLst/>
          </a:prstGeom>
          <a:solidFill>
            <a:srgbClr val="F1F5F9"/>
          </a:solidFill>
          <a:ln w="9525">
            <a:solidFill>
              <a:srgbClr val="CBD5E1"/>
            </a:solidFill>
            <a:prstDash val="solid"/>
          </a:ln>
        </p:spPr>
        <p:txBody>
          <a:bodyPr/>
          <a:lstStyle/>
          <a:p>
            <a:endParaRPr lang="en-US"/>
          </a:p>
        </p:txBody>
      </p:sp>
      <p:sp>
        <p:nvSpPr>
          <p:cNvPr id="103" name="Rectangle 102">
            <a:extLst>
              <a:ext uri="{FF2B5EF4-FFF2-40B4-BE49-F238E27FC236}">
                <a16:creationId xmlns:a16="http://schemas.microsoft.com/office/drawing/2014/main" id="{FAA80D76-4AB9-4316-A8A1-F98636B75CDA}"/>
              </a:ext>
            </a:extLst>
          </p:cNvPr>
          <p:cNvSpPr>
            <a:spLocks noGrp="1"/>
          </p:cNvSpPr>
          <p:nvPr/>
        </p:nvSpPr>
        <p:spPr>
          <a:xfrm>
            <a:off x="666750" y="4905375"/>
            <a:ext cx="2990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attention_score_custom</a:t>
            </a:r>
          </a:p>
        </p:txBody>
      </p:sp>
      <p:sp>
        <p:nvSpPr>
          <p:cNvPr id="104" name="Rectangle 103">
            <a:extLst>
              <a:ext uri="{FF2B5EF4-FFF2-40B4-BE49-F238E27FC236}">
                <a16:creationId xmlns:a16="http://schemas.microsoft.com/office/drawing/2014/main" id="{0A7177AC-6166-40E4-B760-3237F8077F43}"/>
              </a:ext>
            </a:extLst>
          </p:cNvPr>
          <p:cNvSpPr>
            <a:spLocks noGrp="1"/>
          </p:cNvSpPr>
          <p:nvPr/>
        </p:nvSpPr>
        <p:spPr>
          <a:xfrm>
            <a:off x="3733800" y="4819650"/>
            <a:ext cx="1714500" cy="419100"/>
          </a:xfrm>
          <a:prstGeom prst="rect">
            <a:avLst/>
          </a:prstGeom>
          <a:solidFill>
            <a:srgbClr val="F1F5F9"/>
          </a:solidFill>
          <a:ln w="9525">
            <a:solidFill>
              <a:srgbClr val="CBD5E1"/>
            </a:solidFill>
            <a:prstDash val="solid"/>
          </a:ln>
        </p:spPr>
        <p:txBody>
          <a:bodyPr/>
          <a:lstStyle/>
          <a:p>
            <a:endParaRPr lang="en-US"/>
          </a:p>
        </p:txBody>
      </p:sp>
      <p:sp>
        <p:nvSpPr>
          <p:cNvPr id="105" name="Rectangle 104">
            <a:extLst>
              <a:ext uri="{FF2B5EF4-FFF2-40B4-BE49-F238E27FC236}">
                <a16:creationId xmlns:a16="http://schemas.microsoft.com/office/drawing/2014/main" id="{71ADA933-8D74-4D0A-9232-0AEB4EB0F9F5}"/>
              </a:ext>
            </a:extLst>
          </p:cNvPr>
          <p:cNvSpPr>
            <a:spLocks noGrp="1"/>
          </p:cNvSpPr>
          <p:nvPr/>
        </p:nvSpPr>
        <p:spPr>
          <a:xfrm>
            <a:off x="3810000" y="4905375"/>
            <a:ext cx="1562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attention</a:t>
            </a:r>
          </a:p>
        </p:txBody>
      </p:sp>
      <p:sp>
        <p:nvSpPr>
          <p:cNvPr id="106" name="Rectangle 105">
            <a:extLst>
              <a:ext uri="{FF2B5EF4-FFF2-40B4-BE49-F238E27FC236}">
                <a16:creationId xmlns:a16="http://schemas.microsoft.com/office/drawing/2014/main" id="{D94ED5B4-AB23-4709-8B92-4439AE857421}"/>
              </a:ext>
            </a:extLst>
          </p:cNvPr>
          <p:cNvSpPr>
            <a:spLocks noGrp="1"/>
          </p:cNvSpPr>
          <p:nvPr/>
        </p:nvSpPr>
        <p:spPr>
          <a:xfrm>
            <a:off x="5448300" y="4819650"/>
            <a:ext cx="857250" cy="419100"/>
          </a:xfrm>
          <a:prstGeom prst="rect">
            <a:avLst/>
          </a:prstGeom>
          <a:solidFill>
            <a:srgbClr val="F1F5F9"/>
          </a:solidFill>
          <a:ln w="9525">
            <a:solidFill>
              <a:srgbClr val="CBD5E1"/>
            </a:solidFill>
            <a:prstDash val="solid"/>
          </a:ln>
        </p:spPr>
        <p:txBody>
          <a:bodyPr/>
          <a:lstStyle/>
          <a:p>
            <a:endParaRPr lang="en-US"/>
          </a:p>
        </p:txBody>
      </p:sp>
      <p:sp>
        <p:nvSpPr>
          <p:cNvPr id="107" name="Rectangle 106">
            <a:extLst>
              <a:ext uri="{FF2B5EF4-FFF2-40B4-BE49-F238E27FC236}">
                <a16:creationId xmlns:a16="http://schemas.microsoft.com/office/drawing/2014/main" id="{A57D6891-DD3E-484F-BEE9-EDB08FBB03AB}"/>
              </a:ext>
            </a:extLst>
          </p:cNvPr>
          <p:cNvSpPr>
            <a:spLocks noGrp="1"/>
          </p:cNvSpPr>
          <p:nvPr/>
        </p:nvSpPr>
        <p:spPr>
          <a:xfrm>
            <a:off x="5524500" y="4905375"/>
            <a:ext cx="7048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cpu</a:t>
            </a:r>
          </a:p>
        </p:txBody>
      </p:sp>
      <p:sp>
        <p:nvSpPr>
          <p:cNvPr id="108" name="Rectangle 107">
            <a:extLst>
              <a:ext uri="{FF2B5EF4-FFF2-40B4-BE49-F238E27FC236}">
                <a16:creationId xmlns:a16="http://schemas.microsoft.com/office/drawing/2014/main" id="{055468E8-8F21-490B-BF1F-AEE8E2BE4CBA}"/>
              </a:ext>
            </a:extLst>
          </p:cNvPr>
          <p:cNvSpPr>
            <a:spLocks noGrp="1"/>
          </p:cNvSpPr>
          <p:nvPr/>
        </p:nvSpPr>
        <p:spPr>
          <a:xfrm>
            <a:off x="6305550" y="4819650"/>
            <a:ext cx="952500" cy="419100"/>
          </a:xfrm>
          <a:prstGeom prst="rect">
            <a:avLst/>
          </a:prstGeom>
          <a:solidFill>
            <a:srgbClr val="F1F5F9"/>
          </a:solidFill>
          <a:ln w="9525">
            <a:solidFill>
              <a:srgbClr val="CBD5E1"/>
            </a:solidFill>
            <a:prstDash val="solid"/>
          </a:ln>
        </p:spPr>
        <p:txBody>
          <a:bodyPr/>
          <a:lstStyle/>
          <a:p>
            <a:endParaRPr lang="en-US"/>
          </a:p>
        </p:txBody>
      </p:sp>
      <p:sp>
        <p:nvSpPr>
          <p:cNvPr id="109" name="Rectangle 108">
            <a:extLst>
              <a:ext uri="{FF2B5EF4-FFF2-40B4-BE49-F238E27FC236}">
                <a16:creationId xmlns:a16="http://schemas.microsoft.com/office/drawing/2014/main" id="{D575C681-9816-46F2-9461-5E639B297927}"/>
              </a:ext>
            </a:extLst>
          </p:cNvPr>
          <p:cNvSpPr>
            <a:spLocks noGrp="1"/>
          </p:cNvSpPr>
          <p:nvPr/>
        </p:nvSpPr>
        <p:spPr>
          <a:xfrm>
            <a:off x="6381750" y="4905375"/>
            <a:ext cx="80010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6144</a:t>
            </a:r>
          </a:p>
        </p:txBody>
      </p:sp>
      <p:sp>
        <p:nvSpPr>
          <p:cNvPr id="110" name="Rectangle 109">
            <a:extLst>
              <a:ext uri="{FF2B5EF4-FFF2-40B4-BE49-F238E27FC236}">
                <a16:creationId xmlns:a16="http://schemas.microsoft.com/office/drawing/2014/main" id="{21AB9C98-E8C4-4B10-A197-0DC2A6272459}"/>
              </a:ext>
            </a:extLst>
          </p:cNvPr>
          <p:cNvSpPr>
            <a:spLocks noGrp="1"/>
          </p:cNvSpPr>
          <p:nvPr/>
        </p:nvSpPr>
        <p:spPr>
          <a:xfrm>
            <a:off x="7258050" y="4819650"/>
            <a:ext cx="1428750" cy="419100"/>
          </a:xfrm>
          <a:prstGeom prst="rect">
            <a:avLst/>
          </a:prstGeom>
          <a:solidFill>
            <a:srgbClr val="F1F5F9"/>
          </a:solidFill>
          <a:ln w="9525">
            <a:solidFill>
              <a:srgbClr val="CBD5E1"/>
            </a:solidFill>
            <a:prstDash val="solid"/>
          </a:ln>
        </p:spPr>
        <p:txBody>
          <a:bodyPr/>
          <a:lstStyle/>
          <a:p>
            <a:endParaRPr lang="en-US"/>
          </a:p>
        </p:txBody>
      </p:sp>
      <p:sp>
        <p:nvSpPr>
          <p:cNvPr id="111" name="Rectangle 110">
            <a:extLst>
              <a:ext uri="{FF2B5EF4-FFF2-40B4-BE49-F238E27FC236}">
                <a16:creationId xmlns:a16="http://schemas.microsoft.com/office/drawing/2014/main" id="{6A930A15-3797-40EF-AC21-3245C3EC4030}"/>
              </a:ext>
            </a:extLst>
          </p:cNvPr>
          <p:cNvSpPr>
            <a:spLocks noGrp="1"/>
          </p:cNvSpPr>
          <p:nvPr/>
        </p:nvSpPr>
        <p:spPr>
          <a:xfrm>
            <a:off x="7334250" y="49053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10389.6</a:t>
            </a:r>
          </a:p>
        </p:txBody>
      </p:sp>
      <p:sp>
        <p:nvSpPr>
          <p:cNvPr id="112" name="Rectangle 111">
            <a:extLst>
              <a:ext uri="{FF2B5EF4-FFF2-40B4-BE49-F238E27FC236}">
                <a16:creationId xmlns:a16="http://schemas.microsoft.com/office/drawing/2014/main" id="{0016081D-341C-4930-AD33-22134734EDAC}"/>
              </a:ext>
            </a:extLst>
          </p:cNvPr>
          <p:cNvSpPr>
            <a:spLocks noGrp="1"/>
          </p:cNvSpPr>
          <p:nvPr/>
        </p:nvSpPr>
        <p:spPr>
          <a:xfrm>
            <a:off x="8686800" y="4819650"/>
            <a:ext cx="1428750" cy="419100"/>
          </a:xfrm>
          <a:prstGeom prst="rect">
            <a:avLst/>
          </a:prstGeom>
          <a:solidFill>
            <a:srgbClr val="F1F5F9"/>
          </a:solidFill>
          <a:ln w="9525">
            <a:solidFill>
              <a:srgbClr val="CBD5E1"/>
            </a:solidFill>
            <a:prstDash val="solid"/>
          </a:ln>
        </p:spPr>
        <p:txBody>
          <a:bodyPr/>
          <a:lstStyle/>
          <a:p>
            <a:endParaRPr lang="en-US"/>
          </a:p>
        </p:txBody>
      </p:sp>
      <p:sp>
        <p:nvSpPr>
          <p:cNvPr id="113" name="Rectangle 112">
            <a:extLst>
              <a:ext uri="{FF2B5EF4-FFF2-40B4-BE49-F238E27FC236}">
                <a16:creationId xmlns:a16="http://schemas.microsoft.com/office/drawing/2014/main" id="{7B80239E-80CA-43C4-9012-B1772D8B5913}"/>
              </a:ext>
            </a:extLst>
          </p:cNvPr>
          <p:cNvSpPr>
            <a:spLocks noGrp="1"/>
          </p:cNvSpPr>
          <p:nvPr/>
        </p:nvSpPr>
        <p:spPr>
          <a:xfrm>
            <a:off x="8763000" y="4905375"/>
            <a:ext cx="1276350" cy="323850"/>
          </a:xfrm>
          <a:prstGeom prst="rect">
            <a:avLst/>
          </a:prstGeom>
          <a:noFill/>
          <a:ln w="0">
            <a:solidFill>
              <a:srgbClr val="000000">
                <a:alpha val="0"/>
              </a:srgbClr>
            </a:solidFill>
            <a:prstDash val="solid"/>
          </a:ln>
        </p:spPr>
        <p:txBody>
          <a:bodyPr/>
          <a:lstStyle/>
          <a:p>
            <a:pPr algn="l">
              <a:defRPr sz="825" b="0">
                <a:solidFill>
                  <a:srgbClr val="0F172A"/>
                </a:solidFill>
                <a:latin typeface="Aptos"/>
                <a:ea typeface="Aptos"/>
                <a:cs typeface="Aptos"/>
              </a:defRPr>
            </a:pPr>
            <a:r>
              <a:rPr sz="825" b="0">
                <a:solidFill>
                  <a:srgbClr val="0F172A"/>
                </a:solidFill>
                <a:latin typeface="Aptos"/>
                <a:ea typeface="Aptos"/>
                <a:cs typeface="Aptos"/>
              </a:rPr>
              <a:t>1.691</a:t>
            </a:r>
          </a:p>
        </p:txBody>
      </p:sp>
    </p:spTree>
    <p:extLst>
      <p:ext uri="{BB962C8B-B14F-4D97-AF65-F5344CB8AC3E}">
        <p14:creationId xmlns:p14="http://schemas.microsoft.com/office/powerpoint/2010/main" val="430368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AF122AFA-6667-4A5B-B837-9304AD5E8967}"/>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D2A64772-CAEC-4D91-9984-CF964686552A}"/>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Microbench isolates kernel cost, but it is not overall TPS</a:t>
            </a:r>
          </a:p>
        </p:txBody>
      </p:sp>
      <p:sp>
        <p:nvSpPr>
          <p:cNvPr id="3" name="Rectangle 2">
            <a:extLst>
              <a:ext uri="{FF2B5EF4-FFF2-40B4-BE49-F238E27FC236}">
                <a16:creationId xmlns:a16="http://schemas.microsoft.com/office/drawing/2014/main" id="{AD66745C-FAF4-4331-8B8A-323E10F378C9}"/>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20</a:t>
            </a:r>
          </a:p>
        </p:txBody>
      </p:sp>
      <p:sp>
        <p:nvSpPr>
          <p:cNvPr id="4" name="Rectangle 3">
            <a:extLst>
              <a:ext uri="{FF2B5EF4-FFF2-40B4-BE49-F238E27FC236}">
                <a16:creationId xmlns:a16="http://schemas.microsoft.com/office/drawing/2014/main" id="{668406F9-E821-4600-8D44-54CD0649524C}"/>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25A61695-7E72-44B8-AE05-35946FD0A0D3}"/>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96AF9DAD-A8D9-44F6-B296-5083D386418A}"/>
              </a:ext>
            </a:extLst>
          </p:cNvPr>
          <p:cNvSpPr>
            <a:spLocks noGrp="1"/>
          </p:cNvSpPr>
          <p:nvPr/>
        </p:nvSpPr>
        <p:spPr>
          <a:xfrm>
            <a:off x="590550" y="1466850"/>
            <a:ext cx="4000500" cy="47625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D7F5E8AD-3986-41C8-B80A-BF20FFAA3FE7}"/>
              </a:ext>
            </a:extLst>
          </p:cNvPr>
          <p:cNvSpPr>
            <a:spLocks noGrp="1"/>
          </p:cNvSpPr>
          <p:nvPr/>
        </p:nvSpPr>
        <p:spPr>
          <a:xfrm>
            <a:off x="666750" y="1562100"/>
            <a:ext cx="3848100" cy="3619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Microbench</a:t>
            </a:r>
          </a:p>
        </p:txBody>
      </p:sp>
      <p:sp>
        <p:nvSpPr>
          <p:cNvPr id="8" name="Rectangle 7">
            <a:extLst>
              <a:ext uri="{FF2B5EF4-FFF2-40B4-BE49-F238E27FC236}">
                <a16:creationId xmlns:a16="http://schemas.microsoft.com/office/drawing/2014/main" id="{F1697655-7B97-4D11-A56C-69454A9B830F}"/>
              </a:ext>
            </a:extLst>
          </p:cNvPr>
          <p:cNvSpPr>
            <a:spLocks noGrp="1"/>
          </p:cNvSpPr>
          <p:nvPr/>
        </p:nvSpPr>
        <p:spPr>
          <a:xfrm>
            <a:off x="4591050" y="1466850"/>
            <a:ext cx="1047750" cy="47625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11A17488-3478-465B-9B89-71299235B380}"/>
              </a:ext>
            </a:extLst>
          </p:cNvPr>
          <p:cNvSpPr>
            <a:spLocks noGrp="1"/>
          </p:cNvSpPr>
          <p:nvPr/>
        </p:nvSpPr>
        <p:spPr>
          <a:xfrm>
            <a:off x="4667250" y="1562100"/>
            <a:ext cx="895350" cy="3619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Backend</a:t>
            </a:r>
          </a:p>
        </p:txBody>
      </p:sp>
      <p:sp>
        <p:nvSpPr>
          <p:cNvPr id="10" name="Rectangle 9">
            <a:extLst>
              <a:ext uri="{FF2B5EF4-FFF2-40B4-BE49-F238E27FC236}">
                <a16:creationId xmlns:a16="http://schemas.microsoft.com/office/drawing/2014/main" id="{888BA645-4F9B-42BB-A5C6-A3D1D1E83B79}"/>
              </a:ext>
            </a:extLst>
          </p:cNvPr>
          <p:cNvSpPr>
            <a:spLocks noGrp="1"/>
          </p:cNvSpPr>
          <p:nvPr/>
        </p:nvSpPr>
        <p:spPr>
          <a:xfrm>
            <a:off x="5638800" y="1466850"/>
            <a:ext cx="1238250" cy="47625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4ECA19F0-B4CF-4D72-B242-0C6C09837E41}"/>
              </a:ext>
            </a:extLst>
          </p:cNvPr>
          <p:cNvSpPr>
            <a:spLocks noGrp="1"/>
          </p:cNvSpPr>
          <p:nvPr/>
        </p:nvSpPr>
        <p:spPr>
          <a:xfrm>
            <a:off x="5715000" y="1562100"/>
            <a:ext cx="1085850" cy="3619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Mean ms</a:t>
            </a:r>
          </a:p>
        </p:txBody>
      </p:sp>
      <p:sp>
        <p:nvSpPr>
          <p:cNvPr id="12" name="Rectangle 11">
            <a:extLst>
              <a:ext uri="{FF2B5EF4-FFF2-40B4-BE49-F238E27FC236}">
                <a16:creationId xmlns:a16="http://schemas.microsoft.com/office/drawing/2014/main" id="{A8E5AD49-7EBF-42C7-BAE5-2EEAB5210870}"/>
              </a:ext>
            </a:extLst>
          </p:cNvPr>
          <p:cNvSpPr>
            <a:spLocks noGrp="1"/>
          </p:cNvSpPr>
          <p:nvPr/>
        </p:nvSpPr>
        <p:spPr>
          <a:xfrm>
            <a:off x="6877050" y="1466850"/>
            <a:ext cx="4724400" cy="476250"/>
          </a:xfrm>
          <a:prstGeom prst="rect">
            <a:avLst/>
          </a:prstGeom>
          <a:solidFill>
            <a:srgbClr val="111827"/>
          </a:solidFill>
          <a:ln w="9525">
            <a:solidFill>
              <a:srgbClr val="111827"/>
            </a:solidFill>
            <a:prstDash val="solid"/>
          </a:ln>
        </p:spPr>
        <p:txBody>
          <a:bodyPr/>
          <a:lstStyle/>
          <a:p>
            <a:endParaRPr lang="en-US"/>
          </a:p>
        </p:txBody>
      </p:sp>
      <p:sp>
        <p:nvSpPr>
          <p:cNvPr id="13" name="Rectangle 12">
            <a:extLst>
              <a:ext uri="{FF2B5EF4-FFF2-40B4-BE49-F238E27FC236}">
                <a16:creationId xmlns:a16="http://schemas.microsoft.com/office/drawing/2014/main" id="{4E80626B-27CD-421F-B6B7-E23BB6C8D5C3}"/>
              </a:ext>
            </a:extLst>
          </p:cNvPr>
          <p:cNvSpPr>
            <a:spLocks noGrp="1"/>
          </p:cNvSpPr>
          <p:nvPr/>
        </p:nvSpPr>
        <p:spPr>
          <a:xfrm>
            <a:off x="6953250" y="1562100"/>
            <a:ext cx="4572000" cy="3619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What it isolates</a:t>
            </a:r>
          </a:p>
        </p:txBody>
      </p:sp>
      <p:sp>
        <p:nvSpPr>
          <p:cNvPr id="14" name="Rectangle 13">
            <a:extLst>
              <a:ext uri="{FF2B5EF4-FFF2-40B4-BE49-F238E27FC236}">
                <a16:creationId xmlns:a16="http://schemas.microsoft.com/office/drawing/2014/main" id="{0BC7A40E-F84A-4A71-AE57-983FF930AD90}"/>
              </a:ext>
            </a:extLst>
          </p:cNvPr>
          <p:cNvSpPr>
            <a:spLocks noGrp="1"/>
          </p:cNvSpPr>
          <p:nvPr/>
        </p:nvSpPr>
        <p:spPr>
          <a:xfrm>
            <a:off x="590550" y="1943100"/>
            <a:ext cx="4000500" cy="476250"/>
          </a:xfrm>
          <a:prstGeom prst="rect">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51971904-FCA6-4539-B9A1-C246764C7409}"/>
              </a:ext>
            </a:extLst>
          </p:cNvPr>
          <p:cNvSpPr>
            <a:spLocks noGrp="1"/>
          </p:cNvSpPr>
          <p:nvPr/>
        </p:nvSpPr>
        <p:spPr>
          <a:xfrm>
            <a:off x="666750" y="202882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gemv_w4a16_attn_4096x4096</a:t>
            </a:r>
          </a:p>
        </p:txBody>
      </p:sp>
      <p:sp>
        <p:nvSpPr>
          <p:cNvPr id="16" name="Rectangle 15">
            <a:extLst>
              <a:ext uri="{FF2B5EF4-FFF2-40B4-BE49-F238E27FC236}">
                <a16:creationId xmlns:a16="http://schemas.microsoft.com/office/drawing/2014/main" id="{8B43CE7A-E32C-43CD-B20E-A833E7D127D3}"/>
              </a:ext>
            </a:extLst>
          </p:cNvPr>
          <p:cNvSpPr>
            <a:spLocks noGrp="1"/>
          </p:cNvSpPr>
          <p:nvPr/>
        </p:nvSpPr>
        <p:spPr>
          <a:xfrm>
            <a:off x="4591050" y="1943100"/>
            <a:ext cx="1047750" cy="476250"/>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308150EC-183D-420C-A531-D8B5F0F42C50}"/>
              </a:ext>
            </a:extLst>
          </p:cNvPr>
          <p:cNvSpPr>
            <a:spLocks noGrp="1"/>
          </p:cNvSpPr>
          <p:nvPr/>
        </p:nvSpPr>
        <p:spPr>
          <a:xfrm>
            <a:off x="4667250" y="202882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18" name="Rectangle 17">
            <a:extLst>
              <a:ext uri="{FF2B5EF4-FFF2-40B4-BE49-F238E27FC236}">
                <a16:creationId xmlns:a16="http://schemas.microsoft.com/office/drawing/2014/main" id="{2A320251-83DA-42BD-A921-2263EF985C1A}"/>
              </a:ext>
            </a:extLst>
          </p:cNvPr>
          <p:cNvSpPr>
            <a:spLocks noGrp="1"/>
          </p:cNvSpPr>
          <p:nvPr/>
        </p:nvSpPr>
        <p:spPr>
          <a:xfrm>
            <a:off x="5638800" y="1943100"/>
            <a:ext cx="1238250" cy="476250"/>
          </a:xfrm>
          <a:prstGeom prst="rect">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4708BD2A-64D3-41BB-AFC6-0F5BA2E0218C}"/>
              </a:ext>
            </a:extLst>
          </p:cNvPr>
          <p:cNvSpPr>
            <a:spLocks noGrp="1"/>
          </p:cNvSpPr>
          <p:nvPr/>
        </p:nvSpPr>
        <p:spPr>
          <a:xfrm>
            <a:off x="5715000" y="202882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1.10762</a:t>
            </a:r>
          </a:p>
        </p:txBody>
      </p:sp>
      <p:sp>
        <p:nvSpPr>
          <p:cNvPr id="20" name="Rectangle 19">
            <a:extLst>
              <a:ext uri="{FF2B5EF4-FFF2-40B4-BE49-F238E27FC236}">
                <a16:creationId xmlns:a16="http://schemas.microsoft.com/office/drawing/2014/main" id="{B48F0EF1-AFF5-4083-BBFE-ACE91059695F}"/>
              </a:ext>
            </a:extLst>
          </p:cNvPr>
          <p:cNvSpPr>
            <a:spLocks noGrp="1"/>
          </p:cNvSpPr>
          <p:nvPr/>
        </p:nvSpPr>
        <p:spPr>
          <a:xfrm>
            <a:off x="6877050" y="1943100"/>
            <a:ext cx="4724400" cy="476250"/>
          </a:xfrm>
          <a:prstGeom prst="rect">
            <a:avLst/>
          </a:prstGeom>
          <a:solidFill>
            <a:srgbClr val="FFFFFF"/>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C3521D5D-BBB4-45EF-8DB3-250A1331234E}"/>
              </a:ext>
            </a:extLst>
          </p:cNvPr>
          <p:cNvSpPr>
            <a:spLocks noGrp="1"/>
          </p:cNvSpPr>
          <p:nvPr/>
        </p:nvSpPr>
        <p:spPr>
          <a:xfrm>
            <a:off x="6953250" y="202882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attention/output projection GEMV</a:t>
            </a:r>
          </a:p>
        </p:txBody>
      </p:sp>
      <p:sp>
        <p:nvSpPr>
          <p:cNvPr id="22" name="Rectangle 21">
            <a:extLst>
              <a:ext uri="{FF2B5EF4-FFF2-40B4-BE49-F238E27FC236}">
                <a16:creationId xmlns:a16="http://schemas.microsoft.com/office/drawing/2014/main" id="{ED4CA2F4-7A6E-486E-A320-96F146EC8DB5}"/>
              </a:ext>
            </a:extLst>
          </p:cNvPr>
          <p:cNvSpPr>
            <a:spLocks noGrp="1"/>
          </p:cNvSpPr>
          <p:nvPr/>
        </p:nvSpPr>
        <p:spPr>
          <a:xfrm>
            <a:off x="590550" y="2419350"/>
            <a:ext cx="4000500" cy="476250"/>
          </a:xfrm>
          <a:prstGeom prst="rect">
            <a:avLst/>
          </a:prstGeom>
          <a:solidFill>
            <a:srgbClr val="F1F5F9"/>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BCCA8A48-317C-43C6-940E-07B8384FBA14}"/>
              </a:ext>
            </a:extLst>
          </p:cNvPr>
          <p:cNvSpPr>
            <a:spLocks noGrp="1"/>
          </p:cNvSpPr>
          <p:nvPr/>
        </p:nvSpPr>
        <p:spPr>
          <a:xfrm>
            <a:off x="666750" y="250507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gemv_w4a16_mlp_up_12288x4096</a:t>
            </a:r>
          </a:p>
        </p:txBody>
      </p:sp>
      <p:sp>
        <p:nvSpPr>
          <p:cNvPr id="24" name="Rectangle 23">
            <a:extLst>
              <a:ext uri="{FF2B5EF4-FFF2-40B4-BE49-F238E27FC236}">
                <a16:creationId xmlns:a16="http://schemas.microsoft.com/office/drawing/2014/main" id="{2DB3DD68-15A0-493C-A240-082491896C36}"/>
              </a:ext>
            </a:extLst>
          </p:cNvPr>
          <p:cNvSpPr>
            <a:spLocks noGrp="1"/>
          </p:cNvSpPr>
          <p:nvPr/>
        </p:nvSpPr>
        <p:spPr>
          <a:xfrm>
            <a:off x="4591050" y="2419350"/>
            <a:ext cx="1047750" cy="476250"/>
          </a:xfrm>
          <a:prstGeom prst="rect">
            <a:avLst/>
          </a:prstGeom>
          <a:solidFill>
            <a:srgbClr val="F1F5F9"/>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62EDFB35-C0D0-46EC-AB02-45A3CCCB28EF}"/>
              </a:ext>
            </a:extLst>
          </p:cNvPr>
          <p:cNvSpPr>
            <a:spLocks noGrp="1"/>
          </p:cNvSpPr>
          <p:nvPr/>
        </p:nvSpPr>
        <p:spPr>
          <a:xfrm>
            <a:off x="4667250" y="250507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26" name="Rectangle 25">
            <a:extLst>
              <a:ext uri="{FF2B5EF4-FFF2-40B4-BE49-F238E27FC236}">
                <a16:creationId xmlns:a16="http://schemas.microsoft.com/office/drawing/2014/main" id="{DA2F468F-4D8D-429B-8E5A-3D5F9FD8BB0B}"/>
              </a:ext>
            </a:extLst>
          </p:cNvPr>
          <p:cNvSpPr>
            <a:spLocks noGrp="1"/>
          </p:cNvSpPr>
          <p:nvPr/>
        </p:nvSpPr>
        <p:spPr>
          <a:xfrm>
            <a:off x="5638800" y="2419350"/>
            <a:ext cx="1238250" cy="476250"/>
          </a:xfrm>
          <a:prstGeom prst="rect">
            <a:avLst/>
          </a:prstGeom>
          <a:solidFill>
            <a:srgbClr val="F1F5F9"/>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E86DC255-04C2-42B7-833F-14E2B1FA3ACA}"/>
              </a:ext>
            </a:extLst>
          </p:cNvPr>
          <p:cNvSpPr>
            <a:spLocks noGrp="1"/>
          </p:cNvSpPr>
          <p:nvPr/>
        </p:nvSpPr>
        <p:spPr>
          <a:xfrm>
            <a:off x="5715000" y="250507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2.91837</a:t>
            </a:r>
          </a:p>
        </p:txBody>
      </p:sp>
      <p:sp>
        <p:nvSpPr>
          <p:cNvPr id="28" name="Rectangle 27">
            <a:extLst>
              <a:ext uri="{FF2B5EF4-FFF2-40B4-BE49-F238E27FC236}">
                <a16:creationId xmlns:a16="http://schemas.microsoft.com/office/drawing/2014/main" id="{0E9682EF-0D1E-45AF-932D-3CAF5ED0FE89}"/>
              </a:ext>
            </a:extLst>
          </p:cNvPr>
          <p:cNvSpPr>
            <a:spLocks noGrp="1"/>
          </p:cNvSpPr>
          <p:nvPr/>
        </p:nvSpPr>
        <p:spPr>
          <a:xfrm>
            <a:off x="6877050" y="2419350"/>
            <a:ext cx="4724400" cy="476250"/>
          </a:xfrm>
          <a:prstGeom prst="rect">
            <a:avLst/>
          </a:prstGeom>
          <a:solidFill>
            <a:srgbClr val="F1F5F9"/>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2342F7FA-F17F-49C1-B211-B03F4348571E}"/>
              </a:ext>
            </a:extLst>
          </p:cNvPr>
          <p:cNvSpPr>
            <a:spLocks noGrp="1"/>
          </p:cNvSpPr>
          <p:nvPr/>
        </p:nvSpPr>
        <p:spPr>
          <a:xfrm>
            <a:off x="6953250" y="250507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MLP gate/up projection</a:t>
            </a:r>
          </a:p>
        </p:txBody>
      </p:sp>
      <p:sp>
        <p:nvSpPr>
          <p:cNvPr id="30" name="Rectangle 29">
            <a:extLst>
              <a:ext uri="{FF2B5EF4-FFF2-40B4-BE49-F238E27FC236}">
                <a16:creationId xmlns:a16="http://schemas.microsoft.com/office/drawing/2014/main" id="{98FDC5AA-5388-47A6-89AE-F1FF0824029F}"/>
              </a:ext>
            </a:extLst>
          </p:cNvPr>
          <p:cNvSpPr>
            <a:spLocks noGrp="1"/>
          </p:cNvSpPr>
          <p:nvPr/>
        </p:nvSpPr>
        <p:spPr>
          <a:xfrm>
            <a:off x="590550" y="2895600"/>
            <a:ext cx="4000500" cy="476250"/>
          </a:xfrm>
          <a:prstGeom prst="rect">
            <a:avLst/>
          </a:prstGeom>
          <a:solidFill>
            <a:srgbClr val="FFFFFF"/>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3BE007BB-B48D-4762-9576-10F8F895495D}"/>
              </a:ext>
            </a:extLst>
          </p:cNvPr>
          <p:cNvSpPr>
            <a:spLocks noGrp="1"/>
          </p:cNvSpPr>
          <p:nvPr/>
        </p:nvSpPr>
        <p:spPr>
          <a:xfrm>
            <a:off x="666750" y="298132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gemv_w4a16_mlp_down_4096x12288</a:t>
            </a:r>
          </a:p>
        </p:txBody>
      </p:sp>
      <p:sp>
        <p:nvSpPr>
          <p:cNvPr id="32" name="Rectangle 31">
            <a:extLst>
              <a:ext uri="{FF2B5EF4-FFF2-40B4-BE49-F238E27FC236}">
                <a16:creationId xmlns:a16="http://schemas.microsoft.com/office/drawing/2014/main" id="{D81576C7-535E-4C1B-9131-69FF8B01E2AB}"/>
              </a:ext>
            </a:extLst>
          </p:cNvPr>
          <p:cNvSpPr>
            <a:spLocks noGrp="1"/>
          </p:cNvSpPr>
          <p:nvPr/>
        </p:nvSpPr>
        <p:spPr>
          <a:xfrm>
            <a:off x="4591050" y="2895600"/>
            <a:ext cx="1047750" cy="476250"/>
          </a:xfrm>
          <a:prstGeom prst="rect">
            <a:avLst/>
          </a:prstGeom>
          <a:solidFill>
            <a:srgbClr val="FFFFFF"/>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B15C5C2E-1628-43EA-BEFC-09176FDAE3C0}"/>
              </a:ext>
            </a:extLst>
          </p:cNvPr>
          <p:cNvSpPr>
            <a:spLocks noGrp="1"/>
          </p:cNvSpPr>
          <p:nvPr/>
        </p:nvSpPr>
        <p:spPr>
          <a:xfrm>
            <a:off x="4667250" y="298132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34" name="Rectangle 33">
            <a:extLst>
              <a:ext uri="{FF2B5EF4-FFF2-40B4-BE49-F238E27FC236}">
                <a16:creationId xmlns:a16="http://schemas.microsoft.com/office/drawing/2014/main" id="{9D10E726-2270-4891-9CD0-A7B6B71BC43F}"/>
              </a:ext>
            </a:extLst>
          </p:cNvPr>
          <p:cNvSpPr>
            <a:spLocks noGrp="1"/>
          </p:cNvSpPr>
          <p:nvPr/>
        </p:nvSpPr>
        <p:spPr>
          <a:xfrm>
            <a:off x="5638800" y="2895600"/>
            <a:ext cx="1238250" cy="476250"/>
          </a:xfrm>
          <a:prstGeom prst="rect">
            <a:avLst/>
          </a:prstGeom>
          <a:solidFill>
            <a:srgbClr val="FFFFFF"/>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8E8368AC-2FEC-4132-9B88-A670330DC995}"/>
              </a:ext>
            </a:extLst>
          </p:cNvPr>
          <p:cNvSpPr>
            <a:spLocks noGrp="1"/>
          </p:cNvSpPr>
          <p:nvPr/>
        </p:nvSpPr>
        <p:spPr>
          <a:xfrm>
            <a:off x="5715000" y="298132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3.07146</a:t>
            </a:r>
          </a:p>
        </p:txBody>
      </p:sp>
      <p:sp>
        <p:nvSpPr>
          <p:cNvPr id="36" name="Rectangle 35">
            <a:extLst>
              <a:ext uri="{FF2B5EF4-FFF2-40B4-BE49-F238E27FC236}">
                <a16:creationId xmlns:a16="http://schemas.microsoft.com/office/drawing/2014/main" id="{50144076-03CB-4C2B-B1FD-C789F433558E}"/>
              </a:ext>
            </a:extLst>
          </p:cNvPr>
          <p:cNvSpPr>
            <a:spLocks noGrp="1"/>
          </p:cNvSpPr>
          <p:nvPr/>
        </p:nvSpPr>
        <p:spPr>
          <a:xfrm>
            <a:off x="6877050" y="2895600"/>
            <a:ext cx="4724400" cy="476250"/>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325A7C26-BCFB-4029-BC3B-DA915375B43B}"/>
              </a:ext>
            </a:extLst>
          </p:cNvPr>
          <p:cNvSpPr>
            <a:spLocks noGrp="1"/>
          </p:cNvSpPr>
          <p:nvPr/>
        </p:nvSpPr>
        <p:spPr>
          <a:xfrm>
            <a:off x="6953250" y="298132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MLP down projection</a:t>
            </a:r>
          </a:p>
        </p:txBody>
      </p:sp>
      <p:sp>
        <p:nvSpPr>
          <p:cNvPr id="38" name="Rectangle 37">
            <a:extLst>
              <a:ext uri="{FF2B5EF4-FFF2-40B4-BE49-F238E27FC236}">
                <a16:creationId xmlns:a16="http://schemas.microsoft.com/office/drawing/2014/main" id="{1B971BB1-B388-4DF4-837A-2A8FAA918324}"/>
              </a:ext>
            </a:extLst>
          </p:cNvPr>
          <p:cNvSpPr>
            <a:spLocks noGrp="1"/>
          </p:cNvSpPr>
          <p:nvPr/>
        </p:nvSpPr>
        <p:spPr>
          <a:xfrm>
            <a:off x="590550" y="3371850"/>
            <a:ext cx="4000500" cy="476250"/>
          </a:xfrm>
          <a:prstGeom prst="rect">
            <a:avLst/>
          </a:prstGeom>
          <a:solidFill>
            <a:srgbClr val="F1F5F9"/>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19B3128A-E2E7-44C2-B3F6-4A63FE0CCC69}"/>
              </a:ext>
            </a:extLst>
          </p:cNvPr>
          <p:cNvSpPr>
            <a:spLocks noGrp="1"/>
          </p:cNvSpPr>
          <p:nvPr/>
        </p:nvSpPr>
        <p:spPr>
          <a:xfrm>
            <a:off x="666750" y="345757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rmsnorm_hidden4096</a:t>
            </a:r>
          </a:p>
        </p:txBody>
      </p:sp>
      <p:sp>
        <p:nvSpPr>
          <p:cNvPr id="40" name="Rectangle 39">
            <a:extLst>
              <a:ext uri="{FF2B5EF4-FFF2-40B4-BE49-F238E27FC236}">
                <a16:creationId xmlns:a16="http://schemas.microsoft.com/office/drawing/2014/main" id="{7D48CA25-160A-4E85-B06C-834CFEA3BB46}"/>
              </a:ext>
            </a:extLst>
          </p:cNvPr>
          <p:cNvSpPr>
            <a:spLocks noGrp="1"/>
          </p:cNvSpPr>
          <p:nvPr/>
        </p:nvSpPr>
        <p:spPr>
          <a:xfrm>
            <a:off x="4591050" y="3371850"/>
            <a:ext cx="1047750" cy="476250"/>
          </a:xfrm>
          <a:prstGeom prst="rect">
            <a:avLst/>
          </a:prstGeom>
          <a:solidFill>
            <a:srgbClr val="F1F5F9"/>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53D0D8FC-9F78-44B5-A52E-11790DC4FAB4}"/>
              </a:ext>
            </a:extLst>
          </p:cNvPr>
          <p:cNvSpPr>
            <a:spLocks noGrp="1"/>
          </p:cNvSpPr>
          <p:nvPr/>
        </p:nvSpPr>
        <p:spPr>
          <a:xfrm>
            <a:off x="4667250" y="345757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42" name="Rectangle 41">
            <a:extLst>
              <a:ext uri="{FF2B5EF4-FFF2-40B4-BE49-F238E27FC236}">
                <a16:creationId xmlns:a16="http://schemas.microsoft.com/office/drawing/2014/main" id="{6F554769-D7BC-4110-BE41-A5D89BAA7321}"/>
              </a:ext>
            </a:extLst>
          </p:cNvPr>
          <p:cNvSpPr>
            <a:spLocks noGrp="1"/>
          </p:cNvSpPr>
          <p:nvPr/>
        </p:nvSpPr>
        <p:spPr>
          <a:xfrm>
            <a:off x="5638800" y="3371850"/>
            <a:ext cx="1238250" cy="476250"/>
          </a:xfrm>
          <a:prstGeom prst="rect">
            <a:avLst/>
          </a:prstGeom>
          <a:solidFill>
            <a:srgbClr val="F1F5F9"/>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72BB39AF-BE34-4D72-871C-F411466702CC}"/>
              </a:ext>
            </a:extLst>
          </p:cNvPr>
          <p:cNvSpPr>
            <a:spLocks noGrp="1"/>
          </p:cNvSpPr>
          <p:nvPr/>
        </p:nvSpPr>
        <p:spPr>
          <a:xfrm>
            <a:off x="5715000" y="345757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0.00550</a:t>
            </a:r>
          </a:p>
        </p:txBody>
      </p:sp>
      <p:sp>
        <p:nvSpPr>
          <p:cNvPr id="44" name="Rectangle 43">
            <a:extLst>
              <a:ext uri="{FF2B5EF4-FFF2-40B4-BE49-F238E27FC236}">
                <a16:creationId xmlns:a16="http://schemas.microsoft.com/office/drawing/2014/main" id="{1B0E4860-69D1-446F-A631-95D76C1A4940}"/>
              </a:ext>
            </a:extLst>
          </p:cNvPr>
          <p:cNvSpPr>
            <a:spLocks noGrp="1"/>
          </p:cNvSpPr>
          <p:nvPr/>
        </p:nvSpPr>
        <p:spPr>
          <a:xfrm>
            <a:off x="6877050" y="3371850"/>
            <a:ext cx="4724400" cy="476250"/>
          </a:xfrm>
          <a:prstGeom prst="rect">
            <a:avLst/>
          </a:prstGeom>
          <a:solidFill>
            <a:srgbClr val="F1F5F9"/>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C72B9B4F-D693-4A46-BDEA-C94EF6C77809}"/>
              </a:ext>
            </a:extLst>
          </p:cNvPr>
          <p:cNvSpPr>
            <a:spLocks noGrp="1"/>
          </p:cNvSpPr>
          <p:nvPr/>
        </p:nvSpPr>
        <p:spPr>
          <a:xfrm>
            <a:off x="6953250" y="345757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RMSNorm math</a:t>
            </a:r>
          </a:p>
        </p:txBody>
      </p:sp>
      <p:sp>
        <p:nvSpPr>
          <p:cNvPr id="46" name="Rectangle 45">
            <a:extLst>
              <a:ext uri="{FF2B5EF4-FFF2-40B4-BE49-F238E27FC236}">
                <a16:creationId xmlns:a16="http://schemas.microsoft.com/office/drawing/2014/main" id="{1D9A658F-AFFA-49BA-8B20-66DB0676AC9C}"/>
              </a:ext>
            </a:extLst>
          </p:cNvPr>
          <p:cNvSpPr>
            <a:spLocks noGrp="1"/>
          </p:cNvSpPr>
          <p:nvPr/>
        </p:nvSpPr>
        <p:spPr>
          <a:xfrm>
            <a:off x="590550" y="3848100"/>
            <a:ext cx="4000500" cy="476250"/>
          </a:xfrm>
          <a:prstGeom prst="rect">
            <a:avLst/>
          </a:prstGeom>
          <a:solidFill>
            <a:srgbClr val="FFFFFF"/>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6B01B670-90F5-48D5-A5D2-6191A6D6CBFA}"/>
              </a:ext>
            </a:extLst>
          </p:cNvPr>
          <p:cNvSpPr>
            <a:spLocks noGrp="1"/>
          </p:cNvSpPr>
          <p:nvPr/>
        </p:nvSpPr>
        <p:spPr>
          <a:xfrm>
            <a:off x="666750" y="393382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rope_q_heads16_dim256_pos512</a:t>
            </a:r>
          </a:p>
        </p:txBody>
      </p:sp>
      <p:sp>
        <p:nvSpPr>
          <p:cNvPr id="48" name="Rectangle 47">
            <a:extLst>
              <a:ext uri="{FF2B5EF4-FFF2-40B4-BE49-F238E27FC236}">
                <a16:creationId xmlns:a16="http://schemas.microsoft.com/office/drawing/2014/main" id="{F548F745-E196-4AE3-B06E-672E521D7D2C}"/>
              </a:ext>
            </a:extLst>
          </p:cNvPr>
          <p:cNvSpPr>
            <a:spLocks noGrp="1"/>
          </p:cNvSpPr>
          <p:nvPr/>
        </p:nvSpPr>
        <p:spPr>
          <a:xfrm>
            <a:off x="4591050" y="3848100"/>
            <a:ext cx="1047750" cy="476250"/>
          </a:xfrm>
          <a:prstGeom prst="rect">
            <a:avLst/>
          </a:prstGeom>
          <a:solidFill>
            <a:srgbClr val="FFFFFF"/>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AF9226B5-9208-4D48-A416-C0D3F2BC1506}"/>
              </a:ext>
            </a:extLst>
          </p:cNvPr>
          <p:cNvSpPr>
            <a:spLocks noGrp="1"/>
          </p:cNvSpPr>
          <p:nvPr/>
        </p:nvSpPr>
        <p:spPr>
          <a:xfrm>
            <a:off x="4667250" y="393382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50" name="Rectangle 49">
            <a:extLst>
              <a:ext uri="{FF2B5EF4-FFF2-40B4-BE49-F238E27FC236}">
                <a16:creationId xmlns:a16="http://schemas.microsoft.com/office/drawing/2014/main" id="{86A0E9EC-0E1D-4357-AC15-E3D9359C864B}"/>
              </a:ext>
            </a:extLst>
          </p:cNvPr>
          <p:cNvSpPr>
            <a:spLocks noGrp="1"/>
          </p:cNvSpPr>
          <p:nvPr/>
        </p:nvSpPr>
        <p:spPr>
          <a:xfrm>
            <a:off x="5638800" y="3848100"/>
            <a:ext cx="1238250" cy="476250"/>
          </a:xfrm>
          <a:prstGeom prst="rect">
            <a:avLst/>
          </a:prstGeom>
          <a:solidFill>
            <a:srgbClr val="FFFFFF"/>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6F038CA7-57A7-4D69-A329-8A28CB00395C}"/>
              </a:ext>
            </a:extLst>
          </p:cNvPr>
          <p:cNvSpPr>
            <a:spLocks noGrp="1"/>
          </p:cNvSpPr>
          <p:nvPr/>
        </p:nvSpPr>
        <p:spPr>
          <a:xfrm>
            <a:off x="5715000" y="393382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0.03797</a:t>
            </a:r>
          </a:p>
        </p:txBody>
      </p:sp>
      <p:sp>
        <p:nvSpPr>
          <p:cNvPr id="52" name="Rectangle 51">
            <a:extLst>
              <a:ext uri="{FF2B5EF4-FFF2-40B4-BE49-F238E27FC236}">
                <a16:creationId xmlns:a16="http://schemas.microsoft.com/office/drawing/2014/main" id="{7ADF171D-90F3-4A5E-95D0-0609F31A8DA8}"/>
              </a:ext>
            </a:extLst>
          </p:cNvPr>
          <p:cNvSpPr>
            <a:spLocks noGrp="1"/>
          </p:cNvSpPr>
          <p:nvPr/>
        </p:nvSpPr>
        <p:spPr>
          <a:xfrm>
            <a:off x="6877050" y="3848100"/>
            <a:ext cx="4724400" cy="476250"/>
          </a:xfrm>
          <a:prstGeom prst="rect">
            <a:avLst/>
          </a:prstGeom>
          <a:solidFill>
            <a:srgbClr val="FFFFFF"/>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61EFE081-FE08-415C-A3E0-41D142FBE361}"/>
              </a:ext>
            </a:extLst>
          </p:cNvPr>
          <p:cNvSpPr>
            <a:spLocks noGrp="1"/>
          </p:cNvSpPr>
          <p:nvPr/>
        </p:nvSpPr>
        <p:spPr>
          <a:xfrm>
            <a:off x="6953250" y="393382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RoPE transform</a:t>
            </a:r>
          </a:p>
        </p:txBody>
      </p:sp>
      <p:sp>
        <p:nvSpPr>
          <p:cNvPr id="54" name="Rectangle 53">
            <a:extLst>
              <a:ext uri="{FF2B5EF4-FFF2-40B4-BE49-F238E27FC236}">
                <a16:creationId xmlns:a16="http://schemas.microsoft.com/office/drawing/2014/main" id="{24933E6F-4E39-49F6-A22D-396C2C8081C3}"/>
              </a:ext>
            </a:extLst>
          </p:cNvPr>
          <p:cNvSpPr>
            <a:spLocks noGrp="1"/>
          </p:cNvSpPr>
          <p:nvPr/>
        </p:nvSpPr>
        <p:spPr>
          <a:xfrm>
            <a:off x="590550" y="4324350"/>
            <a:ext cx="4000500" cy="476250"/>
          </a:xfrm>
          <a:prstGeom prst="rect">
            <a:avLst/>
          </a:prstGeom>
          <a:solidFill>
            <a:srgbClr val="F1F5F9"/>
          </a:solidFill>
          <a:ln w="9525">
            <a:solidFill>
              <a:srgbClr val="CBD5E1"/>
            </a:solidFill>
            <a:prstDash val="solid"/>
          </a:ln>
        </p:spPr>
        <p:txBody>
          <a:bodyPr/>
          <a:lstStyle/>
          <a:p>
            <a:endParaRPr lang="en-US"/>
          </a:p>
        </p:txBody>
      </p:sp>
      <p:sp>
        <p:nvSpPr>
          <p:cNvPr id="55" name="Rectangle 54">
            <a:extLst>
              <a:ext uri="{FF2B5EF4-FFF2-40B4-BE49-F238E27FC236}">
                <a16:creationId xmlns:a16="http://schemas.microsoft.com/office/drawing/2014/main" id="{02498BCB-8019-4F90-9E00-AEEC1FED99B7}"/>
              </a:ext>
            </a:extLst>
          </p:cNvPr>
          <p:cNvSpPr>
            <a:spLocks noGrp="1"/>
          </p:cNvSpPr>
          <p:nvPr/>
        </p:nvSpPr>
        <p:spPr>
          <a:xfrm>
            <a:off x="666750" y="441007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gqa_decode_ctx512_q16_kv4_dim256</a:t>
            </a:r>
          </a:p>
        </p:txBody>
      </p:sp>
      <p:sp>
        <p:nvSpPr>
          <p:cNvPr id="56" name="Rectangle 55">
            <a:extLst>
              <a:ext uri="{FF2B5EF4-FFF2-40B4-BE49-F238E27FC236}">
                <a16:creationId xmlns:a16="http://schemas.microsoft.com/office/drawing/2014/main" id="{9B0DBEA7-C082-41AA-9C48-4ED16CF0FAEF}"/>
              </a:ext>
            </a:extLst>
          </p:cNvPr>
          <p:cNvSpPr>
            <a:spLocks noGrp="1"/>
          </p:cNvSpPr>
          <p:nvPr/>
        </p:nvSpPr>
        <p:spPr>
          <a:xfrm>
            <a:off x="4591050" y="4324350"/>
            <a:ext cx="1047750" cy="476250"/>
          </a:xfrm>
          <a:prstGeom prst="rect">
            <a:avLst/>
          </a:prstGeom>
          <a:solidFill>
            <a:srgbClr val="F1F5F9"/>
          </a:solidFill>
          <a:ln w="9525">
            <a:solidFill>
              <a:srgbClr val="CBD5E1"/>
            </a:solidFill>
            <a:prstDash val="solid"/>
          </a:ln>
        </p:spPr>
        <p:txBody>
          <a:bodyPr/>
          <a:lstStyle/>
          <a:p>
            <a:endParaRPr lang="en-US"/>
          </a:p>
        </p:txBody>
      </p:sp>
      <p:sp>
        <p:nvSpPr>
          <p:cNvPr id="57" name="Rectangle 56">
            <a:extLst>
              <a:ext uri="{FF2B5EF4-FFF2-40B4-BE49-F238E27FC236}">
                <a16:creationId xmlns:a16="http://schemas.microsoft.com/office/drawing/2014/main" id="{55F7E3DC-F664-48FA-B654-A0DC7618658E}"/>
              </a:ext>
            </a:extLst>
          </p:cNvPr>
          <p:cNvSpPr>
            <a:spLocks noGrp="1"/>
          </p:cNvSpPr>
          <p:nvPr/>
        </p:nvSpPr>
        <p:spPr>
          <a:xfrm>
            <a:off x="4667250" y="441007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58" name="Rectangle 57">
            <a:extLst>
              <a:ext uri="{FF2B5EF4-FFF2-40B4-BE49-F238E27FC236}">
                <a16:creationId xmlns:a16="http://schemas.microsoft.com/office/drawing/2014/main" id="{3B948147-3F9C-4CBC-B134-EDC4681E5E46}"/>
              </a:ext>
            </a:extLst>
          </p:cNvPr>
          <p:cNvSpPr>
            <a:spLocks noGrp="1"/>
          </p:cNvSpPr>
          <p:nvPr/>
        </p:nvSpPr>
        <p:spPr>
          <a:xfrm>
            <a:off x="5638800" y="4324350"/>
            <a:ext cx="1238250" cy="476250"/>
          </a:xfrm>
          <a:prstGeom prst="rect">
            <a:avLst/>
          </a:prstGeom>
          <a:solidFill>
            <a:srgbClr val="F1F5F9"/>
          </a:solidFill>
          <a:ln w="9525">
            <a:solidFill>
              <a:srgbClr val="CBD5E1"/>
            </a:solidFill>
            <a:prstDash val="solid"/>
          </a:ln>
        </p:spPr>
        <p:txBody>
          <a:bodyPr/>
          <a:lstStyle/>
          <a:p>
            <a:endParaRPr lang="en-US"/>
          </a:p>
        </p:txBody>
      </p:sp>
      <p:sp>
        <p:nvSpPr>
          <p:cNvPr id="59" name="Rectangle 58">
            <a:extLst>
              <a:ext uri="{FF2B5EF4-FFF2-40B4-BE49-F238E27FC236}">
                <a16:creationId xmlns:a16="http://schemas.microsoft.com/office/drawing/2014/main" id="{8B5EA1B6-E184-4C75-8C4B-A1DD96F9ADAE}"/>
              </a:ext>
            </a:extLst>
          </p:cNvPr>
          <p:cNvSpPr>
            <a:spLocks noGrp="1"/>
          </p:cNvSpPr>
          <p:nvPr/>
        </p:nvSpPr>
        <p:spPr>
          <a:xfrm>
            <a:off x="5715000" y="441007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2.43495</a:t>
            </a:r>
          </a:p>
        </p:txBody>
      </p:sp>
      <p:sp>
        <p:nvSpPr>
          <p:cNvPr id="60" name="Rectangle 59">
            <a:extLst>
              <a:ext uri="{FF2B5EF4-FFF2-40B4-BE49-F238E27FC236}">
                <a16:creationId xmlns:a16="http://schemas.microsoft.com/office/drawing/2014/main" id="{A4DB5CD1-81E2-4A5C-B97A-5DD8E367C164}"/>
              </a:ext>
            </a:extLst>
          </p:cNvPr>
          <p:cNvSpPr>
            <a:spLocks noGrp="1"/>
          </p:cNvSpPr>
          <p:nvPr/>
        </p:nvSpPr>
        <p:spPr>
          <a:xfrm>
            <a:off x="6877050" y="4324350"/>
            <a:ext cx="4724400" cy="476250"/>
          </a:xfrm>
          <a:prstGeom prst="rect">
            <a:avLst/>
          </a:prstGeom>
          <a:solidFill>
            <a:srgbClr val="F1F5F9"/>
          </a:solidFill>
          <a:ln w="9525">
            <a:solidFill>
              <a:srgbClr val="CBD5E1"/>
            </a:solidFill>
            <a:prstDash val="solid"/>
          </a:ln>
        </p:spPr>
        <p:txBody>
          <a:bodyPr/>
          <a:lstStyle/>
          <a:p>
            <a:endParaRPr lang="en-US"/>
          </a:p>
        </p:txBody>
      </p:sp>
      <p:sp>
        <p:nvSpPr>
          <p:cNvPr id="61" name="Rectangle 60">
            <a:extLst>
              <a:ext uri="{FF2B5EF4-FFF2-40B4-BE49-F238E27FC236}">
                <a16:creationId xmlns:a16="http://schemas.microsoft.com/office/drawing/2014/main" id="{D8E95CAA-CE2D-4E47-A46C-248979636490}"/>
              </a:ext>
            </a:extLst>
          </p:cNvPr>
          <p:cNvSpPr>
            <a:spLocks noGrp="1"/>
          </p:cNvSpPr>
          <p:nvPr/>
        </p:nvSpPr>
        <p:spPr>
          <a:xfrm>
            <a:off x="6953250" y="441007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GQA decode attention</a:t>
            </a:r>
          </a:p>
        </p:txBody>
      </p:sp>
      <p:sp>
        <p:nvSpPr>
          <p:cNvPr id="62" name="Rectangle 61">
            <a:extLst>
              <a:ext uri="{FF2B5EF4-FFF2-40B4-BE49-F238E27FC236}">
                <a16:creationId xmlns:a16="http://schemas.microsoft.com/office/drawing/2014/main" id="{F71EFEDC-CE40-4E4D-871F-C0B08DE2CC41}"/>
              </a:ext>
            </a:extLst>
          </p:cNvPr>
          <p:cNvSpPr>
            <a:spLocks noGrp="1"/>
          </p:cNvSpPr>
          <p:nvPr/>
        </p:nvSpPr>
        <p:spPr>
          <a:xfrm>
            <a:off x="590550" y="4800600"/>
            <a:ext cx="4000500" cy="476250"/>
          </a:xfrm>
          <a:prstGeom prst="rect">
            <a:avLst/>
          </a:prstGeom>
          <a:solidFill>
            <a:srgbClr val="FFFFFF"/>
          </a:solidFill>
          <a:ln w="9525">
            <a:solidFill>
              <a:srgbClr val="CBD5E1"/>
            </a:solidFill>
            <a:prstDash val="solid"/>
          </a:ln>
        </p:spPr>
        <p:txBody>
          <a:bodyPr/>
          <a:lstStyle/>
          <a:p>
            <a:endParaRPr lang="en-US"/>
          </a:p>
        </p:txBody>
      </p:sp>
      <p:sp>
        <p:nvSpPr>
          <p:cNvPr id="63" name="Rectangle 62">
            <a:extLst>
              <a:ext uri="{FF2B5EF4-FFF2-40B4-BE49-F238E27FC236}">
                <a16:creationId xmlns:a16="http://schemas.microsoft.com/office/drawing/2014/main" id="{5AFB9886-A971-4064-A9DA-F6DB731EEB84}"/>
              </a:ext>
            </a:extLst>
          </p:cNvPr>
          <p:cNvSpPr>
            <a:spLocks noGrp="1"/>
          </p:cNvSpPr>
          <p:nvPr/>
        </p:nvSpPr>
        <p:spPr>
          <a:xfrm>
            <a:off x="666750" y="4886325"/>
            <a:ext cx="38481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gated_delta_decode_k128_v128</a:t>
            </a:r>
          </a:p>
        </p:txBody>
      </p:sp>
      <p:sp>
        <p:nvSpPr>
          <p:cNvPr id="64" name="Rectangle 63">
            <a:extLst>
              <a:ext uri="{FF2B5EF4-FFF2-40B4-BE49-F238E27FC236}">
                <a16:creationId xmlns:a16="http://schemas.microsoft.com/office/drawing/2014/main" id="{C84CDE03-F641-44E4-87D5-62C437008999}"/>
              </a:ext>
            </a:extLst>
          </p:cNvPr>
          <p:cNvSpPr>
            <a:spLocks noGrp="1"/>
          </p:cNvSpPr>
          <p:nvPr/>
        </p:nvSpPr>
        <p:spPr>
          <a:xfrm>
            <a:off x="4591050" y="4800600"/>
            <a:ext cx="1047750" cy="476250"/>
          </a:xfrm>
          <a:prstGeom prst="rect">
            <a:avLst/>
          </a:prstGeom>
          <a:solidFill>
            <a:srgbClr val="FFFFFF"/>
          </a:solidFill>
          <a:ln w="9525">
            <a:solidFill>
              <a:srgbClr val="CBD5E1"/>
            </a:solidFill>
            <a:prstDash val="solid"/>
          </a:ln>
        </p:spPr>
        <p:txBody>
          <a:bodyPr/>
          <a:lstStyle/>
          <a:p>
            <a:endParaRPr lang="en-US"/>
          </a:p>
        </p:txBody>
      </p:sp>
      <p:sp>
        <p:nvSpPr>
          <p:cNvPr id="65" name="Rectangle 64">
            <a:extLst>
              <a:ext uri="{FF2B5EF4-FFF2-40B4-BE49-F238E27FC236}">
                <a16:creationId xmlns:a16="http://schemas.microsoft.com/office/drawing/2014/main" id="{6D46FB43-34D5-4052-A51D-CC0B1A1ADCB3}"/>
              </a:ext>
            </a:extLst>
          </p:cNvPr>
          <p:cNvSpPr>
            <a:spLocks noGrp="1"/>
          </p:cNvSpPr>
          <p:nvPr/>
        </p:nvSpPr>
        <p:spPr>
          <a:xfrm>
            <a:off x="4667250" y="4886325"/>
            <a:ext cx="8953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cpu</a:t>
            </a:r>
          </a:p>
        </p:txBody>
      </p:sp>
      <p:sp>
        <p:nvSpPr>
          <p:cNvPr id="66" name="Rectangle 65">
            <a:extLst>
              <a:ext uri="{FF2B5EF4-FFF2-40B4-BE49-F238E27FC236}">
                <a16:creationId xmlns:a16="http://schemas.microsoft.com/office/drawing/2014/main" id="{5A3E3BCB-A794-4E4B-B8FB-DDB970EC2391}"/>
              </a:ext>
            </a:extLst>
          </p:cNvPr>
          <p:cNvSpPr>
            <a:spLocks noGrp="1"/>
          </p:cNvSpPr>
          <p:nvPr/>
        </p:nvSpPr>
        <p:spPr>
          <a:xfrm>
            <a:off x="5638800" y="4800600"/>
            <a:ext cx="1238250" cy="476250"/>
          </a:xfrm>
          <a:prstGeom prst="rect">
            <a:avLst/>
          </a:prstGeom>
          <a:solidFill>
            <a:srgbClr val="FFFFFF"/>
          </a:solidFill>
          <a:ln w="9525">
            <a:solidFill>
              <a:srgbClr val="CBD5E1"/>
            </a:solidFill>
            <a:prstDash val="solid"/>
          </a:ln>
        </p:spPr>
        <p:txBody>
          <a:bodyPr/>
          <a:lstStyle/>
          <a:p>
            <a:endParaRPr lang="en-US"/>
          </a:p>
        </p:txBody>
      </p:sp>
      <p:sp>
        <p:nvSpPr>
          <p:cNvPr id="67" name="Rectangle 66">
            <a:extLst>
              <a:ext uri="{FF2B5EF4-FFF2-40B4-BE49-F238E27FC236}">
                <a16:creationId xmlns:a16="http://schemas.microsoft.com/office/drawing/2014/main" id="{B791DEC0-D72A-40AE-88FD-B3552DA645D6}"/>
              </a:ext>
            </a:extLst>
          </p:cNvPr>
          <p:cNvSpPr>
            <a:spLocks noGrp="1"/>
          </p:cNvSpPr>
          <p:nvPr/>
        </p:nvSpPr>
        <p:spPr>
          <a:xfrm>
            <a:off x="5715000" y="4886325"/>
            <a:ext cx="108585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0.04771</a:t>
            </a:r>
          </a:p>
        </p:txBody>
      </p:sp>
      <p:sp>
        <p:nvSpPr>
          <p:cNvPr id="68" name="Rectangle 67">
            <a:extLst>
              <a:ext uri="{FF2B5EF4-FFF2-40B4-BE49-F238E27FC236}">
                <a16:creationId xmlns:a16="http://schemas.microsoft.com/office/drawing/2014/main" id="{0864F03F-9473-4F87-BA68-0E25DC71FF47}"/>
              </a:ext>
            </a:extLst>
          </p:cNvPr>
          <p:cNvSpPr>
            <a:spLocks noGrp="1"/>
          </p:cNvSpPr>
          <p:nvPr/>
        </p:nvSpPr>
        <p:spPr>
          <a:xfrm>
            <a:off x="6877050" y="4800600"/>
            <a:ext cx="4724400" cy="476250"/>
          </a:xfrm>
          <a:prstGeom prst="rect">
            <a:avLst/>
          </a:prstGeom>
          <a:solidFill>
            <a:srgbClr val="FFFFFF"/>
          </a:solidFill>
          <a:ln w="9525">
            <a:solidFill>
              <a:srgbClr val="CBD5E1"/>
            </a:solidFill>
            <a:prstDash val="solid"/>
          </a:ln>
        </p:spPr>
        <p:txBody>
          <a:bodyPr/>
          <a:lstStyle/>
          <a:p>
            <a:endParaRPr lang="en-US"/>
          </a:p>
        </p:txBody>
      </p:sp>
      <p:sp>
        <p:nvSpPr>
          <p:cNvPr id="69" name="Rectangle 68">
            <a:extLst>
              <a:ext uri="{FF2B5EF4-FFF2-40B4-BE49-F238E27FC236}">
                <a16:creationId xmlns:a16="http://schemas.microsoft.com/office/drawing/2014/main" id="{4FDBDEB3-1F8B-4CD7-8232-ABBC62A8DADA}"/>
              </a:ext>
            </a:extLst>
          </p:cNvPr>
          <p:cNvSpPr>
            <a:spLocks noGrp="1"/>
          </p:cNvSpPr>
          <p:nvPr/>
        </p:nvSpPr>
        <p:spPr>
          <a:xfrm>
            <a:off x="6953250" y="4886325"/>
            <a:ext cx="4572000" cy="381000"/>
          </a:xfrm>
          <a:prstGeom prst="rect">
            <a:avLst/>
          </a:prstGeom>
          <a:noFill/>
          <a:ln w="0">
            <a:solidFill>
              <a:srgbClr val="000000">
                <a:alpha val="0"/>
              </a:srgbClr>
            </a:solidFill>
            <a:prstDash val="solid"/>
          </a:ln>
        </p:spPr>
        <p:txBody>
          <a:bodyPr/>
          <a:lstStyle/>
          <a:p>
            <a:pPr algn="l">
              <a:defRPr sz="900" b="0">
                <a:solidFill>
                  <a:srgbClr val="0F172A"/>
                </a:solidFill>
                <a:latin typeface="Aptos"/>
                <a:ea typeface="Aptos"/>
                <a:cs typeface="Aptos"/>
              </a:defRPr>
            </a:pPr>
            <a:r>
              <a:rPr sz="900" b="0">
                <a:solidFill>
                  <a:srgbClr val="0F172A"/>
                </a:solidFill>
                <a:latin typeface="Aptos"/>
                <a:ea typeface="Aptos"/>
                <a:cs typeface="Aptos"/>
              </a:rPr>
              <a:t>linear-attention state update</a:t>
            </a:r>
          </a:p>
        </p:txBody>
      </p:sp>
    </p:spTree>
    <p:extLst>
      <p:ext uri="{BB962C8B-B14F-4D97-AF65-F5344CB8AC3E}">
        <p14:creationId xmlns:p14="http://schemas.microsoft.com/office/powerpoint/2010/main" val="1902835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FA0CB9A8-022E-44E7-843D-90FBCD2559B2}"/>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41598C94-6BC8-4025-89F0-093A55F6461C}"/>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MNN hot-path trace gives a separate baseline hotspot view</a:t>
            </a:r>
          </a:p>
        </p:txBody>
      </p:sp>
      <p:sp>
        <p:nvSpPr>
          <p:cNvPr id="3" name="Rectangle 2">
            <a:extLst>
              <a:ext uri="{FF2B5EF4-FFF2-40B4-BE49-F238E27FC236}">
                <a16:creationId xmlns:a16="http://schemas.microsoft.com/office/drawing/2014/main" id="{4B26F61F-B707-4B52-9B86-474734F7944D}"/>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21</a:t>
            </a:r>
          </a:p>
        </p:txBody>
      </p:sp>
      <p:sp>
        <p:nvSpPr>
          <p:cNvPr id="4" name="Rectangle 3">
            <a:extLst>
              <a:ext uri="{FF2B5EF4-FFF2-40B4-BE49-F238E27FC236}">
                <a16:creationId xmlns:a16="http://schemas.microsoft.com/office/drawing/2014/main" id="{6E31EF9C-A2D8-47F1-A0D2-5D14A9E02F7F}"/>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D591D6A7-6CB0-4381-A2DF-9078A2D40FE3}"/>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DD0251A6-E999-4E10-A9B9-1B7A54390988}"/>
              </a:ext>
            </a:extLst>
          </p:cNvPr>
          <p:cNvSpPr>
            <a:spLocks noGrp="1"/>
          </p:cNvSpPr>
          <p:nvPr/>
        </p:nvSpPr>
        <p:spPr>
          <a:xfrm>
            <a:off x="590550" y="1466850"/>
            <a:ext cx="1524000" cy="514350"/>
          </a:xfrm>
          <a:prstGeom prst="rect">
            <a:avLst/>
          </a:prstGeom>
          <a:solidFill>
            <a:srgbClr val="111827"/>
          </a:solidFill>
          <a:ln w="9525">
            <a:solidFill>
              <a:srgbClr val="111827"/>
            </a:solidFill>
            <a:prstDash val="solid"/>
          </a:ln>
        </p:spPr>
        <p:txBody>
          <a:bodyPr/>
          <a:lstStyle/>
          <a:p>
            <a:endParaRPr lang="en-US"/>
          </a:p>
        </p:txBody>
      </p:sp>
      <p:sp>
        <p:nvSpPr>
          <p:cNvPr id="7" name="Rectangle 6">
            <a:extLst>
              <a:ext uri="{FF2B5EF4-FFF2-40B4-BE49-F238E27FC236}">
                <a16:creationId xmlns:a16="http://schemas.microsoft.com/office/drawing/2014/main" id="{C5C17946-98B2-4ADA-BB8C-87929D06B39E}"/>
              </a:ext>
            </a:extLst>
          </p:cNvPr>
          <p:cNvSpPr>
            <a:spLocks noGrp="1"/>
          </p:cNvSpPr>
          <p:nvPr/>
        </p:nvSpPr>
        <p:spPr>
          <a:xfrm>
            <a:off x="666750" y="1562100"/>
            <a:ext cx="1371600" cy="4000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Stage</a:t>
            </a:r>
          </a:p>
        </p:txBody>
      </p:sp>
      <p:sp>
        <p:nvSpPr>
          <p:cNvPr id="8" name="Rectangle 7">
            <a:extLst>
              <a:ext uri="{FF2B5EF4-FFF2-40B4-BE49-F238E27FC236}">
                <a16:creationId xmlns:a16="http://schemas.microsoft.com/office/drawing/2014/main" id="{62D4F2B3-2C2E-4E77-B147-8143509E0A9F}"/>
              </a:ext>
            </a:extLst>
          </p:cNvPr>
          <p:cNvSpPr>
            <a:spLocks noGrp="1"/>
          </p:cNvSpPr>
          <p:nvPr/>
        </p:nvSpPr>
        <p:spPr>
          <a:xfrm>
            <a:off x="2114550" y="1466850"/>
            <a:ext cx="4095750" cy="514350"/>
          </a:xfrm>
          <a:prstGeom prst="rect">
            <a:avLst/>
          </a:prstGeom>
          <a:solidFill>
            <a:srgbClr val="111827"/>
          </a:solidFill>
          <a:ln w="9525">
            <a:solidFill>
              <a:srgbClr val="111827"/>
            </a:solidFill>
            <a:prstDash val="solid"/>
          </a:ln>
        </p:spPr>
        <p:txBody>
          <a:bodyPr/>
          <a:lstStyle/>
          <a:p>
            <a:endParaRPr lang="en-US"/>
          </a:p>
        </p:txBody>
      </p:sp>
      <p:sp>
        <p:nvSpPr>
          <p:cNvPr id="9" name="Rectangle 8">
            <a:extLst>
              <a:ext uri="{FF2B5EF4-FFF2-40B4-BE49-F238E27FC236}">
                <a16:creationId xmlns:a16="http://schemas.microsoft.com/office/drawing/2014/main" id="{8716B1AA-F16D-457A-BBE1-96977D1E9D1B}"/>
              </a:ext>
            </a:extLst>
          </p:cNvPr>
          <p:cNvSpPr>
            <a:spLocks noGrp="1"/>
          </p:cNvSpPr>
          <p:nvPr/>
        </p:nvSpPr>
        <p:spPr>
          <a:xfrm>
            <a:off x="2190750" y="1562100"/>
            <a:ext cx="3943350" cy="4000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MNN op type/name</a:t>
            </a:r>
          </a:p>
        </p:txBody>
      </p:sp>
      <p:sp>
        <p:nvSpPr>
          <p:cNvPr id="10" name="Rectangle 9">
            <a:extLst>
              <a:ext uri="{FF2B5EF4-FFF2-40B4-BE49-F238E27FC236}">
                <a16:creationId xmlns:a16="http://schemas.microsoft.com/office/drawing/2014/main" id="{3A5462DC-F9D3-46F1-AC0C-B4E6E01E72A1}"/>
              </a:ext>
            </a:extLst>
          </p:cNvPr>
          <p:cNvSpPr>
            <a:spLocks noGrp="1"/>
          </p:cNvSpPr>
          <p:nvPr/>
        </p:nvSpPr>
        <p:spPr>
          <a:xfrm>
            <a:off x="6210300" y="1466850"/>
            <a:ext cx="1143000" cy="514350"/>
          </a:xfrm>
          <a:prstGeom prst="rect">
            <a:avLst/>
          </a:prstGeom>
          <a:solidFill>
            <a:srgbClr val="111827"/>
          </a:solidFill>
          <a:ln w="9525">
            <a:solidFill>
              <a:srgbClr val="111827"/>
            </a:solidFill>
            <a:prstDash val="solid"/>
          </a:ln>
        </p:spPr>
        <p:txBody>
          <a:bodyPr/>
          <a:lstStyle/>
          <a:p>
            <a:endParaRPr lang="en-US"/>
          </a:p>
        </p:txBody>
      </p:sp>
      <p:sp>
        <p:nvSpPr>
          <p:cNvPr id="11" name="Rectangle 10">
            <a:extLst>
              <a:ext uri="{FF2B5EF4-FFF2-40B4-BE49-F238E27FC236}">
                <a16:creationId xmlns:a16="http://schemas.microsoft.com/office/drawing/2014/main" id="{BF82B7C6-4EFC-482F-9E7C-10138E508755}"/>
              </a:ext>
            </a:extLst>
          </p:cNvPr>
          <p:cNvSpPr>
            <a:spLocks noGrp="1"/>
          </p:cNvSpPr>
          <p:nvPr/>
        </p:nvSpPr>
        <p:spPr>
          <a:xfrm>
            <a:off x="6286500" y="1562100"/>
            <a:ext cx="990600" cy="4000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Calls</a:t>
            </a:r>
          </a:p>
        </p:txBody>
      </p:sp>
      <p:sp>
        <p:nvSpPr>
          <p:cNvPr id="12" name="Rectangle 11">
            <a:extLst>
              <a:ext uri="{FF2B5EF4-FFF2-40B4-BE49-F238E27FC236}">
                <a16:creationId xmlns:a16="http://schemas.microsoft.com/office/drawing/2014/main" id="{61336142-CE33-49ED-B770-4ACD1B996C45}"/>
              </a:ext>
            </a:extLst>
          </p:cNvPr>
          <p:cNvSpPr>
            <a:spLocks noGrp="1"/>
          </p:cNvSpPr>
          <p:nvPr/>
        </p:nvSpPr>
        <p:spPr>
          <a:xfrm>
            <a:off x="7353300" y="1466850"/>
            <a:ext cx="1714500" cy="514350"/>
          </a:xfrm>
          <a:prstGeom prst="rect">
            <a:avLst/>
          </a:prstGeom>
          <a:solidFill>
            <a:srgbClr val="111827"/>
          </a:solidFill>
          <a:ln w="9525">
            <a:solidFill>
              <a:srgbClr val="111827"/>
            </a:solidFill>
            <a:prstDash val="solid"/>
          </a:ln>
        </p:spPr>
        <p:txBody>
          <a:bodyPr/>
          <a:lstStyle/>
          <a:p>
            <a:endParaRPr lang="en-US"/>
          </a:p>
        </p:txBody>
      </p:sp>
      <p:sp>
        <p:nvSpPr>
          <p:cNvPr id="13" name="Rectangle 12">
            <a:extLst>
              <a:ext uri="{FF2B5EF4-FFF2-40B4-BE49-F238E27FC236}">
                <a16:creationId xmlns:a16="http://schemas.microsoft.com/office/drawing/2014/main" id="{3288AD54-ED08-4F9E-9298-0159846B5A42}"/>
              </a:ext>
            </a:extLst>
          </p:cNvPr>
          <p:cNvSpPr>
            <a:spLocks noGrp="1"/>
          </p:cNvSpPr>
          <p:nvPr/>
        </p:nvSpPr>
        <p:spPr>
          <a:xfrm>
            <a:off x="7429500" y="1562100"/>
            <a:ext cx="1562100" cy="4000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Total ms</a:t>
            </a:r>
          </a:p>
        </p:txBody>
      </p:sp>
      <p:sp>
        <p:nvSpPr>
          <p:cNvPr id="14" name="Rectangle 13">
            <a:extLst>
              <a:ext uri="{FF2B5EF4-FFF2-40B4-BE49-F238E27FC236}">
                <a16:creationId xmlns:a16="http://schemas.microsoft.com/office/drawing/2014/main" id="{0ABE6496-A4C5-4265-87AF-E3F940A67608}"/>
              </a:ext>
            </a:extLst>
          </p:cNvPr>
          <p:cNvSpPr>
            <a:spLocks noGrp="1"/>
          </p:cNvSpPr>
          <p:nvPr/>
        </p:nvSpPr>
        <p:spPr>
          <a:xfrm>
            <a:off x="9067800" y="1466850"/>
            <a:ext cx="1714500" cy="514350"/>
          </a:xfrm>
          <a:prstGeom prst="rect">
            <a:avLst/>
          </a:prstGeom>
          <a:solidFill>
            <a:srgbClr val="111827"/>
          </a:solidFill>
          <a:ln w="9525">
            <a:solidFill>
              <a:srgbClr val="111827"/>
            </a:solidFill>
            <a:prstDash val="solid"/>
          </a:ln>
        </p:spPr>
        <p:txBody>
          <a:bodyPr/>
          <a:lstStyle/>
          <a:p>
            <a:endParaRPr lang="en-US"/>
          </a:p>
        </p:txBody>
      </p:sp>
      <p:sp>
        <p:nvSpPr>
          <p:cNvPr id="15" name="Rectangle 14">
            <a:extLst>
              <a:ext uri="{FF2B5EF4-FFF2-40B4-BE49-F238E27FC236}">
                <a16:creationId xmlns:a16="http://schemas.microsoft.com/office/drawing/2014/main" id="{0048C7DA-4547-4859-A071-1C51755F095B}"/>
              </a:ext>
            </a:extLst>
          </p:cNvPr>
          <p:cNvSpPr>
            <a:spLocks noGrp="1"/>
          </p:cNvSpPr>
          <p:nvPr/>
        </p:nvSpPr>
        <p:spPr>
          <a:xfrm>
            <a:off x="9144000" y="1562100"/>
            <a:ext cx="1562100" cy="400050"/>
          </a:xfrm>
          <a:prstGeom prst="rect">
            <a:avLst/>
          </a:prstGeom>
          <a:noFill/>
          <a:ln w="0">
            <a:solidFill>
              <a:srgbClr val="000000">
                <a:alpha val="0"/>
              </a:srgbClr>
            </a:solidFill>
            <a:prstDash val="solid"/>
          </a:ln>
        </p:spPr>
        <p:txBody>
          <a:bodyPr/>
          <a:lstStyle/>
          <a:p>
            <a:pPr algn="l">
              <a:defRPr sz="975" b="1">
                <a:solidFill>
                  <a:srgbClr val="FFFFFF"/>
                </a:solidFill>
                <a:latin typeface="Aptos"/>
                <a:ea typeface="Aptos"/>
                <a:cs typeface="Aptos"/>
              </a:defRPr>
            </a:pPr>
            <a:r>
              <a:rPr sz="975" b="1">
                <a:solidFill>
                  <a:srgbClr val="FFFFFF"/>
                </a:solidFill>
                <a:latin typeface="Aptos"/>
                <a:ea typeface="Aptos"/>
                <a:cs typeface="Aptos"/>
              </a:rPr>
              <a:t>Mean ms</a:t>
            </a:r>
          </a:p>
        </p:txBody>
      </p:sp>
      <p:sp>
        <p:nvSpPr>
          <p:cNvPr id="16" name="Rectangle 15">
            <a:extLst>
              <a:ext uri="{FF2B5EF4-FFF2-40B4-BE49-F238E27FC236}">
                <a16:creationId xmlns:a16="http://schemas.microsoft.com/office/drawing/2014/main" id="{2264B539-8459-41B4-BEFB-3ACA5292971A}"/>
              </a:ext>
            </a:extLst>
          </p:cNvPr>
          <p:cNvSpPr>
            <a:spLocks noGrp="1"/>
          </p:cNvSpPr>
          <p:nvPr/>
        </p:nvSpPr>
        <p:spPr>
          <a:xfrm>
            <a:off x="590550" y="1981200"/>
            <a:ext cx="1524000" cy="514350"/>
          </a:xfrm>
          <a:prstGeom prst="rect">
            <a:avLst/>
          </a:prstGeom>
          <a:solidFill>
            <a:srgbClr val="FFFFFF"/>
          </a:solidFill>
          <a:ln w="9525">
            <a:solidFill>
              <a:srgbClr val="CBD5E1"/>
            </a:solidFill>
            <a:prstDash val="solid"/>
          </a:ln>
        </p:spPr>
        <p:txBody>
          <a:bodyPr/>
          <a:lstStyle/>
          <a:p>
            <a:endParaRPr lang="en-US"/>
          </a:p>
        </p:txBody>
      </p:sp>
      <p:sp>
        <p:nvSpPr>
          <p:cNvPr id="17" name="Rectangle 16">
            <a:extLst>
              <a:ext uri="{FF2B5EF4-FFF2-40B4-BE49-F238E27FC236}">
                <a16:creationId xmlns:a16="http://schemas.microsoft.com/office/drawing/2014/main" id="{88EC3344-3394-4452-A543-DC24154C815B}"/>
              </a:ext>
            </a:extLst>
          </p:cNvPr>
          <p:cNvSpPr>
            <a:spLocks noGrp="1"/>
          </p:cNvSpPr>
          <p:nvPr/>
        </p:nvSpPr>
        <p:spPr>
          <a:xfrm>
            <a:off x="666750" y="206692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prefill</a:t>
            </a:r>
          </a:p>
        </p:txBody>
      </p:sp>
      <p:sp>
        <p:nvSpPr>
          <p:cNvPr id="18" name="Rectangle 17">
            <a:extLst>
              <a:ext uri="{FF2B5EF4-FFF2-40B4-BE49-F238E27FC236}">
                <a16:creationId xmlns:a16="http://schemas.microsoft.com/office/drawing/2014/main" id="{12A9957D-F7CC-4633-BFC7-C02BB7160A74}"/>
              </a:ext>
            </a:extLst>
          </p:cNvPr>
          <p:cNvSpPr>
            <a:spLocks noGrp="1"/>
          </p:cNvSpPr>
          <p:nvPr/>
        </p:nvSpPr>
        <p:spPr>
          <a:xfrm>
            <a:off x="2114550" y="1981200"/>
            <a:ext cx="4095750" cy="514350"/>
          </a:xfrm>
          <a:prstGeom prst="rect">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2AAA74F6-F356-466D-90CA-A4D518DC1FAD}"/>
              </a:ext>
            </a:extLst>
          </p:cNvPr>
          <p:cNvSpPr>
            <a:spLocks noGrp="1"/>
          </p:cNvSpPr>
          <p:nvPr/>
        </p:nvSpPr>
        <p:spPr>
          <a:xfrm>
            <a:off x="2190750" y="206692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Convolution</a:t>
            </a:r>
          </a:p>
        </p:txBody>
      </p:sp>
      <p:sp>
        <p:nvSpPr>
          <p:cNvPr id="20" name="Rectangle 19">
            <a:extLst>
              <a:ext uri="{FF2B5EF4-FFF2-40B4-BE49-F238E27FC236}">
                <a16:creationId xmlns:a16="http://schemas.microsoft.com/office/drawing/2014/main" id="{A89E59C4-88C6-49F3-9A43-19DD7EF5A1B3}"/>
              </a:ext>
            </a:extLst>
          </p:cNvPr>
          <p:cNvSpPr>
            <a:spLocks noGrp="1"/>
          </p:cNvSpPr>
          <p:nvPr/>
        </p:nvSpPr>
        <p:spPr>
          <a:xfrm>
            <a:off x="6210300" y="1981200"/>
            <a:ext cx="1143000" cy="514350"/>
          </a:xfrm>
          <a:prstGeom prst="rect">
            <a:avLst/>
          </a:prstGeom>
          <a:solidFill>
            <a:srgbClr val="FFFFFF"/>
          </a:solidFill>
          <a:ln w="9525">
            <a:solidFill>
              <a:srgbClr val="CBD5E1"/>
            </a:solidFill>
            <a:prstDash val="solid"/>
          </a:ln>
        </p:spPr>
        <p:txBody>
          <a:bodyPr/>
          <a:lstStyle/>
          <a:p>
            <a:endParaRPr lang="en-US"/>
          </a:p>
        </p:txBody>
      </p:sp>
      <p:sp>
        <p:nvSpPr>
          <p:cNvPr id="21" name="Rectangle 20">
            <a:extLst>
              <a:ext uri="{FF2B5EF4-FFF2-40B4-BE49-F238E27FC236}">
                <a16:creationId xmlns:a16="http://schemas.microsoft.com/office/drawing/2014/main" id="{2D1036CB-68AA-423F-8E0B-908057BEFFF3}"/>
              </a:ext>
            </a:extLst>
          </p:cNvPr>
          <p:cNvSpPr>
            <a:spLocks noGrp="1"/>
          </p:cNvSpPr>
          <p:nvPr/>
        </p:nvSpPr>
        <p:spPr>
          <a:xfrm>
            <a:off x="6286500" y="206692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249</a:t>
            </a:r>
          </a:p>
        </p:txBody>
      </p:sp>
      <p:sp>
        <p:nvSpPr>
          <p:cNvPr id="22" name="Rectangle 21">
            <a:extLst>
              <a:ext uri="{FF2B5EF4-FFF2-40B4-BE49-F238E27FC236}">
                <a16:creationId xmlns:a16="http://schemas.microsoft.com/office/drawing/2014/main" id="{5494E317-720C-460B-91C4-76318CAC710A}"/>
              </a:ext>
            </a:extLst>
          </p:cNvPr>
          <p:cNvSpPr>
            <a:spLocks noGrp="1"/>
          </p:cNvSpPr>
          <p:nvPr/>
        </p:nvSpPr>
        <p:spPr>
          <a:xfrm>
            <a:off x="7353300" y="1981200"/>
            <a:ext cx="1714500" cy="514350"/>
          </a:xfrm>
          <a:prstGeom prst="rect">
            <a:avLst/>
          </a:prstGeom>
          <a:solidFill>
            <a:srgbClr val="FFFFFF"/>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43D7DDAD-8E03-48F8-9E26-1803FBD9B17C}"/>
              </a:ext>
            </a:extLst>
          </p:cNvPr>
          <p:cNvSpPr>
            <a:spLocks noGrp="1"/>
          </p:cNvSpPr>
          <p:nvPr/>
        </p:nvSpPr>
        <p:spPr>
          <a:xfrm>
            <a:off x="7429500" y="20669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10529.3</a:t>
            </a:r>
          </a:p>
        </p:txBody>
      </p:sp>
      <p:sp>
        <p:nvSpPr>
          <p:cNvPr id="24" name="Rectangle 23">
            <a:extLst>
              <a:ext uri="{FF2B5EF4-FFF2-40B4-BE49-F238E27FC236}">
                <a16:creationId xmlns:a16="http://schemas.microsoft.com/office/drawing/2014/main" id="{D6A949E9-234E-4784-B49B-1999D770F26C}"/>
              </a:ext>
            </a:extLst>
          </p:cNvPr>
          <p:cNvSpPr>
            <a:spLocks noGrp="1"/>
          </p:cNvSpPr>
          <p:nvPr/>
        </p:nvSpPr>
        <p:spPr>
          <a:xfrm>
            <a:off x="9067800" y="1981200"/>
            <a:ext cx="1714500" cy="514350"/>
          </a:xfrm>
          <a:prstGeom prst="rect">
            <a:avLst/>
          </a:prstGeom>
          <a:solidFill>
            <a:srgbClr val="FFFFFF"/>
          </a:solidFill>
          <a:ln w="9525">
            <a:solidFill>
              <a:srgbClr val="CBD5E1"/>
            </a:solidFill>
            <a:prstDash val="solid"/>
          </a:ln>
        </p:spPr>
        <p:txBody>
          <a:bodyPr/>
          <a:lstStyle/>
          <a:p>
            <a:endParaRPr lang="en-US"/>
          </a:p>
        </p:txBody>
      </p:sp>
      <p:sp>
        <p:nvSpPr>
          <p:cNvPr id="25" name="Rectangle 24">
            <a:extLst>
              <a:ext uri="{FF2B5EF4-FFF2-40B4-BE49-F238E27FC236}">
                <a16:creationId xmlns:a16="http://schemas.microsoft.com/office/drawing/2014/main" id="{8D296F5E-D10C-41E2-97C3-DE051BB5482B}"/>
              </a:ext>
            </a:extLst>
          </p:cNvPr>
          <p:cNvSpPr>
            <a:spLocks noGrp="1"/>
          </p:cNvSpPr>
          <p:nvPr/>
        </p:nvSpPr>
        <p:spPr>
          <a:xfrm>
            <a:off x="9144000" y="20669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42.286</a:t>
            </a:r>
          </a:p>
        </p:txBody>
      </p:sp>
      <p:sp>
        <p:nvSpPr>
          <p:cNvPr id="26" name="Rectangle 25">
            <a:extLst>
              <a:ext uri="{FF2B5EF4-FFF2-40B4-BE49-F238E27FC236}">
                <a16:creationId xmlns:a16="http://schemas.microsoft.com/office/drawing/2014/main" id="{AFE71443-1B59-4CAF-B97A-F640F4E44378}"/>
              </a:ext>
            </a:extLst>
          </p:cNvPr>
          <p:cNvSpPr>
            <a:spLocks noGrp="1"/>
          </p:cNvSpPr>
          <p:nvPr/>
        </p:nvSpPr>
        <p:spPr>
          <a:xfrm>
            <a:off x="590550" y="2495550"/>
            <a:ext cx="1524000" cy="514350"/>
          </a:xfrm>
          <a:prstGeom prst="rect">
            <a:avLst/>
          </a:prstGeom>
          <a:solidFill>
            <a:srgbClr val="F1F5F9"/>
          </a:solidFill>
          <a:ln w="9525">
            <a:solidFill>
              <a:srgbClr val="CBD5E1"/>
            </a:solidFill>
            <a:prstDash val="solid"/>
          </a:ln>
        </p:spPr>
        <p:txBody>
          <a:bodyPr/>
          <a:lstStyle/>
          <a:p>
            <a:endParaRPr lang="en-US"/>
          </a:p>
        </p:txBody>
      </p:sp>
      <p:sp>
        <p:nvSpPr>
          <p:cNvPr id="27" name="Rectangle 26">
            <a:extLst>
              <a:ext uri="{FF2B5EF4-FFF2-40B4-BE49-F238E27FC236}">
                <a16:creationId xmlns:a16="http://schemas.microsoft.com/office/drawing/2014/main" id="{62996173-D6D0-40FF-B441-CED7BDA7CF5D}"/>
              </a:ext>
            </a:extLst>
          </p:cNvPr>
          <p:cNvSpPr>
            <a:spLocks noGrp="1"/>
          </p:cNvSpPr>
          <p:nvPr/>
        </p:nvSpPr>
        <p:spPr>
          <a:xfrm>
            <a:off x="666750" y="258127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decode</a:t>
            </a:r>
          </a:p>
        </p:txBody>
      </p:sp>
      <p:sp>
        <p:nvSpPr>
          <p:cNvPr id="28" name="Rectangle 27">
            <a:extLst>
              <a:ext uri="{FF2B5EF4-FFF2-40B4-BE49-F238E27FC236}">
                <a16:creationId xmlns:a16="http://schemas.microsoft.com/office/drawing/2014/main" id="{9669FCF9-2E62-43C5-B9D3-67E68D84F351}"/>
              </a:ext>
            </a:extLst>
          </p:cNvPr>
          <p:cNvSpPr>
            <a:spLocks noGrp="1"/>
          </p:cNvSpPr>
          <p:nvPr/>
        </p:nvSpPr>
        <p:spPr>
          <a:xfrm>
            <a:off x="2114550" y="2495550"/>
            <a:ext cx="4095750" cy="514350"/>
          </a:xfrm>
          <a:prstGeom prst="rect">
            <a:avLst/>
          </a:prstGeom>
          <a:solidFill>
            <a:srgbClr val="F1F5F9"/>
          </a:solidFill>
          <a:ln w="9525">
            <a:solidFill>
              <a:srgbClr val="CBD5E1"/>
            </a:solidFill>
            <a:prstDash val="solid"/>
          </a:ln>
        </p:spPr>
        <p:txBody>
          <a:bodyPr/>
          <a:lstStyle/>
          <a:p>
            <a:endParaRPr lang="en-US"/>
          </a:p>
        </p:txBody>
      </p:sp>
      <p:sp>
        <p:nvSpPr>
          <p:cNvPr id="29" name="Rectangle 28">
            <a:extLst>
              <a:ext uri="{FF2B5EF4-FFF2-40B4-BE49-F238E27FC236}">
                <a16:creationId xmlns:a16="http://schemas.microsoft.com/office/drawing/2014/main" id="{984291C1-9108-497B-87B3-8C7AE8057B1B}"/>
              </a:ext>
            </a:extLst>
          </p:cNvPr>
          <p:cNvSpPr>
            <a:spLocks noGrp="1"/>
          </p:cNvSpPr>
          <p:nvPr/>
        </p:nvSpPr>
        <p:spPr>
          <a:xfrm>
            <a:off x="2190750" y="258127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Convolution</a:t>
            </a:r>
          </a:p>
        </p:txBody>
      </p:sp>
      <p:sp>
        <p:nvSpPr>
          <p:cNvPr id="30" name="Rectangle 29">
            <a:extLst>
              <a:ext uri="{FF2B5EF4-FFF2-40B4-BE49-F238E27FC236}">
                <a16:creationId xmlns:a16="http://schemas.microsoft.com/office/drawing/2014/main" id="{E411FAB6-F5BA-46D3-A0EF-5228BD23B7D8}"/>
              </a:ext>
            </a:extLst>
          </p:cNvPr>
          <p:cNvSpPr>
            <a:spLocks noGrp="1"/>
          </p:cNvSpPr>
          <p:nvPr/>
        </p:nvSpPr>
        <p:spPr>
          <a:xfrm>
            <a:off x="6210300" y="2495550"/>
            <a:ext cx="1143000" cy="514350"/>
          </a:xfrm>
          <a:prstGeom prst="rect">
            <a:avLst/>
          </a:prstGeom>
          <a:solidFill>
            <a:srgbClr val="F1F5F9"/>
          </a:solidFill>
          <a:ln w="9525">
            <a:solidFill>
              <a:srgbClr val="CBD5E1"/>
            </a:solidFill>
            <a:prstDash val="solid"/>
          </a:ln>
        </p:spPr>
        <p:txBody>
          <a:bodyPr/>
          <a:lstStyle/>
          <a:p>
            <a:endParaRPr lang="en-US"/>
          </a:p>
        </p:txBody>
      </p:sp>
      <p:sp>
        <p:nvSpPr>
          <p:cNvPr id="31" name="Rectangle 30">
            <a:extLst>
              <a:ext uri="{FF2B5EF4-FFF2-40B4-BE49-F238E27FC236}">
                <a16:creationId xmlns:a16="http://schemas.microsoft.com/office/drawing/2014/main" id="{8979DC12-1B56-49DC-89D5-D3B64E4B64AB}"/>
              </a:ext>
            </a:extLst>
          </p:cNvPr>
          <p:cNvSpPr>
            <a:spLocks noGrp="1"/>
          </p:cNvSpPr>
          <p:nvPr/>
        </p:nvSpPr>
        <p:spPr>
          <a:xfrm>
            <a:off x="6286500" y="258127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3984</a:t>
            </a:r>
          </a:p>
        </p:txBody>
      </p:sp>
      <p:sp>
        <p:nvSpPr>
          <p:cNvPr id="32" name="Rectangle 31">
            <a:extLst>
              <a:ext uri="{FF2B5EF4-FFF2-40B4-BE49-F238E27FC236}">
                <a16:creationId xmlns:a16="http://schemas.microsoft.com/office/drawing/2014/main" id="{CB159BE3-3E2C-43C2-83E3-726792416EE8}"/>
              </a:ext>
            </a:extLst>
          </p:cNvPr>
          <p:cNvSpPr>
            <a:spLocks noGrp="1"/>
          </p:cNvSpPr>
          <p:nvPr/>
        </p:nvSpPr>
        <p:spPr>
          <a:xfrm>
            <a:off x="7353300" y="2495550"/>
            <a:ext cx="1714500" cy="514350"/>
          </a:xfrm>
          <a:prstGeom prst="rect">
            <a:avLst/>
          </a:prstGeom>
          <a:solidFill>
            <a:srgbClr val="F1F5F9"/>
          </a:solidFill>
          <a:ln w="9525">
            <a:solidFill>
              <a:srgbClr val="CBD5E1"/>
            </a:solidFill>
            <a:prstDash val="solid"/>
          </a:ln>
        </p:spPr>
        <p:txBody>
          <a:bodyPr/>
          <a:lstStyle/>
          <a:p>
            <a:endParaRPr lang="en-US"/>
          </a:p>
        </p:txBody>
      </p:sp>
      <p:sp>
        <p:nvSpPr>
          <p:cNvPr id="33" name="Rectangle 32">
            <a:extLst>
              <a:ext uri="{FF2B5EF4-FFF2-40B4-BE49-F238E27FC236}">
                <a16:creationId xmlns:a16="http://schemas.microsoft.com/office/drawing/2014/main" id="{7FBCC65C-12DC-43BE-AC66-6EDE0D35FBAE}"/>
              </a:ext>
            </a:extLst>
          </p:cNvPr>
          <p:cNvSpPr>
            <a:spLocks noGrp="1"/>
          </p:cNvSpPr>
          <p:nvPr/>
        </p:nvSpPr>
        <p:spPr>
          <a:xfrm>
            <a:off x="7429500" y="25812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4440.39</a:t>
            </a:r>
          </a:p>
        </p:txBody>
      </p:sp>
      <p:sp>
        <p:nvSpPr>
          <p:cNvPr id="34" name="Rectangle 33">
            <a:extLst>
              <a:ext uri="{FF2B5EF4-FFF2-40B4-BE49-F238E27FC236}">
                <a16:creationId xmlns:a16="http://schemas.microsoft.com/office/drawing/2014/main" id="{542F9C1C-E671-4ED5-A2E8-04B26E148575}"/>
              </a:ext>
            </a:extLst>
          </p:cNvPr>
          <p:cNvSpPr>
            <a:spLocks noGrp="1"/>
          </p:cNvSpPr>
          <p:nvPr/>
        </p:nvSpPr>
        <p:spPr>
          <a:xfrm>
            <a:off x="9067800" y="2495550"/>
            <a:ext cx="1714500" cy="514350"/>
          </a:xfrm>
          <a:prstGeom prst="rect">
            <a:avLst/>
          </a:prstGeom>
          <a:solidFill>
            <a:srgbClr val="F1F5F9"/>
          </a:solidFill>
          <a:ln w="9525">
            <a:solidFill>
              <a:srgbClr val="CBD5E1"/>
            </a:solidFill>
            <a:prstDash val="solid"/>
          </a:ln>
        </p:spPr>
        <p:txBody>
          <a:bodyPr/>
          <a:lstStyle/>
          <a:p>
            <a:endParaRPr lang="en-US"/>
          </a:p>
        </p:txBody>
      </p:sp>
      <p:sp>
        <p:nvSpPr>
          <p:cNvPr id="35" name="Rectangle 34">
            <a:extLst>
              <a:ext uri="{FF2B5EF4-FFF2-40B4-BE49-F238E27FC236}">
                <a16:creationId xmlns:a16="http://schemas.microsoft.com/office/drawing/2014/main" id="{19CAC42A-2002-4612-8AA2-3B48FDCB174C}"/>
              </a:ext>
            </a:extLst>
          </p:cNvPr>
          <p:cNvSpPr>
            <a:spLocks noGrp="1"/>
          </p:cNvSpPr>
          <p:nvPr/>
        </p:nvSpPr>
        <p:spPr>
          <a:xfrm>
            <a:off x="9144000" y="25812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1.115</a:t>
            </a:r>
          </a:p>
        </p:txBody>
      </p:sp>
      <p:sp>
        <p:nvSpPr>
          <p:cNvPr id="36" name="Rectangle 35">
            <a:extLst>
              <a:ext uri="{FF2B5EF4-FFF2-40B4-BE49-F238E27FC236}">
                <a16:creationId xmlns:a16="http://schemas.microsoft.com/office/drawing/2014/main" id="{7033B7F9-D044-4A1D-AC91-A451BFBB6A15}"/>
              </a:ext>
            </a:extLst>
          </p:cNvPr>
          <p:cNvSpPr>
            <a:spLocks noGrp="1"/>
          </p:cNvSpPr>
          <p:nvPr/>
        </p:nvSpPr>
        <p:spPr>
          <a:xfrm>
            <a:off x="590550" y="3009900"/>
            <a:ext cx="1524000" cy="514350"/>
          </a:xfrm>
          <a:prstGeom prst="rect">
            <a:avLst/>
          </a:prstGeom>
          <a:solidFill>
            <a:srgbClr val="FFFFFF"/>
          </a:solidFill>
          <a:ln w="9525">
            <a:solidFill>
              <a:srgbClr val="CBD5E1"/>
            </a:solidFill>
            <a:prstDash val="solid"/>
          </a:ln>
        </p:spPr>
        <p:txBody>
          <a:bodyPr/>
          <a:lstStyle/>
          <a:p>
            <a:endParaRPr lang="en-US"/>
          </a:p>
        </p:txBody>
      </p:sp>
      <p:sp>
        <p:nvSpPr>
          <p:cNvPr id="37" name="Rectangle 36">
            <a:extLst>
              <a:ext uri="{FF2B5EF4-FFF2-40B4-BE49-F238E27FC236}">
                <a16:creationId xmlns:a16="http://schemas.microsoft.com/office/drawing/2014/main" id="{C7E3833D-86E9-4BFF-8D33-DDB6DD4F0C5B}"/>
              </a:ext>
            </a:extLst>
          </p:cNvPr>
          <p:cNvSpPr>
            <a:spLocks noGrp="1"/>
          </p:cNvSpPr>
          <p:nvPr/>
        </p:nvSpPr>
        <p:spPr>
          <a:xfrm>
            <a:off x="666750" y="309562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decode</a:t>
            </a:r>
          </a:p>
        </p:txBody>
      </p:sp>
      <p:sp>
        <p:nvSpPr>
          <p:cNvPr id="38" name="Rectangle 37">
            <a:extLst>
              <a:ext uri="{FF2B5EF4-FFF2-40B4-BE49-F238E27FC236}">
                <a16:creationId xmlns:a16="http://schemas.microsoft.com/office/drawing/2014/main" id="{1AF194FE-6A4A-41B6-A176-10D028B300BE}"/>
              </a:ext>
            </a:extLst>
          </p:cNvPr>
          <p:cNvSpPr>
            <a:spLocks noGrp="1"/>
          </p:cNvSpPr>
          <p:nvPr/>
        </p:nvSpPr>
        <p:spPr>
          <a:xfrm>
            <a:off x="2114550" y="3009900"/>
            <a:ext cx="4095750" cy="514350"/>
          </a:xfrm>
          <a:prstGeom prst="rect">
            <a:avLst/>
          </a:prstGeom>
          <a:solidFill>
            <a:srgbClr val="FFFFFF"/>
          </a:solidFill>
          <a:ln w="9525">
            <a:solidFill>
              <a:srgbClr val="CBD5E1"/>
            </a:solidFill>
            <a:prstDash val="solid"/>
          </a:ln>
        </p:spPr>
        <p:txBody>
          <a:bodyPr/>
          <a:lstStyle/>
          <a:p>
            <a:endParaRPr lang="en-US"/>
          </a:p>
        </p:txBody>
      </p:sp>
      <p:sp>
        <p:nvSpPr>
          <p:cNvPr id="39" name="Rectangle 38">
            <a:extLst>
              <a:ext uri="{FF2B5EF4-FFF2-40B4-BE49-F238E27FC236}">
                <a16:creationId xmlns:a16="http://schemas.microsoft.com/office/drawing/2014/main" id="{CB7F68A6-378D-428F-874D-BD0847D0719D}"/>
              </a:ext>
            </a:extLst>
          </p:cNvPr>
          <p:cNvSpPr>
            <a:spLocks noGrp="1"/>
          </p:cNvSpPr>
          <p:nvPr/>
        </p:nvSpPr>
        <p:spPr>
          <a:xfrm>
            <a:off x="2190750" y="309562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UnaryOp</a:t>
            </a:r>
          </a:p>
        </p:txBody>
      </p:sp>
      <p:sp>
        <p:nvSpPr>
          <p:cNvPr id="40" name="Rectangle 39">
            <a:extLst>
              <a:ext uri="{FF2B5EF4-FFF2-40B4-BE49-F238E27FC236}">
                <a16:creationId xmlns:a16="http://schemas.microsoft.com/office/drawing/2014/main" id="{C86B30ED-6751-4950-9D28-DED1B0269958}"/>
              </a:ext>
            </a:extLst>
          </p:cNvPr>
          <p:cNvSpPr>
            <a:spLocks noGrp="1"/>
          </p:cNvSpPr>
          <p:nvPr/>
        </p:nvSpPr>
        <p:spPr>
          <a:xfrm>
            <a:off x="6210300" y="3009900"/>
            <a:ext cx="1143000" cy="514350"/>
          </a:xfrm>
          <a:prstGeom prst="rect">
            <a:avLst/>
          </a:prstGeom>
          <a:solidFill>
            <a:srgbClr val="FFFFFF"/>
          </a:solidFill>
          <a:ln w="9525">
            <a:solidFill>
              <a:srgbClr val="CBD5E1"/>
            </a:solidFill>
            <a:prstDash val="solid"/>
          </a:ln>
        </p:spPr>
        <p:txBody>
          <a:bodyPr/>
          <a:lstStyle/>
          <a:p>
            <a:endParaRPr lang="en-US"/>
          </a:p>
        </p:txBody>
      </p:sp>
      <p:sp>
        <p:nvSpPr>
          <p:cNvPr id="41" name="Rectangle 40">
            <a:extLst>
              <a:ext uri="{FF2B5EF4-FFF2-40B4-BE49-F238E27FC236}">
                <a16:creationId xmlns:a16="http://schemas.microsoft.com/office/drawing/2014/main" id="{2F2F8762-3EF8-497A-B9EA-88D4957C139A}"/>
              </a:ext>
            </a:extLst>
          </p:cNvPr>
          <p:cNvSpPr>
            <a:spLocks noGrp="1"/>
          </p:cNvSpPr>
          <p:nvPr/>
        </p:nvSpPr>
        <p:spPr>
          <a:xfrm>
            <a:off x="6286500" y="309562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2464</a:t>
            </a:r>
          </a:p>
        </p:txBody>
      </p:sp>
      <p:sp>
        <p:nvSpPr>
          <p:cNvPr id="42" name="Rectangle 41">
            <a:extLst>
              <a:ext uri="{FF2B5EF4-FFF2-40B4-BE49-F238E27FC236}">
                <a16:creationId xmlns:a16="http://schemas.microsoft.com/office/drawing/2014/main" id="{B7E99EA3-8ED8-43BD-83AB-3F77F7EB4B89}"/>
              </a:ext>
            </a:extLst>
          </p:cNvPr>
          <p:cNvSpPr>
            <a:spLocks noGrp="1"/>
          </p:cNvSpPr>
          <p:nvPr/>
        </p:nvSpPr>
        <p:spPr>
          <a:xfrm>
            <a:off x="7353300" y="3009900"/>
            <a:ext cx="1714500" cy="514350"/>
          </a:xfrm>
          <a:prstGeom prst="rect">
            <a:avLst/>
          </a:prstGeom>
          <a:solidFill>
            <a:srgbClr val="FFFFFF"/>
          </a:solidFill>
          <a:ln w="9525">
            <a:solidFill>
              <a:srgbClr val="CBD5E1"/>
            </a:solidFill>
            <a:prstDash val="solid"/>
          </a:ln>
        </p:spPr>
        <p:txBody>
          <a:bodyPr/>
          <a:lstStyle/>
          <a:p>
            <a:endParaRPr lang="en-US"/>
          </a:p>
        </p:txBody>
      </p:sp>
      <p:sp>
        <p:nvSpPr>
          <p:cNvPr id="43" name="Rectangle 42">
            <a:extLst>
              <a:ext uri="{FF2B5EF4-FFF2-40B4-BE49-F238E27FC236}">
                <a16:creationId xmlns:a16="http://schemas.microsoft.com/office/drawing/2014/main" id="{382473DE-270A-49B7-9D0A-F9058145BD16}"/>
              </a:ext>
            </a:extLst>
          </p:cNvPr>
          <p:cNvSpPr>
            <a:spLocks noGrp="1"/>
          </p:cNvSpPr>
          <p:nvPr/>
        </p:nvSpPr>
        <p:spPr>
          <a:xfrm>
            <a:off x="7429500" y="30956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1326.5</a:t>
            </a:r>
          </a:p>
        </p:txBody>
      </p:sp>
      <p:sp>
        <p:nvSpPr>
          <p:cNvPr id="44" name="Rectangle 43">
            <a:extLst>
              <a:ext uri="{FF2B5EF4-FFF2-40B4-BE49-F238E27FC236}">
                <a16:creationId xmlns:a16="http://schemas.microsoft.com/office/drawing/2014/main" id="{907E63FC-4225-4513-8DF7-CAEFC5FC989C}"/>
              </a:ext>
            </a:extLst>
          </p:cNvPr>
          <p:cNvSpPr>
            <a:spLocks noGrp="1"/>
          </p:cNvSpPr>
          <p:nvPr/>
        </p:nvSpPr>
        <p:spPr>
          <a:xfrm>
            <a:off x="9067800" y="3009900"/>
            <a:ext cx="1714500" cy="514350"/>
          </a:xfrm>
          <a:prstGeom prst="rect">
            <a:avLst/>
          </a:prstGeom>
          <a:solidFill>
            <a:srgbClr val="FFFFFF"/>
          </a:solidFill>
          <a:ln w="9525">
            <a:solidFill>
              <a:srgbClr val="CBD5E1"/>
            </a:solidFill>
            <a:prstDash val="solid"/>
          </a:ln>
        </p:spPr>
        <p:txBody>
          <a:bodyPr/>
          <a:lstStyle/>
          <a:p>
            <a:endParaRPr lang="en-US"/>
          </a:p>
        </p:txBody>
      </p:sp>
      <p:sp>
        <p:nvSpPr>
          <p:cNvPr id="45" name="Rectangle 44">
            <a:extLst>
              <a:ext uri="{FF2B5EF4-FFF2-40B4-BE49-F238E27FC236}">
                <a16:creationId xmlns:a16="http://schemas.microsoft.com/office/drawing/2014/main" id="{43B4F375-28AC-4EA3-BF53-463F13700DBA}"/>
              </a:ext>
            </a:extLst>
          </p:cNvPr>
          <p:cNvSpPr>
            <a:spLocks noGrp="1"/>
          </p:cNvSpPr>
          <p:nvPr/>
        </p:nvSpPr>
        <p:spPr>
          <a:xfrm>
            <a:off x="9144000" y="30956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0.538</a:t>
            </a:r>
          </a:p>
        </p:txBody>
      </p:sp>
      <p:sp>
        <p:nvSpPr>
          <p:cNvPr id="46" name="Rectangle 45">
            <a:extLst>
              <a:ext uri="{FF2B5EF4-FFF2-40B4-BE49-F238E27FC236}">
                <a16:creationId xmlns:a16="http://schemas.microsoft.com/office/drawing/2014/main" id="{5BB049B1-51D0-4AB8-8F1F-35C08B504672}"/>
              </a:ext>
            </a:extLst>
          </p:cNvPr>
          <p:cNvSpPr>
            <a:spLocks noGrp="1"/>
          </p:cNvSpPr>
          <p:nvPr/>
        </p:nvSpPr>
        <p:spPr>
          <a:xfrm>
            <a:off x="590550" y="3524250"/>
            <a:ext cx="1524000" cy="514350"/>
          </a:xfrm>
          <a:prstGeom prst="rect">
            <a:avLst/>
          </a:prstGeom>
          <a:solidFill>
            <a:srgbClr val="F1F5F9"/>
          </a:solidFill>
          <a:ln w="9525">
            <a:solidFill>
              <a:srgbClr val="CBD5E1"/>
            </a:solidFill>
            <a:prstDash val="solid"/>
          </a:ln>
        </p:spPr>
        <p:txBody>
          <a:bodyPr/>
          <a:lstStyle/>
          <a:p>
            <a:endParaRPr lang="en-US"/>
          </a:p>
        </p:txBody>
      </p:sp>
      <p:sp>
        <p:nvSpPr>
          <p:cNvPr id="47" name="Rectangle 46">
            <a:extLst>
              <a:ext uri="{FF2B5EF4-FFF2-40B4-BE49-F238E27FC236}">
                <a16:creationId xmlns:a16="http://schemas.microsoft.com/office/drawing/2014/main" id="{0240CD80-D657-417B-A564-A312D129DB13}"/>
              </a:ext>
            </a:extLst>
          </p:cNvPr>
          <p:cNvSpPr>
            <a:spLocks noGrp="1"/>
          </p:cNvSpPr>
          <p:nvPr/>
        </p:nvSpPr>
        <p:spPr>
          <a:xfrm>
            <a:off x="666750" y="360997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decode</a:t>
            </a:r>
          </a:p>
        </p:txBody>
      </p:sp>
      <p:sp>
        <p:nvSpPr>
          <p:cNvPr id="48" name="Rectangle 47">
            <a:extLst>
              <a:ext uri="{FF2B5EF4-FFF2-40B4-BE49-F238E27FC236}">
                <a16:creationId xmlns:a16="http://schemas.microsoft.com/office/drawing/2014/main" id="{F2290DA1-6844-43DB-A023-962B9A9D34E0}"/>
              </a:ext>
            </a:extLst>
          </p:cNvPr>
          <p:cNvSpPr>
            <a:spLocks noGrp="1"/>
          </p:cNvSpPr>
          <p:nvPr/>
        </p:nvSpPr>
        <p:spPr>
          <a:xfrm>
            <a:off x="2114550" y="3524250"/>
            <a:ext cx="4095750" cy="514350"/>
          </a:xfrm>
          <a:prstGeom prst="rect">
            <a:avLst/>
          </a:prstGeom>
          <a:solidFill>
            <a:srgbClr val="F1F5F9"/>
          </a:solidFill>
          <a:ln w="9525">
            <a:solidFill>
              <a:srgbClr val="CBD5E1"/>
            </a:solidFill>
            <a:prstDash val="solid"/>
          </a:ln>
        </p:spPr>
        <p:txBody>
          <a:bodyPr/>
          <a:lstStyle/>
          <a:p>
            <a:endParaRPr lang="en-US"/>
          </a:p>
        </p:txBody>
      </p:sp>
      <p:sp>
        <p:nvSpPr>
          <p:cNvPr id="49" name="Rectangle 48">
            <a:extLst>
              <a:ext uri="{FF2B5EF4-FFF2-40B4-BE49-F238E27FC236}">
                <a16:creationId xmlns:a16="http://schemas.microsoft.com/office/drawing/2014/main" id="{18852AEC-236D-47C3-99AF-196F3C67FEA5}"/>
              </a:ext>
            </a:extLst>
          </p:cNvPr>
          <p:cNvSpPr>
            <a:spLocks noGrp="1"/>
          </p:cNvSpPr>
          <p:nvPr/>
        </p:nvSpPr>
        <p:spPr>
          <a:xfrm>
            <a:off x="2190750" y="360997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LinearAttention</a:t>
            </a:r>
          </a:p>
        </p:txBody>
      </p:sp>
      <p:sp>
        <p:nvSpPr>
          <p:cNvPr id="50" name="Rectangle 49">
            <a:extLst>
              <a:ext uri="{FF2B5EF4-FFF2-40B4-BE49-F238E27FC236}">
                <a16:creationId xmlns:a16="http://schemas.microsoft.com/office/drawing/2014/main" id="{B593F308-C94D-49ED-B6AC-DEFE0E727075}"/>
              </a:ext>
            </a:extLst>
          </p:cNvPr>
          <p:cNvSpPr>
            <a:spLocks noGrp="1"/>
          </p:cNvSpPr>
          <p:nvPr/>
        </p:nvSpPr>
        <p:spPr>
          <a:xfrm>
            <a:off x="6210300" y="3524250"/>
            <a:ext cx="1143000" cy="514350"/>
          </a:xfrm>
          <a:prstGeom prst="rect">
            <a:avLst/>
          </a:prstGeom>
          <a:solidFill>
            <a:srgbClr val="F1F5F9"/>
          </a:solidFill>
          <a:ln w="9525">
            <a:solidFill>
              <a:srgbClr val="CBD5E1"/>
            </a:solidFill>
            <a:prstDash val="solid"/>
          </a:ln>
        </p:spPr>
        <p:txBody>
          <a:bodyPr/>
          <a:lstStyle/>
          <a:p>
            <a:endParaRPr lang="en-US"/>
          </a:p>
        </p:txBody>
      </p:sp>
      <p:sp>
        <p:nvSpPr>
          <p:cNvPr id="51" name="Rectangle 50">
            <a:extLst>
              <a:ext uri="{FF2B5EF4-FFF2-40B4-BE49-F238E27FC236}">
                <a16:creationId xmlns:a16="http://schemas.microsoft.com/office/drawing/2014/main" id="{0D29E404-50D4-4D5D-8D52-626694AC0704}"/>
              </a:ext>
            </a:extLst>
          </p:cNvPr>
          <p:cNvSpPr>
            <a:spLocks noGrp="1"/>
          </p:cNvSpPr>
          <p:nvPr/>
        </p:nvSpPr>
        <p:spPr>
          <a:xfrm>
            <a:off x="6286500" y="360997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384</a:t>
            </a:r>
          </a:p>
        </p:txBody>
      </p:sp>
      <p:sp>
        <p:nvSpPr>
          <p:cNvPr id="52" name="Rectangle 51">
            <a:extLst>
              <a:ext uri="{FF2B5EF4-FFF2-40B4-BE49-F238E27FC236}">
                <a16:creationId xmlns:a16="http://schemas.microsoft.com/office/drawing/2014/main" id="{712C48D4-3855-4FD8-BDB2-24BA34FB68B4}"/>
              </a:ext>
            </a:extLst>
          </p:cNvPr>
          <p:cNvSpPr>
            <a:spLocks noGrp="1"/>
          </p:cNvSpPr>
          <p:nvPr/>
        </p:nvSpPr>
        <p:spPr>
          <a:xfrm>
            <a:off x="7353300" y="3524250"/>
            <a:ext cx="1714500" cy="514350"/>
          </a:xfrm>
          <a:prstGeom prst="rect">
            <a:avLst/>
          </a:prstGeom>
          <a:solidFill>
            <a:srgbClr val="F1F5F9"/>
          </a:solidFill>
          <a:ln w="9525">
            <a:solidFill>
              <a:srgbClr val="CBD5E1"/>
            </a:solidFill>
            <a:prstDash val="solid"/>
          </a:ln>
        </p:spPr>
        <p:txBody>
          <a:bodyPr/>
          <a:lstStyle/>
          <a:p>
            <a:endParaRPr lang="en-US"/>
          </a:p>
        </p:txBody>
      </p:sp>
      <p:sp>
        <p:nvSpPr>
          <p:cNvPr id="53" name="Rectangle 52">
            <a:extLst>
              <a:ext uri="{FF2B5EF4-FFF2-40B4-BE49-F238E27FC236}">
                <a16:creationId xmlns:a16="http://schemas.microsoft.com/office/drawing/2014/main" id="{92EB5B0C-A91A-4C0C-871A-301F0AC651A6}"/>
              </a:ext>
            </a:extLst>
          </p:cNvPr>
          <p:cNvSpPr>
            <a:spLocks noGrp="1"/>
          </p:cNvSpPr>
          <p:nvPr/>
        </p:nvSpPr>
        <p:spPr>
          <a:xfrm>
            <a:off x="7429500" y="36099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448.954</a:t>
            </a:r>
          </a:p>
        </p:txBody>
      </p:sp>
      <p:sp>
        <p:nvSpPr>
          <p:cNvPr id="54" name="Rectangle 53">
            <a:extLst>
              <a:ext uri="{FF2B5EF4-FFF2-40B4-BE49-F238E27FC236}">
                <a16:creationId xmlns:a16="http://schemas.microsoft.com/office/drawing/2014/main" id="{431FE07D-6D38-40B6-85E8-6BBF5D693D72}"/>
              </a:ext>
            </a:extLst>
          </p:cNvPr>
          <p:cNvSpPr>
            <a:spLocks noGrp="1"/>
          </p:cNvSpPr>
          <p:nvPr/>
        </p:nvSpPr>
        <p:spPr>
          <a:xfrm>
            <a:off x="9067800" y="3524250"/>
            <a:ext cx="1714500" cy="514350"/>
          </a:xfrm>
          <a:prstGeom prst="rect">
            <a:avLst/>
          </a:prstGeom>
          <a:solidFill>
            <a:srgbClr val="F1F5F9"/>
          </a:solidFill>
          <a:ln w="9525">
            <a:solidFill>
              <a:srgbClr val="CBD5E1"/>
            </a:solidFill>
            <a:prstDash val="solid"/>
          </a:ln>
        </p:spPr>
        <p:txBody>
          <a:bodyPr/>
          <a:lstStyle/>
          <a:p>
            <a:endParaRPr lang="en-US"/>
          </a:p>
        </p:txBody>
      </p:sp>
      <p:sp>
        <p:nvSpPr>
          <p:cNvPr id="55" name="Rectangle 54">
            <a:extLst>
              <a:ext uri="{FF2B5EF4-FFF2-40B4-BE49-F238E27FC236}">
                <a16:creationId xmlns:a16="http://schemas.microsoft.com/office/drawing/2014/main" id="{AF40BBC6-090D-458A-BF3B-9362B2B4BEC5}"/>
              </a:ext>
            </a:extLst>
          </p:cNvPr>
          <p:cNvSpPr>
            <a:spLocks noGrp="1"/>
          </p:cNvSpPr>
          <p:nvPr/>
        </p:nvSpPr>
        <p:spPr>
          <a:xfrm>
            <a:off x="9144000" y="36099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1.169</a:t>
            </a:r>
          </a:p>
        </p:txBody>
      </p:sp>
      <p:sp>
        <p:nvSpPr>
          <p:cNvPr id="56" name="Rectangle 55">
            <a:extLst>
              <a:ext uri="{FF2B5EF4-FFF2-40B4-BE49-F238E27FC236}">
                <a16:creationId xmlns:a16="http://schemas.microsoft.com/office/drawing/2014/main" id="{23D7AAB5-1441-416D-B8F4-B491350DFD7D}"/>
              </a:ext>
            </a:extLst>
          </p:cNvPr>
          <p:cNvSpPr>
            <a:spLocks noGrp="1"/>
          </p:cNvSpPr>
          <p:nvPr/>
        </p:nvSpPr>
        <p:spPr>
          <a:xfrm>
            <a:off x="590550" y="4038600"/>
            <a:ext cx="1524000" cy="514350"/>
          </a:xfrm>
          <a:prstGeom prst="rect">
            <a:avLst/>
          </a:prstGeom>
          <a:solidFill>
            <a:srgbClr val="FFFFFF"/>
          </a:solidFill>
          <a:ln w="9525">
            <a:solidFill>
              <a:srgbClr val="CBD5E1"/>
            </a:solidFill>
            <a:prstDash val="solid"/>
          </a:ln>
        </p:spPr>
        <p:txBody>
          <a:bodyPr/>
          <a:lstStyle/>
          <a:p>
            <a:endParaRPr lang="en-US"/>
          </a:p>
        </p:txBody>
      </p:sp>
      <p:sp>
        <p:nvSpPr>
          <p:cNvPr id="57" name="Rectangle 56">
            <a:extLst>
              <a:ext uri="{FF2B5EF4-FFF2-40B4-BE49-F238E27FC236}">
                <a16:creationId xmlns:a16="http://schemas.microsoft.com/office/drawing/2014/main" id="{ADD52F78-25D9-4345-9924-9E8167E31408}"/>
              </a:ext>
            </a:extLst>
          </p:cNvPr>
          <p:cNvSpPr>
            <a:spLocks noGrp="1"/>
          </p:cNvSpPr>
          <p:nvPr/>
        </p:nvSpPr>
        <p:spPr>
          <a:xfrm>
            <a:off x="666750" y="412432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decode</a:t>
            </a:r>
          </a:p>
        </p:txBody>
      </p:sp>
      <p:sp>
        <p:nvSpPr>
          <p:cNvPr id="58" name="Rectangle 57">
            <a:extLst>
              <a:ext uri="{FF2B5EF4-FFF2-40B4-BE49-F238E27FC236}">
                <a16:creationId xmlns:a16="http://schemas.microsoft.com/office/drawing/2014/main" id="{DA543957-9781-4E3D-8CCA-D5FCD2EEEC83}"/>
              </a:ext>
            </a:extLst>
          </p:cNvPr>
          <p:cNvSpPr>
            <a:spLocks noGrp="1"/>
          </p:cNvSpPr>
          <p:nvPr/>
        </p:nvSpPr>
        <p:spPr>
          <a:xfrm>
            <a:off x="2114550" y="4038600"/>
            <a:ext cx="4095750" cy="514350"/>
          </a:xfrm>
          <a:prstGeom prst="rect">
            <a:avLst/>
          </a:prstGeom>
          <a:solidFill>
            <a:srgbClr val="FFFFFF"/>
          </a:solidFill>
          <a:ln w="9525">
            <a:solidFill>
              <a:srgbClr val="CBD5E1"/>
            </a:solidFill>
            <a:prstDash val="solid"/>
          </a:ln>
        </p:spPr>
        <p:txBody>
          <a:bodyPr/>
          <a:lstStyle/>
          <a:p>
            <a:endParaRPr lang="en-US"/>
          </a:p>
        </p:txBody>
      </p:sp>
      <p:sp>
        <p:nvSpPr>
          <p:cNvPr id="59" name="Rectangle 58">
            <a:extLst>
              <a:ext uri="{FF2B5EF4-FFF2-40B4-BE49-F238E27FC236}">
                <a16:creationId xmlns:a16="http://schemas.microsoft.com/office/drawing/2014/main" id="{D0128B9D-F2F4-42E4-BF0E-0D531357F039}"/>
              </a:ext>
            </a:extLst>
          </p:cNvPr>
          <p:cNvSpPr>
            <a:spLocks noGrp="1"/>
          </p:cNvSpPr>
          <p:nvPr/>
        </p:nvSpPr>
        <p:spPr>
          <a:xfrm>
            <a:off x="2190750" y="412432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LayerNorm</a:t>
            </a:r>
          </a:p>
        </p:txBody>
      </p:sp>
      <p:sp>
        <p:nvSpPr>
          <p:cNvPr id="60" name="Rectangle 59">
            <a:extLst>
              <a:ext uri="{FF2B5EF4-FFF2-40B4-BE49-F238E27FC236}">
                <a16:creationId xmlns:a16="http://schemas.microsoft.com/office/drawing/2014/main" id="{9E73FE9A-6826-45F5-A5E8-5848639EC2FA}"/>
              </a:ext>
            </a:extLst>
          </p:cNvPr>
          <p:cNvSpPr>
            <a:spLocks noGrp="1"/>
          </p:cNvSpPr>
          <p:nvPr/>
        </p:nvSpPr>
        <p:spPr>
          <a:xfrm>
            <a:off x="6210300" y="4038600"/>
            <a:ext cx="1143000" cy="514350"/>
          </a:xfrm>
          <a:prstGeom prst="rect">
            <a:avLst/>
          </a:prstGeom>
          <a:solidFill>
            <a:srgbClr val="FFFFFF"/>
          </a:solidFill>
          <a:ln w="9525">
            <a:solidFill>
              <a:srgbClr val="CBD5E1"/>
            </a:solidFill>
            <a:prstDash val="solid"/>
          </a:ln>
        </p:spPr>
        <p:txBody>
          <a:bodyPr/>
          <a:lstStyle/>
          <a:p>
            <a:endParaRPr lang="en-US"/>
          </a:p>
        </p:txBody>
      </p:sp>
      <p:sp>
        <p:nvSpPr>
          <p:cNvPr id="61" name="Rectangle 60">
            <a:extLst>
              <a:ext uri="{FF2B5EF4-FFF2-40B4-BE49-F238E27FC236}">
                <a16:creationId xmlns:a16="http://schemas.microsoft.com/office/drawing/2014/main" id="{0FB762FC-9893-44D7-886E-5AAD7209F5BF}"/>
              </a:ext>
            </a:extLst>
          </p:cNvPr>
          <p:cNvSpPr>
            <a:spLocks noGrp="1"/>
          </p:cNvSpPr>
          <p:nvPr/>
        </p:nvSpPr>
        <p:spPr>
          <a:xfrm>
            <a:off x="6286500" y="412432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1680</a:t>
            </a:r>
          </a:p>
        </p:txBody>
      </p:sp>
      <p:sp>
        <p:nvSpPr>
          <p:cNvPr id="62" name="Rectangle 61">
            <a:extLst>
              <a:ext uri="{FF2B5EF4-FFF2-40B4-BE49-F238E27FC236}">
                <a16:creationId xmlns:a16="http://schemas.microsoft.com/office/drawing/2014/main" id="{015E632B-7538-4B0E-8177-F7ED4391E6FC}"/>
              </a:ext>
            </a:extLst>
          </p:cNvPr>
          <p:cNvSpPr>
            <a:spLocks noGrp="1"/>
          </p:cNvSpPr>
          <p:nvPr/>
        </p:nvSpPr>
        <p:spPr>
          <a:xfrm>
            <a:off x="7353300" y="4038600"/>
            <a:ext cx="1714500" cy="514350"/>
          </a:xfrm>
          <a:prstGeom prst="rect">
            <a:avLst/>
          </a:prstGeom>
          <a:solidFill>
            <a:srgbClr val="FFFFFF"/>
          </a:solidFill>
          <a:ln w="9525">
            <a:solidFill>
              <a:srgbClr val="CBD5E1"/>
            </a:solidFill>
            <a:prstDash val="solid"/>
          </a:ln>
        </p:spPr>
        <p:txBody>
          <a:bodyPr/>
          <a:lstStyle/>
          <a:p>
            <a:endParaRPr lang="en-US"/>
          </a:p>
        </p:txBody>
      </p:sp>
      <p:sp>
        <p:nvSpPr>
          <p:cNvPr id="63" name="Rectangle 62">
            <a:extLst>
              <a:ext uri="{FF2B5EF4-FFF2-40B4-BE49-F238E27FC236}">
                <a16:creationId xmlns:a16="http://schemas.microsoft.com/office/drawing/2014/main" id="{0D882102-97A6-4B95-9074-B12F7772BCD8}"/>
              </a:ext>
            </a:extLst>
          </p:cNvPr>
          <p:cNvSpPr>
            <a:spLocks noGrp="1"/>
          </p:cNvSpPr>
          <p:nvPr/>
        </p:nvSpPr>
        <p:spPr>
          <a:xfrm>
            <a:off x="7429500" y="41243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348.949</a:t>
            </a:r>
          </a:p>
        </p:txBody>
      </p:sp>
      <p:sp>
        <p:nvSpPr>
          <p:cNvPr id="64" name="Rectangle 63">
            <a:extLst>
              <a:ext uri="{FF2B5EF4-FFF2-40B4-BE49-F238E27FC236}">
                <a16:creationId xmlns:a16="http://schemas.microsoft.com/office/drawing/2014/main" id="{B20F8267-D945-402E-AB05-A9FF9655A61C}"/>
              </a:ext>
            </a:extLst>
          </p:cNvPr>
          <p:cNvSpPr>
            <a:spLocks noGrp="1"/>
          </p:cNvSpPr>
          <p:nvPr/>
        </p:nvSpPr>
        <p:spPr>
          <a:xfrm>
            <a:off x="9067800" y="4038600"/>
            <a:ext cx="1714500" cy="514350"/>
          </a:xfrm>
          <a:prstGeom prst="rect">
            <a:avLst/>
          </a:prstGeom>
          <a:solidFill>
            <a:srgbClr val="FFFFFF"/>
          </a:solidFill>
          <a:ln w="9525">
            <a:solidFill>
              <a:srgbClr val="CBD5E1"/>
            </a:solidFill>
            <a:prstDash val="solid"/>
          </a:ln>
        </p:spPr>
        <p:txBody>
          <a:bodyPr/>
          <a:lstStyle/>
          <a:p>
            <a:endParaRPr lang="en-US"/>
          </a:p>
        </p:txBody>
      </p:sp>
      <p:sp>
        <p:nvSpPr>
          <p:cNvPr id="65" name="Rectangle 64">
            <a:extLst>
              <a:ext uri="{FF2B5EF4-FFF2-40B4-BE49-F238E27FC236}">
                <a16:creationId xmlns:a16="http://schemas.microsoft.com/office/drawing/2014/main" id="{F5C5730E-6792-4D63-9DF7-28D3C7A482CD}"/>
              </a:ext>
            </a:extLst>
          </p:cNvPr>
          <p:cNvSpPr>
            <a:spLocks noGrp="1"/>
          </p:cNvSpPr>
          <p:nvPr/>
        </p:nvSpPr>
        <p:spPr>
          <a:xfrm>
            <a:off x="9144000" y="412432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0.208</a:t>
            </a:r>
          </a:p>
        </p:txBody>
      </p:sp>
      <p:sp>
        <p:nvSpPr>
          <p:cNvPr id="66" name="Rectangle 65">
            <a:extLst>
              <a:ext uri="{FF2B5EF4-FFF2-40B4-BE49-F238E27FC236}">
                <a16:creationId xmlns:a16="http://schemas.microsoft.com/office/drawing/2014/main" id="{539055CB-E01B-4A88-A5AA-797EBEA60AC4}"/>
              </a:ext>
            </a:extLst>
          </p:cNvPr>
          <p:cNvSpPr>
            <a:spLocks noGrp="1"/>
          </p:cNvSpPr>
          <p:nvPr/>
        </p:nvSpPr>
        <p:spPr>
          <a:xfrm>
            <a:off x="590550" y="4552950"/>
            <a:ext cx="1524000" cy="514350"/>
          </a:xfrm>
          <a:prstGeom prst="rect">
            <a:avLst/>
          </a:prstGeom>
          <a:solidFill>
            <a:srgbClr val="F1F5F9"/>
          </a:solidFill>
          <a:ln w="9525">
            <a:solidFill>
              <a:srgbClr val="CBD5E1"/>
            </a:solidFill>
            <a:prstDash val="solid"/>
          </a:ln>
        </p:spPr>
        <p:txBody>
          <a:bodyPr/>
          <a:lstStyle/>
          <a:p>
            <a:endParaRPr lang="en-US"/>
          </a:p>
        </p:txBody>
      </p:sp>
      <p:sp>
        <p:nvSpPr>
          <p:cNvPr id="67" name="Rectangle 66">
            <a:extLst>
              <a:ext uri="{FF2B5EF4-FFF2-40B4-BE49-F238E27FC236}">
                <a16:creationId xmlns:a16="http://schemas.microsoft.com/office/drawing/2014/main" id="{B385B914-9E26-4039-A561-340139299750}"/>
              </a:ext>
            </a:extLst>
          </p:cNvPr>
          <p:cNvSpPr>
            <a:spLocks noGrp="1"/>
          </p:cNvSpPr>
          <p:nvPr/>
        </p:nvSpPr>
        <p:spPr>
          <a:xfrm>
            <a:off x="666750" y="4638675"/>
            <a:ext cx="1371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decode</a:t>
            </a:r>
          </a:p>
        </p:txBody>
      </p:sp>
      <p:sp>
        <p:nvSpPr>
          <p:cNvPr id="68" name="Rectangle 67">
            <a:extLst>
              <a:ext uri="{FF2B5EF4-FFF2-40B4-BE49-F238E27FC236}">
                <a16:creationId xmlns:a16="http://schemas.microsoft.com/office/drawing/2014/main" id="{45D2F5AC-8018-4AA0-8E6B-2F372EAECC84}"/>
              </a:ext>
            </a:extLst>
          </p:cNvPr>
          <p:cNvSpPr>
            <a:spLocks noGrp="1"/>
          </p:cNvSpPr>
          <p:nvPr/>
        </p:nvSpPr>
        <p:spPr>
          <a:xfrm>
            <a:off x="2114550" y="4552950"/>
            <a:ext cx="4095750" cy="514350"/>
          </a:xfrm>
          <a:prstGeom prst="rect">
            <a:avLst/>
          </a:prstGeom>
          <a:solidFill>
            <a:srgbClr val="F1F5F9"/>
          </a:solidFill>
          <a:ln w="9525">
            <a:solidFill>
              <a:srgbClr val="CBD5E1"/>
            </a:solidFill>
            <a:prstDash val="solid"/>
          </a:ln>
        </p:spPr>
        <p:txBody>
          <a:bodyPr/>
          <a:lstStyle/>
          <a:p>
            <a:endParaRPr lang="en-US"/>
          </a:p>
        </p:txBody>
      </p:sp>
      <p:sp>
        <p:nvSpPr>
          <p:cNvPr id="69" name="Rectangle 68">
            <a:extLst>
              <a:ext uri="{FF2B5EF4-FFF2-40B4-BE49-F238E27FC236}">
                <a16:creationId xmlns:a16="http://schemas.microsoft.com/office/drawing/2014/main" id="{A1BB2450-FCE1-447A-BB95-21D8328424F5}"/>
              </a:ext>
            </a:extLst>
          </p:cNvPr>
          <p:cNvSpPr>
            <a:spLocks noGrp="1"/>
          </p:cNvSpPr>
          <p:nvPr/>
        </p:nvSpPr>
        <p:spPr>
          <a:xfrm>
            <a:off x="2190750" y="4638675"/>
            <a:ext cx="394335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/lm/lm_head/Linear</a:t>
            </a:r>
          </a:p>
        </p:txBody>
      </p:sp>
      <p:sp>
        <p:nvSpPr>
          <p:cNvPr id="70" name="Rectangle 69">
            <a:extLst>
              <a:ext uri="{FF2B5EF4-FFF2-40B4-BE49-F238E27FC236}">
                <a16:creationId xmlns:a16="http://schemas.microsoft.com/office/drawing/2014/main" id="{82DD7865-577F-4792-9493-C95C223B3E02}"/>
              </a:ext>
            </a:extLst>
          </p:cNvPr>
          <p:cNvSpPr>
            <a:spLocks noGrp="1"/>
          </p:cNvSpPr>
          <p:nvPr/>
        </p:nvSpPr>
        <p:spPr>
          <a:xfrm>
            <a:off x="6210300" y="4552950"/>
            <a:ext cx="1143000" cy="514350"/>
          </a:xfrm>
          <a:prstGeom prst="rect">
            <a:avLst/>
          </a:prstGeom>
          <a:solidFill>
            <a:srgbClr val="F1F5F9"/>
          </a:solidFill>
          <a:ln w="9525">
            <a:solidFill>
              <a:srgbClr val="CBD5E1"/>
            </a:solidFill>
            <a:prstDash val="solid"/>
          </a:ln>
        </p:spPr>
        <p:txBody>
          <a:bodyPr/>
          <a:lstStyle/>
          <a:p>
            <a:endParaRPr lang="en-US"/>
          </a:p>
        </p:txBody>
      </p:sp>
      <p:sp>
        <p:nvSpPr>
          <p:cNvPr id="71" name="Rectangle 70">
            <a:extLst>
              <a:ext uri="{FF2B5EF4-FFF2-40B4-BE49-F238E27FC236}">
                <a16:creationId xmlns:a16="http://schemas.microsoft.com/office/drawing/2014/main" id="{C5CCBAAD-8DA8-43AA-A06B-391DD392126F}"/>
              </a:ext>
            </a:extLst>
          </p:cNvPr>
          <p:cNvSpPr>
            <a:spLocks noGrp="1"/>
          </p:cNvSpPr>
          <p:nvPr/>
        </p:nvSpPr>
        <p:spPr>
          <a:xfrm>
            <a:off x="6286500" y="4638675"/>
            <a:ext cx="9906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16</a:t>
            </a:r>
          </a:p>
        </p:txBody>
      </p:sp>
      <p:sp>
        <p:nvSpPr>
          <p:cNvPr id="72" name="Rectangle 71">
            <a:extLst>
              <a:ext uri="{FF2B5EF4-FFF2-40B4-BE49-F238E27FC236}">
                <a16:creationId xmlns:a16="http://schemas.microsoft.com/office/drawing/2014/main" id="{BAFDBA6A-40CC-4BA8-8742-83A8AB216FD1}"/>
              </a:ext>
            </a:extLst>
          </p:cNvPr>
          <p:cNvSpPr>
            <a:spLocks noGrp="1"/>
          </p:cNvSpPr>
          <p:nvPr/>
        </p:nvSpPr>
        <p:spPr>
          <a:xfrm>
            <a:off x="7353300" y="4552950"/>
            <a:ext cx="1714500" cy="514350"/>
          </a:xfrm>
          <a:prstGeom prst="rect">
            <a:avLst/>
          </a:prstGeom>
          <a:solidFill>
            <a:srgbClr val="F1F5F9"/>
          </a:solidFill>
          <a:ln w="9525">
            <a:solidFill>
              <a:srgbClr val="CBD5E1"/>
            </a:solidFill>
            <a:prstDash val="solid"/>
          </a:ln>
        </p:spPr>
        <p:txBody>
          <a:bodyPr/>
          <a:lstStyle/>
          <a:p>
            <a:endParaRPr lang="en-US"/>
          </a:p>
        </p:txBody>
      </p:sp>
      <p:sp>
        <p:nvSpPr>
          <p:cNvPr id="73" name="Rectangle 72">
            <a:extLst>
              <a:ext uri="{FF2B5EF4-FFF2-40B4-BE49-F238E27FC236}">
                <a16:creationId xmlns:a16="http://schemas.microsoft.com/office/drawing/2014/main" id="{69583DA5-8405-4A12-88AF-6DB3D6F52991}"/>
              </a:ext>
            </a:extLst>
          </p:cNvPr>
          <p:cNvSpPr>
            <a:spLocks noGrp="1"/>
          </p:cNvSpPr>
          <p:nvPr/>
        </p:nvSpPr>
        <p:spPr>
          <a:xfrm>
            <a:off x="7429500" y="46386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243.503</a:t>
            </a:r>
          </a:p>
        </p:txBody>
      </p:sp>
      <p:sp>
        <p:nvSpPr>
          <p:cNvPr id="74" name="Rectangle 73">
            <a:extLst>
              <a:ext uri="{FF2B5EF4-FFF2-40B4-BE49-F238E27FC236}">
                <a16:creationId xmlns:a16="http://schemas.microsoft.com/office/drawing/2014/main" id="{204E3149-9BCD-49DB-BFAE-4029FE20CD47}"/>
              </a:ext>
            </a:extLst>
          </p:cNvPr>
          <p:cNvSpPr>
            <a:spLocks noGrp="1"/>
          </p:cNvSpPr>
          <p:nvPr/>
        </p:nvSpPr>
        <p:spPr>
          <a:xfrm>
            <a:off x="9067800" y="4552950"/>
            <a:ext cx="1714500" cy="514350"/>
          </a:xfrm>
          <a:prstGeom prst="rect">
            <a:avLst/>
          </a:prstGeom>
          <a:solidFill>
            <a:srgbClr val="F1F5F9"/>
          </a:solidFill>
          <a:ln w="9525">
            <a:solidFill>
              <a:srgbClr val="CBD5E1"/>
            </a:solidFill>
            <a:prstDash val="solid"/>
          </a:ln>
        </p:spPr>
        <p:txBody>
          <a:bodyPr/>
          <a:lstStyle/>
          <a:p>
            <a:endParaRPr lang="en-US"/>
          </a:p>
        </p:txBody>
      </p:sp>
      <p:sp>
        <p:nvSpPr>
          <p:cNvPr id="75" name="Rectangle 74">
            <a:extLst>
              <a:ext uri="{FF2B5EF4-FFF2-40B4-BE49-F238E27FC236}">
                <a16:creationId xmlns:a16="http://schemas.microsoft.com/office/drawing/2014/main" id="{329D32A6-AF48-4955-9057-FF4AC9581C13}"/>
              </a:ext>
            </a:extLst>
          </p:cNvPr>
          <p:cNvSpPr>
            <a:spLocks noGrp="1"/>
          </p:cNvSpPr>
          <p:nvPr/>
        </p:nvSpPr>
        <p:spPr>
          <a:xfrm>
            <a:off x="9144000" y="4638675"/>
            <a:ext cx="1562100" cy="419100"/>
          </a:xfrm>
          <a:prstGeom prst="rect">
            <a:avLst/>
          </a:prstGeom>
          <a:noFill/>
          <a:ln w="0">
            <a:solidFill>
              <a:srgbClr val="000000">
                <a:alpha val="0"/>
              </a:srgbClr>
            </a:solidFill>
            <a:prstDash val="solid"/>
          </a:ln>
        </p:spPr>
        <p:txBody>
          <a:bodyPr/>
          <a:lstStyle/>
          <a:p>
            <a:pPr algn="l">
              <a:defRPr sz="975" b="0">
                <a:solidFill>
                  <a:srgbClr val="0F172A"/>
                </a:solidFill>
                <a:latin typeface="Aptos"/>
                <a:ea typeface="Aptos"/>
                <a:cs typeface="Aptos"/>
              </a:defRPr>
            </a:pPr>
            <a:r>
              <a:rPr sz="975" b="0">
                <a:solidFill>
                  <a:srgbClr val="0F172A"/>
                </a:solidFill>
                <a:latin typeface="Aptos"/>
                <a:ea typeface="Aptos"/>
                <a:cs typeface="Aptos"/>
              </a:rPr>
              <a:t>15.219</a:t>
            </a:r>
          </a:p>
        </p:txBody>
      </p:sp>
    </p:spTree>
    <p:extLst>
      <p:ext uri="{BB962C8B-B14F-4D97-AF65-F5344CB8AC3E}">
        <p14:creationId xmlns:p14="http://schemas.microsoft.com/office/powerpoint/2010/main" val="266358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6143FA-6D3F-4ABA-A9A1-6814141D3FA3}"/>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CE9CFF08-D584-4BFB-A580-8F940B7C8C9F}"/>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Vulkan was attempted, but the final valid comparison is CPU</a:t>
            </a:r>
          </a:p>
        </p:txBody>
      </p:sp>
      <p:sp>
        <p:nvSpPr>
          <p:cNvPr id="3" name="Rectangle 2">
            <a:extLst>
              <a:ext uri="{FF2B5EF4-FFF2-40B4-BE49-F238E27FC236}">
                <a16:creationId xmlns:a16="http://schemas.microsoft.com/office/drawing/2014/main" id="{76583411-A02A-40D8-B62D-F1AA655B1478}"/>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22</a:t>
            </a:r>
          </a:p>
        </p:txBody>
      </p:sp>
      <p:sp>
        <p:nvSpPr>
          <p:cNvPr id="4" name="Rectangle 3">
            <a:extLst>
              <a:ext uri="{FF2B5EF4-FFF2-40B4-BE49-F238E27FC236}">
                <a16:creationId xmlns:a16="http://schemas.microsoft.com/office/drawing/2014/main" id="{32D74379-60E7-4114-B46A-B28CF5DA56B7}"/>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F05EE9C-9F28-4C5A-8FCE-048CAE50F103}"/>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41B3F27C-E6D7-4526-8040-278776104D7A}"/>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Stock MNN Vulkan initialized Adreno Vulkan but crashed before benchmark JSON in prior backend sweep evidence.</a:t>
            </a:r>
          </a:p>
          <a:p>
            <a:pPr algn="l">
              <a:defRPr sz="1650" b="0">
                <a:solidFill>
                  <a:srgbClr val="0F172A"/>
                </a:solidFill>
                <a:latin typeface="Aptos"/>
                <a:ea typeface="Aptos"/>
                <a:cs typeface="Aptos"/>
              </a:defRPr>
            </a:pPr>
            <a:r>
              <a:rPr sz="1650" b="0">
                <a:solidFill>
                  <a:srgbClr val="0F172A"/>
                </a:solidFill>
                <a:latin typeface="Aptos"/>
                <a:ea typeface="Aptos"/>
                <a:cs typeface="Aptos"/>
              </a:rPr>
              <a:t>* Custom cpu_vulkan_hybrid probed Vulkan symbols successfully.</a:t>
            </a:r>
          </a:p>
          <a:p>
            <a:pPr algn="l">
              <a:defRPr sz="1650" b="0">
                <a:solidFill>
                  <a:srgbClr val="0F172A"/>
                </a:solidFill>
                <a:latin typeface="Aptos"/>
                <a:ea typeface="Aptos"/>
                <a:cs typeface="Aptos"/>
              </a:defRPr>
            </a:pPr>
            <a:r>
              <a:rPr sz="1650" b="0">
                <a:solidFill>
                  <a:srgbClr val="0F172A"/>
                </a:solidFill>
                <a:latin typeface="Aptos"/>
                <a:ea typeface="Aptos"/>
                <a:cs typeface="Aptos"/>
              </a:rPr>
              <a:t>* Final custom_backend_actual is CPU.</a:t>
            </a:r>
          </a:p>
          <a:p>
            <a:pPr algn="l">
              <a:defRPr sz="1650" b="0">
                <a:solidFill>
                  <a:srgbClr val="0F172A"/>
                </a:solidFill>
                <a:latin typeface="Aptos"/>
                <a:ea typeface="Aptos"/>
                <a:cs typeface="Aptos"/>
              </a:defRPr>
            </a:pPr>
            <a:r>
              <a:rPr sz="1650" b="0">
                <a:solidFill>
                  <a:srgbClr val="0F172A"/>
                </a:solidFill>
                <a:latin typeface="Aptos"/>
                <a:ea typeface="Aptos"/>
                <a:cs typeface="Aptos"/>
              </a:rPr>
              <a:t>* vulkan_generation_kernels_used is false.</a:t>
            </a:r>
          </a:p>
          <a:p>
            <a:pPr algn="l">
              <a:defRPr sz="1650" b="0">
                <a:solidFill>
                  <a:srgbClr val="0F172A"/>
                </a:solidFill>
                <a:latin typeface="Aptos"/>
                <a:ea typeface="Aptos"/>
                <a:cs typeface="Aptos"/>
              </a:defRPr>
            </a:pPr>
            <a:r>
              <a:rPr sz="1650" b="0">
                <a:solidFill>
                  <a:srgbClr val="0F172A"/>
                </a:solidFill>
                <a:latin typeface="Aptos"/>
                <a:ea typeface="Aptos"/>
                <a:cs typeface="Aptos"/>
              </a:rPr>
              <a:t>* Therefore: no custom Vulkan kernel execution claim and no Vulkan speedup claim.</a:t>
            </a:r>
          </a:p>
          <a:p>
            <a:pPr algn="l">
              <a:defRPr sz="1650" b="0">
                <a:solidFill>
                  <a:srgbClr val="0F172A"/>
                </a:solidFill>
                <a:latin typeface="Aptos"/>
                <a:ea typeface="Aptos"/>
                <a:cs typeface="Aptos"/>
              </a:defRPr>
            </a:pPr>
            <a:r>
              <a:rPr sz="1650" b="0">
                <a:solidFill>
                  <a:srgbClr val="0F172A"/>
                </a:solidFill>
                <a:latin typeface="Aptos"/>
                <a:ea typeface="Aptos"/>
                <a:cs typeface="Aptos"/>
              </a:rPr>
              <a:t>* The defensible comparison is stock MNN CPU vs custom CPU actual backend.</a:t>
            </a:r>
          </a:p>
        </p:txBody>
      </p:sp>
    </p:spTree>
    <p:extLst>
      <p:ext uri="{BB962C8B-B14F-4D97-AF65-F5344CB8AC3E}">
        <p14:creationId xmlns:p14="http://schemas.microsoft.com/office/powerpoint/2010/main" val="599152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260DBB-6E18-40E6-A318-CDE9B2AA222B}"/>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4400FFE9-33FA-4381-8355-D881396412E0}"/>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Quality validation changed what I can honestly claim</a:t>
            </a:r>
          </a:p>
        </p:txBody>
      </p:sp>
      <p:sp>
        <p:nvSpPr>
          <p:cNvPr id="3" name="Rectangle 2">
            <a:extLst>
              <a:ext uri="{FF2B5EF4-FFF2-40B4-BE49-F238E27FC236}">
                <a16:creationId xmlns:a16="http://schemas.microsoft.com/office/drawing/2014/main" id="{85954BFD-7723-4F2F-8280-EE0F478489E4}"/>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23</a:t>
            </a:r>
          </a:p>
        </p:txBody>
      </p:sp>
      <p:sp>
        <p:nvSpPr>
          <p:cNvPr id="4" name="Rectangle 3">
            <a:extLst>
              <a:ext uri="{FF2B5EF4-FFF2-40B4-BE49-F238E27FC236}">
                <a16:creationId xmlns:a16="http://schemas.microsoft.com/office/drawing/2014/main" id="{C7C455D9-5984-46CE-A11C-BDB588D97C6C}"/>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C43A64A-22A9-4D42-A192-846CE13DDCDA}"/>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2243549F-03F1-45C3-94B0-A38EA57E1B06}"/>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TPS and TPOT measure speed, not semantic correctness.</a:t>
            </a:r>
          </a:p>
          <a:p>
            <a:pPr algn="l">
              <a:defRPr sz="1650" b="0">
                <a:solidFill>
                  <a:srgbClr val="0F172A"/>
                </a:solidFill>
                <a:latin typeface="Aptos"/>
                <a:ea typeface="Aptos"/>
                <a:cs typeface="Aptos"/>
              </a:defRPr>
            </a:pPr>
            <a:r>
              <a:rPr sz="1650" b="0">
                <a:solidFill>
                  <a:srgbClr val="0F172A"/>
                </a:solidFill>
                <a:latin typeface="Aptos"/>
                <a:ea typeface="Aptos"/>
                <a:cs typeface="Aptos"/>
              </a:rPr>
              <a:t>* A deterministic quality guard was added: fixed prompts, token dumps, exact match, prefix length, token match rate, edit distance, invalid/empty/degenerate checks.</a:t>
            </a:r>
          </a:p>
          <a:p>
            <a:pPr algn="l">
              <a:defRPr sz="1650" b="0">
                <a:solidFill>
                  <a:srgbClr val="0F172A"/>
                </a:solidFill>
                <a:latin typeface="Aptos"/>
                <a:ea typeface="Aptos"/>
                <a:cs typeface="Aptos"/>
              </a:defRPr>
            </a:pPr>
            <a:r>
              <a:rPr sz="1650" b="0">
                <a:solidFill>
                  <a:srgbClr val="0F172A"/>
                </a:solidFill>
                <a:latin typeface="Aptos"/>
                <a:ea typeface="Aptos"/>
                <a:cs typeface="Aptos"/>
              </a:rPr>
              <a:t>* Rejected quality runs found serious repeated-token behavior, especially token 220, and 0/5 exact prompt matches.</a:t>
            </a:r>
          </a:p>
          <a:p>
            <a:pPr algn="l">
              <a:defRPr sz="1650" b="0">
                <a:solidFill>
                  <a:srgbClr val="0F172A"/>
                </a:solidFill>
                <a:latin typeface="Aptos"/>
                <a:ea typeface="Aptos"/>
                <a:cs typeface="Aptos"/>
              </a:defRPr>
            </a:pPr>
            <a:r>
              <a:rPr sz="1650" b="0">
                <a:solidFill>
                  <a:srgbClr val="0F172A"/>
                </a:solidFill>
                <a:latin typeface="Aptos"/>
                <a:ea typeface="Aptos"/>
                <a:cs typeface="Aptos"/>
              </a:rPr>
              <a:t>* Latest v27 English sanity guard passes 5/5 comparison-gate prompts and removes repeated-token-220 failure, but only 1/5 exactly matches stock MNN.</a:t>
            </a:r>
          </a:p>
          <a:p>
            <a:pPr algn="l">
              <a:defRPr sz="1650" b="0">
                <a:solidFill>
                  <a:srgbClr val="0F172A"/>
                </a:solidFill>
                <a:latin typeface="Aptos"/>
                <a:ea typeface="Aptos"/>
                <a:cs typeface="Aptos"/>
              </a:defRPr>
            </a:pPr>
            <a:r>
              <a:rPr sz="1650" b="0">
                <a:solidFill>
                  <a:srgbClr val="0F172A"/>
                </a:solidFill>
                <a:latin typeface="Aptos"/>
                <a:ea typeface="Aptos"/>
                <a:cs typeface="Aptos"/>
              </a:rPr>
              <a:t>* Conclusion: basic token sanity is evidenced; production-quality Qwen replacement is not claimed.</a:t>
            </a:r>
          </a:p>
        </p:txBody>
      </p:sp>
    </p:spTree>
    <p:extLst>
      <p:ext uri="{BB962C8B-B14F-4D97-AF65-F5344CB8AC3E}">
        <p14:creationId xmlns:p14="http://schemas.microsoft.com/office/powerpoint/2010/main" val="1272820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0F653E-AF4A-4197-BA9A-002049CB0A92}"/>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47EA1CD0-A167-4F5B-BE49-83303A650795}"/>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Accuracy debugging found real graph-level issues</a:t>
            </a:r>
          </a:p>
        </p:txBody>
      </p:sp>
      <p:sp>
        <p:nvSpPr>
          <p:cNvPr id="3" name="Rectangle 2">
            <a:extLst>
              <a:ext uri="{FF2B5EF4-FFF2-40B4-BE49-F238E27FC236}">
                <a16:creationId xmlns:a16="http://schemas.microsoft.com/office/drawing/2014/main" id="{7DB72CD4-3EBD-4531-BE36-0E55D37662D4}"/>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24</a:t>
            </a:r>
          </a:p>
        </p:txBody>
      </p:sp>
      <p:sp>
        <p:nvSpPr>
          <p:cNvPr id="4" name="Rectangle 3">
            <a:extLst>
              <a:ext uri="{FF2B5EF4-FFF2-40B4-BE49-F238E27FC236}">
                <a16:creationId xmlns:a16="http://schemas.microsoft.com/office/drawing/2014/main" id="{CB384374-2219-45E4-84D1-D494471B5C33}"/>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AC9F81A-4FFA-4455-95D4-8C691F641F0A}"/>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301B524D-1F00-442E-AF50-C28A1CA34B6C}"/>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linear-attention gate semantics mismatch</a:t>
            </a:r>
          </a:p>
          <a:p>
            <a:pPr algn="l">
              <a:defRPr sz="1650" b="0">
                <a:solidFill>
                  <a:srgbClr val="0F172A"/>
                </a:solidFill>
                <a:latin typeface="Aptos"/>
                <a:ea typeface="Aptos"/>
                <a:cs typeface="Aptos"/>
              </a:defRPr>
            </a:pPr>
            <a:r>
              <a:rPr sz="1650" b="0">
                <a:solidFill>
                  <a:srgbClr val="0F172A"/>
                </a:solidFill>
                <a:latin typeface="Aptos"/>
                <a:ea typeface="Aptos"/>
                <a:cs typeface="Aptos"/>
              </a:rPr>
              <a:t>* L2 norm epsilon mismatch</a:t>
            </a:r>
          </a:p>
          <a:p>
            <a:pPr algn="l">
              <a:defRPr sz="1650" b="0">
                <a:solidFill>
                  <a:srgbClr val="0F172A"/>
                </a:solidFill>
                <a:latin typeface="Aptos"/>
                <a:ea typeface="Aptos"/>
                <a:cs typeface="Aptos"/>
              </a:defRPr>
            </a:pPr>
            <a:r>
              <a:rPr sz="1650" b="0">
                <a:solidFill>
                  <a:srgbClr val="0F172A"/>
                </a:solidFill>
                <a:latin typeface="Aptos"/>
                <a:ea typeface="Aptos"/>
                <a:cs typeface="Aptos"/>
              </a:rPr>
              <a:t>* Qwen3.5 partial RoPE active-slice layout issue</a:t>
            </a:r>
          </a:p>
          <a:p>
            <a:pPr algn="l">
              <a:defRPr sz="1650" b="0">
                <a:solidFill>
                  <a:srgbClr val="0F172A"/>
                </a:solidFill>
                <a:latin typeface="Aptos"/>
                <a:ea typeface="Aptos"/>
                <a:cs typeface="Aptos"/>
              </a:defRPr>
            </a:pPr>
            <a:r>
              <a:rPr sz="1650" b="0">
                <a:solidFill>
                  <a:srgbClr val="0F172A"/>
                </a:solidFill>
                <a:latin typeface="Aptos"/>
                <a:ea typeface="Aptos"/>
                <a:cs typeface="Aptos"/>
              </a:rPr>
              <a:t>* full-attention q/gate split issue</a:t>
            </a:r>
          </a:p>
          <a:p>
            <a:pPr algn="l">
              <a:defRPr sz="1650" b="0">
                <a:solidFill>
                  <a:srgbClr val="0F172A"/>
                </a:solidFill>
                <a:latin typeface="Aptos"/>
                <a:ea typeface="Aptos"/>
                <a:cs typeface="Aptos"/>
              </a:defRPr>
            </a:pPr>
            <a:r>
              <a:rPr sz="1650" b="0">
                <a:solidFill>
                  <a:srgbClr val="0F172A"/>
                </a:solidFill>
                <a:latin typeface="Aptos"/>
                <a:ea typeface="Aptos"/>
                <a:cs typeface="Aptos"/>
              </a:rPr>
              <a:t>* These are not presentation wording issues; they are model-graph correctness issues.</a:t>
            </a:r>
          </a:p>
          <a:p>
            <a:pPr algn="l">
              <a:defRPr sz="1650" b="0">
                <a:solidFill>
                  <a:srgbClr val="0F172A"/>
                </a:solidFill>
                <a:latin typeface="Aptos"/>
                <a:ea typeface="Aptos"/>
                <a:cs typeface="Aptos"/>
              </a:defRPr>
            </a:pPr>
            <a:r>
              <a:rPr sz="1650" b="0">
                <a:solidFill>
                  <a:srgbClr val="0F172A"/>
                </a:solidFill>
                <a:latin typeface="Aptos"/>
                <a:ea typeface="Aptos"/>
                <a:cs typeface="Aptos"/>
              </a:rPr>
              <a:t>* This is why the final claim is a systems/kernel benchmark with a quality guard, not a production model replacement.</a:t>
            </a:r>
          </a:p>
        </p:txBody>
      </p:sp>
    </p:spTree>
    <p:extLst>
      <p:ext uri="{BB962C8B-B14F-4D97-AF65-F5344CB8AC3E}">
        <p14:creationId xmlns:p14="http://schemas.microsoft.com/office/powerpoint/2010/main" val="659038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0BBC7A9-DF3E-44E1-BA5A-6619D20EA016}"/>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6FE2E450-0AA9-444B-90FA-9EA034B94036}"/>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The claims are intentionally narrow</a:t>
            </a:r>
          </a:p>
        </p:txBody>
      </p:sp>
      <p:sp>
        <p:nvSpPr>
          <p:cNvPr id="3" name="Rectangle 2">
            <a:extLst>
              <a:ext uri="{FF2B5EF4-FFF2-40B4-BE49-F238E27FC236}">
                <a16:creationId xmlns:a16="http://schemas.microsoft.com/office/drawing/2014/main" id="{F6D76D87-1943-4F17-9FF1-B39086597FBD}"/>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25</a:t>
            </a:r>
          </a:p>
        </p:txBody>
      </p:sp>
      <p:sp>
        <p:nvSpPr>
          <p:cNvPr id="4" name="Rectangle 3">
            <a:extLst>
              <a:ext uri="{FF2B5EF4-FFF2-40B4-BE49-F238E27FC236}">
                <a16:creationId xmlns:a16="http://schemas.microsoft.com/office/drawing/2014/main" id="{58147A01-1858-4274-B433-DF30F13B1C31}"/>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2E802D9C-A078-4F66-92DC-7068FC6CE0B5}"/>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D42E2D82-0B95-4983-8EBE-22BBE591BC7F}"/>
              </a:ext>
            </a:extLst>
          </p:cNvPr>
          <p:cNvSpPr>
            <a:spLocks noGrp="1"/>
          </p:cNvSpPr>
          <p:nvPr/>
        </p:nvSpPr>
        <p:spPr>
          <a:xfrm>
            <a:off x="590550" y="1504950"/>
            <a:ext cx="5143500" cy="4095750"/>
          </a:xfrm>
          <a:prstGeom prst="rect">
            <a:avLst/>
          </a:prstGeom>
          <a:solidFill>
            <a:srgbClr val="FFFFFF"/>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9A935CBF-4E5C-4BB9-BA3B-5F4474AB8922}"/>
              </a:ext>
            </a:extLst>
          </p:cNvPr>
          <p:cNvSpPr>
            <a:spLocks noGrp="1"/>
          </p:cNvSpPr>
          <p:nvPr/>
        </p:nvSpPr>
        <p:spPr>
          <a:xfrm>
            <a:off x="6477000" y="1504950"/>
            <a:ext cx="5143500" cy="4095750"/>
          </a:xfrm>
          <a:prstGeom prst="rect">
            <a:avLst/>
          </a:prstGeom>
          <a:solidFill>
            <a:srgbClr val="FFFFFF"/>
          </a:solidFill>
          <a:ln w="9525">
            <a:solidFill>
              <a:srgbClr val="CBD5E1"/>
            </a:solidFill>
            <a:prstDash val="solid"/>
          </a:ln>
        </p:spPr>
        <p:txBody>
          <a:bodyPr/>
          <a:lstStyle/>
          <a:p>
            <a:endParaRPr lang="en-US"/>
          </a:p>
        </p:txBody>
      </p:sp>
      <p:sp>
        <p:nvSpPr>
          <p:cNvPr id="8" name="Rectangle 7">
            <a:extLst>
              <a:ext uri="{FF2B5EF4-FFF2-40B4-BE49-F238E27FC236}">
                <a16:creationId xmlns:a16="http://schemas.microsoft.com/office/drawing/2014/main" id="{67C92697-7518-49DC-85DC-F4BB65692C77}"/>
              </a:ext>
            </a:extLst>
          </p:cNvPr>
          <p:cNvSpPr>
            <a:spLocks noGrp="1"/>
          </p:cNvSpPr>
          <p:nvPr/>
        </p:nvSpPr>
        <p:spPr>
          <a:xfrm>
            <a:off x="819150" y="1733550"/>
            <a:ext cx="4667250" cy="266700"/>
          </a:xfrm>
          <a:prstGeom prst="rect">
            <a:avLst/>
          </a:prstGeom>
          <a:noFill/>
          <a:ln w="0">
            <a:solidFill>
              <a:srgbClr val="000000">
                <a:alpha val="0"/>
              </a:srgbClr>
            </a:solidFill>
            <a:prstDash val="solid"/>
          </a:ln>
        </p:spPr>
        <p:txBody>
          <a:bodyPr/>
          <a:lstStyle/>
          <a:p>
            <a:pPr algn="l">
              <a:defRPr sz="1725" b="1">
                <a:solidFill>
                  <a:srgbClr val="15803D"/>
                </a:solidFill>
                <a:latin typeface="Aptos"/>
                <a:ea typeface="Aptos"/>
                <a:cs typeface="Aptos"/>
              </a:defRPr>
            </a:pPr>
            <a:r>
              <a:rPr sz="1725" b="1">
                <a:solidFill>
                  <a:srgbClr val="15803D"/>
                </a:solidFill>
                <a:latin typeface="Aptos"/>
                <a:ea typeface="Aptos"/>
                <a:cs typeface="Aptos"/>
              </a:rPr>
              <a:t>Claims I can defend</a:t>
            </a:r>
          </a:p>
        </p:txBody>
      </p:sp>
      <p:sp>
        <p:nvSpPr>
          <p:cNvPr id="9" name="Rectangle 8">
            <a:extLst>
              <a:ext uri="{FF2B5EF4-FFF2-40B4-BE49-F238E27FC236}">
                <a16:creationId xmlns:a16="http://schemas.microsoft.com/office/drawing/2014/main" id="{7BDBA08F-F3EE-4415-A94F-51223F3568F4}"/>
              </a:ext>
            </a:extLst>
          </p:cNvPr>
          <p:cNvSpPr>
            <a:spLocks noGrp="1"/>
          </p:cNvSpPr>
          <p:nvPr/>
        </p:nvSpPr>
        <p:spPr>
          <a:xfrm>
            <a:off x="819150" y="2190750"/>
            <a:ext cx="4667250" cy="3048000"/>
          </a:xfrm>
          <a:prstGeom prst="rect">
            <a:avLst/>
          </a:prstGeom>
          <a:noFill/>
          <a:ln w="0">
            <a:solidFill>
              <a:srgbClr val="000000">
                <a:alpha val="0"/>
              </a:srgbClr>
            </a:solidFill>
            <a:prstDash val="solid"/>
          </a:ln>
        </p:spPr>
        <p:txBody>
          <a:bodyPr/>
          <a:lstStyle/>
          <a:p>
            <a:pPr algn="l">
              <a:defRPr sz="1200" b="0">
                <a:solidFill>
                  <a:srgbClr val="0F172A"/>
                </a:solidFill>
                <a:latin typeface="Aptos"/>
                <a:ea typeface="Aptos"/>
                <a:cs typeface="Aptos"/>
              </a:defRPr>
            </a:pPr>
            <a:r>
              <a:rPr sz="1200" b="0">
                <a:solidFill>
                  <a:srgbClr val="0F172A"/>
                </a:solidFill>
                <a:latin typeface="Aptos"/>
                <a:ea typeface="Aptos"/>
                <a:cs typeface="Aptos"/>
              </a:rPr>
              <a:t>* Custom kernel library exists.</a:t>
            </a:r>
          </a:p>
          <a:p>
            <a:pPr algn="l">
              <a:defRPr sz="1200" b="0">
                <a:solidFill>
                  <a:srgbClr val="0F172A"/>
                </a:solidFill>
                <a:latin typeface="Aptos"/>
                <a:ea typeface="Aptos"/>
                <a:cs typeface="Aptos"/>
              </a:defRPr>
            </a:pPr>
            <a:r>
              <a:rPr sz="1200" b="0">
                <a:solidFill>
                  <a:srgbClr val="0F172A"/>
                </a:solidFill>
                <a:latin typeface="Aptos"/>
                <a:ea typeface="Aptos"/>
                <a:cs typeface="Aptos"/>
              </a:rPr>
              <a:t>* Measured custom path is separate from stock MNN generation.</a:t>
            </a:r>
          </a:p>
          <a:p>
            <a:pPr algn="l">
              <a:defRPr sz="1200" b="0">
                <a:solidFill>
                  <a:srgbClr val="0F172A"/>
                </a:solidFill>
                <a:latin typeface="Aptos"/>
                <a:ea typeface="Aptos"/>
                <a:cs typeface="Aptos"/>
              </a:defRPr>
            </a:pPr>
            <a:r>
              <a:rPr sz="1200" b="0">
                <a:solidFill>
                  <a:srgbClr val="0F172A"/>
                </a:solidFill>
                <a:latin typeface="Aptos"/>
                <a:ea typeface="Aptos"/>
                <a:cs typeface="Aptos"/>
              </a:rPr>
              <a:t>* Device Farm full-model stock-vs-custom benchmark exists.</a:t>
            </a:r>
          </a:p>
          <a:p>
            <a:pPr algn="l">
              <a:defRPr sz="1200" b="0">
                <a:solidFill>
                  <a:srgbClr val="0F172A"/>
                </a:solidFill>
                <a:latin typeface="Aptos"/>
                <a:ea typeface="Aptos"/>
                <a:cs typeface="Aptos"/>
              </a:defRPr>
            </a:pPr>
            <a:r>
              <a:rPr sz="1200" b="0">
                <a:solidFill>
                  <a:srgbClr val="0F172A"/>
                </a:solidFill>
                <a:latin typeface="Aptos"/>
                <a:ea typeface="Aptos"/>
                <a:cs typeface="Aptos"/>
              </a:rPr>
              <a:t>* Per-kernel wall clock and TPOT/TPS evidence exists.</a:t>
            </a:r>
          </a:p>
          <a:p>
            <a:pPr algn="l">
              <a:defRPr sz="1200" b="0">
                <a:solidFill>
                  <a:srgbClr val="0F172A"/>
                </a:solidFill>
                <a:latin typeface="Aptos"/>
                <a:ea typeface="Aptos"/>
                <a:cs typeface="Aptos"/>
              </a:defRPr>
            </a:pPr>
            <a:r>
              <a:rPr sz="1200" b="0">
                <a:solidFill>
                  <a:srgbClr val="0F172A"/>
                </a:solidFill>
                <a:latin typeface="Aptos"/>
                <a:ea typeface="Aptos"/>
                <a:cs typeface="Aptos"/>
              </a:rPr>
              <a:t>* Final v27 custom reached 93.4% of fresh stock MNN CPU decode TPS; v17 remains the historical baseline.</a:t>
            </a:r>
          </a:p>
          <a:p>
            <a:pPr algn="l">
              <a:defRPr sz="1200" b="0">
                <a:solidFill>
                  <a:srgbClr val="0F172A"/>
                </a:solidFill>
                <a:latin typeface="Aptos"/>
                <a:ea typeface="Aptos"/>
                <a:cs typeface="Aptos"/>
              </a:defRPr>
            </a:pPr>
            <a:r>
              <a:rPr sz="1200" b="0">
                <a:solidFill>
                  <a:srgbClr val="0F172A"/>
                </a:solidFill>
                <a:latin typeface="Aptos"/>
                <a:ea typeface="Aptos"/>
                <a:cs typeface="Aptos"/>
              </a:rPr>
              <a:t>* Quality blocker and later sanity guard are documented.</a:t>
            </a:r>
          </a:p>
        </p:txBody>
      </p:sp>
      <p:sp>
        <p:nvSpPr>
          <p:cNvPr id="10" name="Rectangle 9">
            <a:extLst>
              <a:ext uri="{FF2B5EF4-FFF2-40B4-BE49-F238E27FC236}">
                <a16:creationId xmlns:a16="http://schemas.microsoft.com/office/drawing/2014/main" id="{C9F72220-B42E-481B-8617-D0ABE2E3095A}"/>
              </a:ext>
            </a:extLst>
          </p:cNvPr>
          <p:cNvSpPr>
            <a:spLocks noGrp="1"/>
          </p:cNvSpPr>
          <p:nvPr/>
        </p:nvSpPr>
        <p:spPr>
          <a:xfrm>
            <a:off x="6705600" y="1733550"/>
            <a:ext cx="4667250" cy="266700"/>
          </a:xfrm>
          <a:prstGeom prst="rect">
            <a:avLst/>
          </a:prstGeom>
          <a:noFill/>
          <a:ln w="0">
            <a:solidFill>
              <a:srgbClr val="000000">
                <a:alpha val="0"/>
              </a:srgbClr>
            </a:solidFill>
            <a:prstDash val="solid"/>
          </a:ln>
        </p:spPr>
        <p:txBody>
          <a:bodyPr/>
          <a:lstStyle/>
          <a:p>
            <a:pPr algn="l">
              <a:defRPr sz="1725" b="1">
                <a:solidFill>
                  <a:srgbClr val="B91C1C"/>
                </a:solidFill>
                <a:latin typeface="Aptos"/>
                <a:ea typeface="Aptos"/>
                <a:cs typeface="Aptos"/>
              </a:defRPr>
            </a:pPr>
            <a:r>
              <a:rPr sz="1725" b="1">
                <a:solidFill>
                  <a:srgbClr val="B91C1C"/>
                </a:solidFill>
                <a:latin typeface="Aptos"/>
                <a:ea typeface="Aptos"/>
                <a:cs typeface="Aptos"/>
              </a:rPr>
              <a:t>Claims I should not make</a:t>
            </a:r>
          </a:p>
        </p:txBody>
      </p:sp>
      <p:sp>
        <p:nvSpPr>
          <p:cNvPr id="11" name="Rectangle 10">
            <a:extLst>
              <a:ext uri="{FF2B5EF4-FFF2-40B4-BE49-F238E27FC236}">
                <a16:creationId xmlns:a16="http://schemas.microsoft.com/office/drawing/2014/main" id="{6A5BFC99-6D2E-41F9-877C-E0F1A3A006A3}"/>
              </a:ext>
            </a:extLst>
          </p:cNvPr>
          <p:cNvSpPr>
            <a:spLocks noGrp="1"/>
          </p:cNvSpPr>
          <p:nvPr/>
        </p:nvSpPr>
        <p:spPr>
          <a:xfrm>
            <a:off x="6705600" y="2190750"/>
            <a:ext cx="4667250" cy="3048000"/>
          </a:xfrm>
          <a:prstGeom prst="rect">
            <a:avLst/>
          </a:prstGeom>
          <a:noFill/>
          <a:ln w="0">
            <a:solidFill>
              <a:srgbClr val="000000">
                <a:alpha val="0"/>
              </a:srgbClr>
            </a:solidFill>
            <a:prstDash val="solid"/>
          </a:ln>
        </p:spPr>
        <p:txBody>
          <a:bodyPr/>
          <a:lstStyle/>
          <a:p>
            <a:pPr algn="l">
              <a:defRPr sz="1200" b="0">
                <a:solidFill>
                  <a:srgbClr val="0F172A"/>
                </a:solidFill>
                <a:latin typeface="Aptos"/>
                <a:ea typeface="Aptos"/>
                <a:cs typeface="Aptos"/>
              </a:defRPr>
            </a:pPr>
            <a:r>
              <a:rPr sz="1200" b="0">
                <a:solidFill>
                  <a:srgbClr val="0F172A"/>
                </a:solidFill>
                <a:latin typeface="Aptos"/>
                <a:ea typeface="Aptos"/>
                <a:cs typeface="Aptos"/>
              </a:rPr>
              <a:t>* No speedup over MNN.</a:t>
            </a:r>
          </a:p>
          <a:p>
            <a:pPr algn="l">
              <a:defRPr sz="1200" b="0">
                <a:solidFill>
                  <a:srgbClr val="0F172A"/>
                </a:solidFill>
                <a:latin typeface="Aptos"/>
                <a:ea typeface="Aptos"/>
                <a:cs typeface="Aptos"/>
              </a:defRPr>
            </a:pPr>
            <a:r>
              <a:rPr sz="1200" b="0">
                <a:solidFill>
                  <a:srgbClr val="0F172A"/>
                </a:solidFill>
                <a:latin typeface="Aptos"/>
                <a:ea typeface="Aptos"/>
                <a:cs typeface="Aptos"/>
              </a:rPr>
              <a:t>* No &gt;=20 TPS result.</a:t>
            </a:r>
          </a:p>
          <a:p>
            <a:pPr algn="l">
              <a:defRPr sz="1200" b="0">
                <a:solidFill>
                  <a:srgbClr val="0F172A"/>
                </a:solidFill>
                <a:latin typeface="Aptos"/>
                <a:ea typeface="Aptos"/>
                <a:cs typeface="Aptos"/>
              </a:defRPr>
            </a:pPr>
            <a:r>
              <a:rPr sz="1200" b="0">
                <a:solidFill>
                  <a:srgbClr val="0F172A"/>
                </a:solidFill>
                <a:latin typeface="Aptos"/>
                <a:ea typeface="Aptos"/>
                <a:cs typeface="Aptos"/>
              </a:rPr>
              <a:t>* No production-quality Qwen output claim.</a:t>
            </a:r>
          </a:p>
          <a:p>
            <a:pPr algn="l">
              <a:defRPr sz="1200" b="0">
                <a:solidFill>
                  <a:srgbClr val="0F172A"/>
                </a:solidFill>
                <a:latin typeface="Aptos"/>
                <a:ea typeface="Aptos"/>
                <a:cs typeface="Aptos"/>
              </a:defRPr>
            </a:pPr>
            <a:r>
              <a:rPr sz="1200" b="0">
                <a:solidFill>
                  <a:srgbClr val="0F172A"/>
                </a:solidFill>
                <a:latin typeface="Aptos"/>
                <a:ea typeface="Aptos"/>
                <a:cs typeface="Aptos"/>
              </a:rPr>
              <a:t>* No token-level equivalence claim.</a:t>
            </a:r>
          </a:p>
          <a:p>
            <a:pPr algn="l">
              <a:defRPr sz="1200" b="0">
                <a:solidFill>
                  <a:srgbClr val="0F172A"/>
                </a:solidFill>
                <a:latin typeface="Aptos"/>
                <a:ea typeface="Aptos"/>
                <a:cs typeface="Aptos"/>
              </a:defRPr>
            </a:pPr>
            <a:r>
              <a:rPr sz="1200" b="0">
                <a:solidFill>
                  <a:srgbClr val="0F172A"/>
                </a:solidFill>
                <a:latin typeface="Aptos"/>
                <a:ea typeface="Aptos"/>
                <a:cs typeface="Aptos"/>
              </a:rPr>
              <a:t>* No custom Vulkan kernel execution claim.</a:t>
            </a:r>
          </a:p>
          <a:p>
            <a:pPr algn="l">
              <a:defRPr sz="1200" b="0">
                <a:solidFill>
                  <a:srgbClr val="0F172A"/>
                </a:solidFill>
                <a:latin typeface="Aptos"/>
                <a:ea typeface="Aptos"/>
                <a:cs typeface="Aptos"/>
              </a:defRPr>
            </a:pPr>
            <a:r>
              <a:rPr sz="1200" b="0">
                <a:solidFill>
                  <a:srgbClr val="0F172A"/>
                </a:solidFill>
                <a:latin typeface="Aptos"/>
                <a:ea typeface="Aptos"/>
                <a:cs typeface="Aptos"/>
              </a:rPr>
              <a:t>* No hiding earlier repeated-token failures.</a:t>
            </a:r>
          </a:p>
        </p:txBody>
      </p:sp>
    </p:spTree>
    <p:extLst>
      <p:ext uri="{BB962C8B-B14F-4D97-AF65-F5344CB8AC3E}">
        <p14:creationId xmlns:p14="http://schemas.microsoft.com/office/powerpoint/2010/main" val="2142115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F97C19-2927-4C15-9BED-6E359CC191AE}"/>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EEA9F5B4-F375-4ED5-A358-2A07CCD97DA8}"/>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Final takeaway: the system exists, but quality is the next frontier</a:t>
            </a:r>
          </a:p>
        </p:txBody>
      </p:sp>
      <p:sp>
        <p:nvSpPr>
          <p:cNvPr id="3" name="Rectangle 2">
            <a:extLst>
              <a:ext uri="{FF2B5EF4-FFF2-40B4-BE49-F238E27FC236}">
                <a16:creationId xmlns:a16="http://schemas.microsoft.com/office/drawing/2014/main" id="{69C1526D-F42C-4D75-8419-1F7935E79D7A}"/>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26</a:t>
            </a:r>
          </a:p>
        </p:txBody>
      </p:sp>
      <p:sp>
        <p:nvSpPr>
          <p:cNvPr id="4" name="Rectangle 3">
            <a:extLst>
              <a:ext uri="{FF2B5EF4-FFF2-40B4-BE49-F238E27FC236}">
                <a16:creationId xmlns:a16="http://schemas.microsoft.com/office/drawing/2014/main" id="{99D45493-E0F2-4829-99AD-559399605199}"/>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C3FBE02-D658-4F4C-A88C-30AA16481F6C}"/>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A2E0B912-F64E-4106-8964-3F00150B44ED}"/>
              </a:ext>
            </a:extLst>
          </p:cNvPr>
          <p:cNvSpPr>
            <a:spLocks noGrp="1"/>
          </p:cNvSpPr>
          <p:nvPr/>
        </p:nvSpPr>
        <p:spPr>
          <a:xfrm>
            <a:off x="666750" y="1466850"/>
            <a:ext cx="10668000" cy="4095750"/>
          </a:xfrm>
          <a:prstGeom prst="rect">
            <a:avLst/>
          </a:prstGeom>
          <a:noFill/>
          <a:ln w="0">
            <a:solidFill>
              <a:srgbClr val="000000">
                <a:alpha val="0"/>
              </a:srgbClr>
            </a:solidFill>
            <a:prstDash val="solid"/>
          </a:ln>
        </p:spPr>
        <p:txBody>
          <a:bodyPr/>
          <a:lstStyle/>
          <a:p>
            <a:pPr algn="l">
              <a:defRPr sz="1650" b="0">
                <a:solidFill>
                  <a:srgbClr val="0F172A"/>
                </a:solidFill>
                <a:latin typeface="Aptos"/>
                <a:ea typeface="Aptos"/>
                <a:cs typeface="Aptos"/>
              </a:defRPr>
            </a:pPr>
            <a:r>
              <a:rPr sz="1650" b="0">
                <a:solidFill>
                  <a:srgbClr val="0F172A"/>
                </a:solidFill>
                <a:latin typeface="Aptos"/>
                <a:ea typeface="Aptos"/>
                <a:cs typeface="Aptos"/>
              </a:rPr>
              <a:t>* I built a custom systems/kernel inference path for full Qwen3.5-9B mobile inference.</a:t>
            </a:r>
          </a:p>
          <a:p>
            <a:pPr algn="l">
              <a:defRPr sz="1650" b="0">
                <a:solidFill>
                  <a:srgbClr val="0F172A"/>
                </a:solidFill>
                <a:latin typeface="Aptos"/>
                <a:ea typeface="Aptos"/>
                <a:cs typeface="Aptos"/>
              </a:defRPr>
            </a:pPr>
            <a:r>
              <a:rPr sz="1650" b="0">
                <a:solidFill>
                  <a:srgbClr val="0F172A"/>
                </a:solidFill>
                <a:latin typeface="Aptos"/>
                <a:ea typeface="Aptos"/>
                <a:cs typeface="Aptos"/>
              </a:rPr>
              <a:t>* I connected it to Android, Device Farm, per-kernel tracing, and stock MNN comparison.</a:t>
            </a:r>
          </a:p>
          <a:p>
            <a:pPr algn="l">
              <a:defRPr sz="1650" b="0">
                <a:solidFill>
                  <a:srgbClr val="0F172A"/>
                </a:solidFill>
                <a:latin typeface="Aptos"/>
                <a:ea typeface="Aptos"/>
                <a:cs typeface="Aptos"/>
              </a:defRPr>
            </a:pPr>
            <a:r>
              <a:rPr sz="1650" b="0">
                <a:solidFill>
                  <a:srgbClr val="0F172A"/>
                </a:solidFill>
                <a:latin typeface="Aptos"/>
                <a:ea typeface="Aptos"/>
                <a:cs typeface="Aptos"/>
              </a:rPr>
              <a:t>* The custom path is still slower than MNN, but v27 improves over v17 and reaches 93.4% of fresh stock CPU throughput.</a:t>
            </a:r>
          </a:p>
          <a:p>
            <a:pPr algn="l">
              <a:defRPr sz="1650" b="0">
                <a:solidFill>
                  <a:srgbClr val="0F172A"/>
                </a:solidFill>
                <a:latin typeface="Aptos"/>
                <a:ea typeface="Aptos"/>
                <a:cs typeface="Aptos"/>
              </a:defRPr>
            </a:pPr>
            <a:r>
              <a:rPr sz="1650" b="0">
                <a:solidFill>
                  <a:srgbClr val="0F172A"/>
                </a:solidFill>
                <a:latin typeface="Aptos"/>
                <a:ea typeface="Aptos"/>
                <a:cs typeface="Aptos"/>
              </a:rPr>
              <a:t>* Quality validation prevented overclaiming and exposed the remaining correctness work.</a:t>
            </a:r>
          </a:p>
          <a:p>
            <a:pPr algn="l">
              <a:defRPr sz="1650" b="0">
                <a:solidFill>
                  <a:srgbClr val="0F172A"/>
                </a:solidFill>
                <a:latin typeface="Aptos"/>
                <a:ea typeface="Aptos"/>
                <a:cs typeface="Aptos"/>
              </a:defRPr>
            </a:pPr>
            <a:r>
              <a:rPr sz="1650" b="0">
                <a:solidFill>
                  <a:srgbClr val="0F172A"/>
                </a:solidFill>
                <a:latin typeface="Aptos"/>
                <a:ea typeface="Aptos"/>
                <a:cs typeface="Aptos"/>
              </a:rPr>
              <a:t>* The honest conclusion: requirements 1 and 2 are satisfied, and the v27 sanity guard passes; production model quality is still not claimed.</a:t>
            </a:r>
          </a:p>
        </p:txBody>
      </p:sp>
    </p:spTree>
    <p:extLst>
      <p:ext uri="{BB962C8B-B14F-4D97-AF65-F5344CB8AC3E}">
        <p14:creationId xmlns:p14="http://schemas.microsoft.com/office/powerpoint/2010/main" val="634377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E7A683-01C3-4FD2-A8E1-CEB66B03669B}"/>
              </a:ext>
            </a:extLst>
          </p:cNvPr>
          <p:cNvSpPr>
            <a:spLocks noGrp="1"/>
          </p:cNvSpPr>
          <p:nvPr/>
        </p:nvSpPr>
        <p:spPr>
          <a:xfrm>
            <a:off x="819150" y="1714500"/>
            <a:ext cx="8572500" cy="1047750"/>
          </a:xfrm>
          <a:prstGeom prst="rect">
            <a:avLst/>
          </a:prstGeom>
          <a:noFill/>
          <a:ln w="0">
            <a:solidFill>
              <a:srgbClr val="000000">
                <a:alpha val="0"/>
              </a:srgbClr>
            </a:solidFill>
            <a:prstDash val="solid"/>
          </a:ln>
        </p:spPr>
        <p:txBody>
          <a:bodyPr/>
          <a:lstStyle/>
          <a:p>
            <a:pPr algn="l">
              <a:defRPr sz="3450" b="1">
                <a:solidFill>
                  <a:srgbClr val="FFFFFF"/>
                </a:solidFill>
                <a:latin typeface="Aptos"/>
                <a:ea typeface="Aptos"/>
                <a:cs typeface="Aptos"/>
              </a:defRPr>
            </a:pPr>
            <a:r>
              <a:rPr sz="3450" b="1">
                <a:solidFill>
                  <a:srgbClr val="FFFFFF"/>
                </a:solidFill>
                <a:latin typeface="Aptos"/>
                <a:ea typeface="Aptos"/>
                <a:cs typeface="Aptos"/>
              </a:rPr>
              <a:t>Appendix: code-level Q&amp;A</a:t>
            </a:r>
          </a:p>
        </p:txBody>
      </p:sp>
      <p:sp>
        <p:nvSpPr>
          <p:cNvPr id="2" name="Rectangle 1">
            <a:extLst>
              <a:ext uri="{FF2B5EF4-FFF2-40B4-BE49-F238E27FC236}">
                <a16:creationId xmlns:a16="http://schemas.microsoft.com/office/drawing/2014/main" id="{99022C14-EFEE-4CD8-8784-A25B73C8F2A8}"/>
              </a:ext>
            </a:extLst>
          </p:cNvPr>
          <p:cNvSpPr>
            <a:spLocks noGrp="1"/>
          </p:cNvSpPr>
          <p:nvPr/>
        </p:nvSpPr>
        <p:spPr>
          <a:xfrm>
            <a:off x="857250" y="2914650"/>
            <a:ext cx="8191500" cy="609600"/>
          </a:xfrm>
          <a:prstGeom prst="rect">
            <a:avLst/>
          </a:prstGeom>
          <a:noFill/>
          <a:ln w="0">
            <a:solidFill>
              <a:srgbClr val="000000">
                <a:alpha val="0"/>
              </a:srgbClr>
            </a:solidFill>
            <a:prstDash val="solid"/>
          </a:ln>
        </p:spPr>
        <p:txBody>
          <a:bodyPr/>
          <a:lstStyle/>
          <a:p>
            <a:pPr algn="l">
              <a:defRPr sz="1725" b="0">
                <a:solidFill>
                  <a:srgbClr val="CBD5E1"/>
                </a:solidFill>
                <a:latin typeface="Aptos"/>
                <a:ea typeface="Aptos"/>
                <a:cs typeface="Aptos"/>
              </a:defRPr>
            </a:pPr>
            <a:r>
              <a:rPr sz="1725" b="0">
                <a:solidFill>
                  <a:srgbClr val="CBD5E1"/>
                </a:solidFill>
                <a:latin typeface="Aptos"/>
                <a:ea typeface="Aptos"/>
                <a:cs typeface="Aptos"/>
              </a:rPr>
              <a:t>Detailed snippets for the custom kernels, runtime, connectors, benchmark, and quality guard.</a:t>
            </a:r>
          </a:p>
        </p:txBody>
      </p:sp>
      <p:sp>
        <p:nvSpPr>
          <p:cNvPr id="3" name="Rectangle 2">
            <a:extLst>
              <a:ext uri="{FF2B5EF4-FFF2-40B4-BE49-F238E27FC236}">
                <a16:creationId xmlns:a16="http://schemas.microsoft.com/office/drawing/2014/main" id="{899A9927-6203-45C6-B3B1-620F9475691A}"/>
              </a:ext>
            </a:extLst>
          </p:cNvPr>
          <p:cNvSpPr>
            <a:spLocks noGrp="1"/>
          </p:cNvSpPr>
          <p:nvPr/>
        </p:nvSpPr>
        <p:spPr>
          <a:xfrm>
            <a:off x="11049000" y="400050"/>
            <a:ext cx="571500" cy="228600"/>
          </a:xfrm>
          <a:prstGeom prst="rect">
            <a:avLst/>
          </a:prstGeom>
          <a:noFill/>
          <a:ln w="0">
            <a:solidFill>
              <a:srgbClr val="000000">
                <a:alpha val="0"/>
              </a:srgbClr>
            </a:solidFill>
            <a:prstDash val="solid"/>
          </a:ln>
        </p:spPr>
        <p:txBody>
          <a:bodyPr/>
          <a:lstStyle/>
          <a:p>
            <a:pPr algn="r">
              <a:defRPr sz="1050" b="1">
                <a:solidFill>
                  <a:srgbClr val="64748B"/>
                </a:solidFill>
                <a:latin typeface="Aptos"/>
                <a:ea typeface="Aptos"/>
                <a:cs typeface="Aptos"/>
              </a:defRPr>
            </a:pPr>
            <a:r>
              <a:rPr sz="1050" b="1">
                <a:solidFill>
                  <a:srgbClr val="64748B"/>
                </a:solidFill>
                <a:latin typeface="Aptos"/>
                <a:ea typeface="Aptos"/>
                <a:cs typeface="Aptos"/>
              </a:rPr>
              <a:t>27</a:t>
            </a:r>
          </a:p>
        </p:txBody>
      </p:sp>
    </p:spTree>
    <p:extLst>
      <p:ext uri="{BB962C8B-B14F-4D97-AF65-F5344CB8AC3E}">
        <p14:creationId xmlns:p14="http://schemas.microsoft.com/office/powerpoint/2010/main" val="775575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B46FFDA-4D96-4BD9-8325-D62CDDAFB9B3}"/>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63EC5927-50E9-4B0F-A981-86A01321E0A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A: ABI entry points</a:t>
            </a:r>
          </a:p>
        </p:txBody>
      </p:sp>
      <p:sp>
        <p:nvSpPr>
          <p:cNvPr id="3" name="Rectangle 2">
            <a:extLst>
              <a:ext uri="{FF2B5EF4-FFF2-40B4-BE49-F238E27FC236}">
                <a16:creationId xmlns:a16="http://schemas.microsoft.com/office/drawing/2014/main" id="{683BF9EC-44C1-4187-AF0B-9D757033A509}"/>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28</a:t>
            </a:r>
          </a:p>
        </p:txBody>
      </p:sp>
      <p:sp>
        <p:nvSpPr>
          <p:cNvPr id="4" name="Rectangle 3">
            <a:extLst>
              <a:ext uri="{FF2B5EF4-FFF2-40B4-BE49-F238E27FC236}">
                <a16:creationId xmlns:a16="http://schemas.microsoft.com/office/drawing/2014/main" id="{6819D14B-B2E3-450E-9DD3-73F3518736D8}"/>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DC6D7057-4A76-405A-A492-84E594D47B77}"/>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0795D8AA-318B-43A0-94F7-F5A3D5B31E1F}"/>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customlib/include/xqwen35.h</a:t>
            </a:r>
          </a:p>
        </p:txBody>
      </p:sp>
      <p:sp>
        <p:nvSpPr>
          <p:cNvPr id="7" name="Rectangle 6">
            <a:extLst>
              <a:ext uri="{FF2B5EF4-FFF2-40B4-BE49-F238E27FC236}">
                <a16:creationId xmlns:a16="http://schemas.microsoft.com/office/drawing/2014/main" id="{073AFA96-E1D8-4BAE-AD25-D2D714F74551}"/>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C995B616-62F0-4467-8943-B454796888F6}"/>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xq_create(...);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void xq_destroy(xq_session* session);</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xq_generate(...);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xq_prefill(...);</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xq_decode_one(...);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xq_get_last_metrics(...);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XQ_API xq_status xq_get_kernel_trace_json(...);</a:t>
            </a:r>
          </a:p>
        </p:txBody>
      </p:sp>
      <p:sp>
        <p:nvSpPr>
          <p:cNvPr id="9" name="Rectangle 8">
            <a:extLst>
              <a:ext uri="{FF2B5EF4-FFF2-40B4-BE49-F238E27FC236}">
                <a16:creationId xmlns:a16="http://schemas.microsoft.com/office/drawing/2014/main" id="{1F968A59-8C67-413C-A0B2-BCFC703F9536}"/>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the custom runtime has a stable external API.</a:t>
            </a:r>
          </a:p>
          <a:p>
            <a:pPr algn="l">
              <a:defRPr sz="1275" b="0">
                <a:solidFill>
                  <a:srgbClr val="0F172A"/>
                </a:solidFill>
                <a:latin typeface="Aptos"/>
                <a:ea typeface="Aptos"/>
                <a:cs typeface="Aptos"/>
              </a:defRPr>
            </a:pPr>
            <a:r>
              <a:rPr sz="1275" b="0">
                <a:solidFill>
                  <a:srgbClr val="0F172A"/>
                </a:solidFill>
                <a:latin typeface="Aptos"/>
                <a:ea typeface="Aptos"/>
                <a:cs typeface="Aptos"/>
              </a:rPr>
              <a:t>* Why it matters: Android benchmark and host tests can drive the same library boundary.</a:t>
            </a:r>
          </a:p>
          <a:p>
            <a:pPr algn="l">
              <a:defRPr sz="1275" b="0">
                <a:solidFill>
                  <a:srgbClr val="0F172A"/>
                </a:solidFill>
                <a:latin typeface="Aptos"/>
                <a:ea typeface="Aptos"/>
                <a:cs typeface="Aptos"/>
              </a:defRPr>
            </a:pPr>
            <a:r>
              <a:rPr sz="1275" b="0">
                <a:solidFill>
                  <a:srgbClr val="0F172A"/>
                </a:solidFill>
                <a:latin typeface="Aptos"/>
                <a:ea typeface="Aptos"/>
                <a:cs typeface="Aptos"/>
              </a:rPr>
              <a:t>* Limitation: ABI existence alone does not prove model correctness.</a:t>
            </a:r>
          </a:p>
        </p:txBody>
      </p:sp>
    </p:spTree>
    <p:extLst>
      <p:ext uri="{BB962C8B-B14F-4D97-AF65-F5344CB8AC3E}">
        <p14:creationId xmlns:p14="http://schemas.microsoft.com/office/powerpoint/2010/main" val="1613912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92B54A-A028-4F73-B860-7475446EF10A}"/>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F48BCC73-82D4-4F1B-90D0-FA414D5D5671}"/>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B: custom runtime selection</a:t>
            </a:r>
          </a:p>
        </p:txBody>
      </p:sp>
      <p:sp>
        <p:nvSpPr>
          <p:cNvPr id="3" name="Rectangle 2">
            <a:extLst>
              <a:ext uri="{FF2B5EF4-FFF2-40B4-BE49-F238E27FC236}">
                <a16:creationId xmlns:a16="http://schemas.microsoft.com/office/drawing/2014/main" id="{61B445EB-7479-4316-8DA1-8D2B64A85BE3}"/>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29</a:t>
            </a:r>
          </a:p>
        </p:txBody>
      </p:sp>
      <p:sp>
        <p:nvSpPr>
          <p:cNvPr id="4" name="Rectangle 3">
            <a:extLst>
              <a:ext uri="{FF2B5EF4-FFF2-40B4-BE49-F238E27FC236}">
                <a16:creationId xmlns:a16="http://schemas.microsoft.com/office/drawing/2014/main" id="{FA5DE175-99D0-4321-84AF-8D9CA2ED3801}"/>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B828E5A8-978D-4C2B-8B28-2955B2EE4948}"/>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74ED455C-6A2F-4DEF-A559-EE4091D8103D}"/>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customlib/runtime/session.cpp</a:t>
            </a:r>
          </a:p>
        </p:txBody>
      </p:sp>
      <p:sp>
        <p:nvSpPr>
          <p:cNvPr id="7" name="Rectangle 6">
            <a:extLst>
              <a:ext uri="{FF2B5EF4-FFF2-40B4-BE49-F238E27FC236}">
                <a16:creationId xmlns:a16="http://schemas.microsoft.com/office/drawing/2014/main" id="{801353FB-5D41-4AA1-B3FF-01912937250A}"/>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3CB3FE30-0C0B-4DFC-9A99-7491880EF5F5}"/>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out.use_mnn_fallback = options-&gt;use_mnn_fallback != 0;</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if (options_.use_mnn_fallback)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mnn_llm_ = MNN::Transformer::Llm::createLLM(config_path);</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if (!options_.use_mnn_fallback)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custom_model_ = std::make_unique&lt;CustomModel&gt;();</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custom_model_-&gt;load(model_dir_, &amp;error);</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p:txBody>
      </p:sp>
      <p:sp>
        <p:nvSpPr>
          <p:cNvPr id="9" name="Rectangle 8">
            <a:extLst>
              <a:ext uri="{FF2B5EF4-FFF2-40B4-BE49-F238E27FC236}">
                <a16:creationId xmlns:a16="http://schemas.microsoft.com/office/drawing/2014/main" id="{F67C9984-9082-48D1-B847-22E7B8D03F57}"/>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MNN fallback is explicit and optional.</a:t>
            </a:r>
          </a:p>
          <a:p>
            <a:pPr algn="l">
              <a:defRPr sz="1275" b="0">
                <a:solidFill>
                  <a:srgbClr val="0F172A"/>
                </a:solidFill>
                <a:latin typeface="Aptos"/>
                <a:ea typeface="Aptos"/>
                <a:cs typeface="Aptos"/>
              </a:defRPr>
            </a:pPr>
            <a:r>
              <a:rPr sz="1275" b="0">
                <a:solidFill>
                  <a:srgbClr val="0F172A"/>
                </a:solidFill>
                <a:latin typeface="Aptos"/>
                <a:ea typeface="Aptos"/>
                <a:cs typeface="Aptos"/>
              </a:rPr>
              <a:t>* Measured benchmark sets fallback to zero.</a:t>
            </a:r>
          </a:p>
          <a:p>
            <a:pPr algn="l">
              <a:defRPr sz="1275" b="0">
                <a:solidFill>
                  <a:srgbClr val="0F172A"/>
                </a:solidFill>
                <a:latin typeface="Aptos"/>
                <a:ea typeface="Aptos"/>
                <a:cs typeface="Aptos"/>
              </a:defRPr>
            </a:pPr>
            <a:r>
              <a:rPr sz="1275" b="0">
                <a:solidFill>
                  <a:srgbClr val="0F172A"/>
                </a:solidFill>
                <a:latin typeface="Aptos"/>
                <a:ea typeface="Aptos"/>
                <a:cs typeface="Aptos"/>
              </a:rPr>
              <a:t>* Do not claim MNN code is absent; claim measured custom path does not use it.</a:t>
            </a:r>
          </a:p>
        </p:txBody>
      </p:sp>
    </p:spTree>
    <p:extLst>
      <p:ext uri="{BB962C8B-B14F-4D97-AF65-F5344CB8AC3E}">
        <p14:creationId xmlns:p14="http://schemas.microsoft.com/office/powerpoint/2010/main" val="173091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032B7A-2707-46F4-AEE7-E380D86617C2}"/>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3B989DC2-C9CE-4115-AC1B-6FDD752FCF18}"/>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C: custom prefill and decode loop</a:t>
            </a:r>
          </a:p>
        </p:txBody>
      </p:sp>
      <p:sp>
        <p:nvSpPr>
          <p:cNvPr id="3" name="Rectangle 2">
            <a:extLst>
              <a:ext uri="{FF2B5EF4-FFF2-40B4-BE49-F238E27FC236}">
                <a16:creationId xmlns:a16="http://schemas.microsoft.com/office/drawing/2014/main" id="{7347781A-323B-4C39-AF6D-95064DACFEDE}"/>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30</a:t>
            </a:r>
          </a:p>
        </p:txBody>
      </p:sp>
      <p:sp>
        <p:nvSpPr>
          <p:cNvPr id="4" name="Rectangle 3">
            <a:extLst>
              <a:ext uri="{FF2B5EF4-FFF2-40B4-BE49-F238E27FC236}">
                <a16:creationId xmlns:a16="http://schemas.microsoft.com/office/drawing/2014/main" id="{0E4445CE-51EA-4E55-8685-1DDF42ABC325}"/>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89BF5FC-F599-49C1-BEBE-A2DE21B5A834}"/>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7705C7CC-F271-4521-B535-B8651AA4247C}"/>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customlib/runtime/custom_model.cpp</a:t>
            </a:r>
          </a:p>
        </p:txBody>
      </p:sp>
      <p:sp>
        <p:nvSpPr>
          <p:cNvPr id="7" name="Rectangle 6">
            <a:extLst>
              <a:ext uri="{FF2B5EF4-FFF2-40B4-BE49-F238E27FC236}">
                <a16:creationId xmlns:a16="http://schemas.microsoft.com/office/drawing/2014/main" id="{738999A3-C7F1-43A7-A941-ABD3CC197749}"/>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9938F67D-CF88-426D-8450-BE5AF552AD57}"/>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bool CustomModel::prefill(...)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for each prompt token:</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loadEmbeddingRow(token_id)</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runLayer(... position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bool CustomModel::decodeOne(...)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runLayer(... current position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sampleGreedy(&amp;token_id)</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loadEmbeddingRow(token_id)</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p:txBody>
      </p:sp>
      <p:sp>
        <p:nvSpPr>
          <p:cNvPr id="9" name="Rectangle 8">
            <a:extLst>
              <a:ext uri="{FF2B5EF4-FFF2-40B4-BE49-F238E27FC236}">
                <a16:creationId xmlns:a16="http://schemas.microsoft.com/office/drawing/2014/main" id="{671FDE33-FF10-436C-BF4C-DF66622070D5}"/>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custom generation is an explicit loop.</a:t>
            </a:r>
          </a:p>
          <a:p>
            <a:pPr algn="l">
              <a:defRPr sz="1275" b="0">
                <a:solidFill>
                  <a:srgbClr val="0F172A"/>
                </a:solidFill>
                <a:latin typeface="Aptos"/>
                <a:ea typeface="Aptos"/>
                <a:cs typeface="Aptos"/>
              </a:defRPr>
            </a:pPr>
            <a:r>
              <a:rPr sz="1275" b="0">
                <a:solidFill>
                  <a:srgbClr val="0F172A"/>
                </a:solidFill>
                <a:latin typeface="Aptos"/>
                <a:ea typeface="Aptos"/>
                <a:cs typeface="Aptos"/>
              </a:rPr>
              <a:t>* Prefill is per prompt token, not last-token-only.</a:t>
            </a:r>
          </a:p>
          <a:p>
            <a:pPr algn="l">
              <a:defRPr sz="1275" b="0">
                <a:solidFill>
                  <a:srgbClr val="0F172A"/>
                </a:solidFill>
                <a:latin typeface="Aptos"/>
                <a:ea typeface="Aptos"/>
                <a:cs typeface="Aptos"/>
              </a:defRPr>
            </a:pPr>
            <a:r>
              <a:rPr sz="1275" b="0">
                <a:solidFill>
                  <a:srgbClr val="0F172A"/>
                </a:solidFill>
                <a:latin typeface="Aptos"/>
                <a:ea typeface="Aptos"/>
                <a:cs typeface="Aptos"/>
              </a:rPr>
              <a:t>* Metrics and trace rows are accumulated during the loop.</a:t>
            </a:r>
          </a:p>
        </p:txBody>
      </p:sp>
    </p:spTree>
    <p:extLst>
      <p:ext uri="{BB962C8B-B14F-4D97-AF65-F5344CB8AC3E}">
        <p14:creationId xmlns:p14="http://schemas.microsoft.com/office/powerpoint/2010/main" val="1514111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915B2C-4C4F-49F5-AE3B-ABE437C24623}"/>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3DF8436B-021C-4F55-9C57-7BCC9A5648E8}"/>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D: W4A16 GEMV generated path</a:t>
            </a:r>
          </a:p>
        </p:txBody>
      </p:sp>
      <p:sp>
        <p:nvSpPr>
          <p:cNvPr id="3" name="Rectangle 2">
            <a:extLst>
              <a:ext uri="{FF2B5EF4-FFF2-40B4-BE49-F238E27FC236}">
                <a16:creationId xmlns:a16="http://schemas.microsoft.com/office/drawing/2014/main" id="{B537C827-9024-4296-9137-B9ED803A8F32}"/>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31</a:t>
            </a:r>
          </a:p>
        </p:txBody>
      </p:sp>
      <p:sp>
        <p:nvSpPr>
          <p:cNvPr id="4" name="Rectangle 3">
            <a:extLst>
              <a:ext uri="{FF2B5EF4-FFF2-40B4-BE49-F238E27FC236}">
                <a16:creationId xmlns:a16="http://schemas.microsoft.com/office/drawing/2014/main" id="{DBABD924-E696-4C71-B10D-CAADD673577A}"/>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A0E9288F-8407-489F-9A3D-889505D2DBBB}"/>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3033E718-FE15-4304-9AB0-F88746A50F0C}"/>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customlib/kernels/generated/arm64_neon/xq_gemv_w4a16_neon.cpp</a:t>
            </a:r>
          </a:p>
        </p:txBody>
      </p:sp>
      <p:sp>
        <p:nvSpPr>
          <p:cNvPr id="7" name="Rectangle 6">
            <a:extLst>
              <a:ext uri="{FF2B5EF4-FFF2-40B4-BE49-F238E27FC236}">
                <a16:creationId xmlns:a16="http://schemas.microsoft.com/office/drawing/2014/main" id="{C69272E7-2D15-4110-955C-F1CA82FB23B0}"/>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1C350DD4-3B5D-4056-BAFA-8F80EAE95000}"/>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void gemvW4A16Neon(const QuantizedMatrix&amp; matrix,</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const float* x, float* y)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computeGroupSums(matrix, x, &amp;group_sums);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parallelForRows(... computeRowImpl&lt;...&gt;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int gemvW4A16ArgmaxNeon(...);</a:t>
            </a:r>
          </a:p>
        </p:txBody>
      </p:sp>
      <p:sp>
        <p:nvSpPr>
          <p:cNvPr id="9" name="Rectangle 8">
            <a:extLst>
              <a:ext uri="{FF2B5EF4-FFF2-40B4-BE49-F238E27FC236}">
                <a16:creationId xmlns:a16="http://schemas.microsoft.com/office/drawing/2014/main" id="{5CB8BC08-D51B-43AF-9E97-E3FBBF37ED6B}"/>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linears and lm_head use the generated W4 path.</a:t>
            </a:r>
          </a:p>
          <a:p>
            <a:pPr algn="l">
              <a:defRPr sz="1275" b="0">
                <a:solidFill>
                  <a:srgbClr val="0F172A"/>
                </a:solidFill>
                <a:latin typeface="Aptos"/>
                <a:ea typeface="Aptos"/>
                <a:cs typeface="Aptos"/>
              </a:defRPr>
            </a:pPr>
            <a:r>
              <a:rPr sz="1275" b="0">
                <a:solidFill>
                  <a:srgbClr val="0F172A"/>
                </a:solidFill>
                <a:latin typeface="Aptos"/>
                <a:ea typeface="Aptos"/>
                <a:cs typeface="Aptos"/>
              </a:rPr>
              <a:t>* The kernel fuses packed int4 unpack, dequant, and GEMV.</a:t>
            </a:r>
          </a:p>
          <a:p>
            <a:pPr algn="l">
              <a:defRPr sz="1275" b="0">
                <a:solidFill>
                  <a:srgbClr val="0F172A"/>
                </a:solidFill>
                <a:latin typeface="Aptos"/>
                <a:ea typeface="Aptos"/>
                <a:cs typeface="Aptos"/>
              </a:defRPr>
            </a:pPr>
            <a:r>
              <a:rPr sz="1275" b="0">
                <a:solidFill>
                  <a:srgbClr val="0F172A"/>
                </a:solidFill>
                <a:latin typeface="Aptos"/>
                <a:ea typeface="Aptos"/>
                <a:cs typeface="Aptos"/>
              </a:rPr>
              <a:t>* Search evidence shows no gemvLowBitReference call in this file.</a:t>
            </a:r>
          </a:p>
        </p:txBody>
      </p:sp>
    </p:spTree>
    <p:extLst>
      <p:ext uri="{BB962C8B-B14F-4D97-AF65-F5344CB8AC3E}">
        <p14:creationId xmlns:p14="http://schemas.microsoft.com/office/powerpoint/2010/main" val="1507238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D098158-C621-49E2-A540-C32F00C5DAEB}"/>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140AD7A0-3073-4B30-9E67-0E65ABE5070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E: custom benchmark connector</a:t>
            </a:r>
          </a:p>
        </p:txBody>
      </p:sp>
      <p:sp>
        <p:nvSpPr>
          <p:cNvPr id="3" name="Rectangle 2">
            <a:extLst>
              <a:ext uri="{FF2B5EF4-FFF2-40B4-BE49-F238E27FC236}">
                <a16:creationId xmlns:a16="http://schemas.microsoft.com/office/drawing/2014/main" id="{1CA7E9E4-0801-46A3-8B62-8297EC1CB73E}"/>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32</a:t>
            </a:r>
          </a:p>
        </p:txBody>
      </p:sp>
      <p:sp>
        <p:nvSpPr>
          <p:cNvPr id="4" name="Rectangle 3">
            <a:extLst>
              <a:ext uri="{FF2B5EF4-FFF2-40B4-BE49-F238E27FC236}">
                <a16:creationId xmlns:a16="http://schemas.microsoft.com/office/drawing/2014/main" id="{4D85FE1C-B165-40F6-96D3-7D0748491699}"/>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10A43A5E-A51D-4177-BD97-BCC1C35CEB8F}"/>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29492C13-E661-4004-A09E-AA9A6469EAC5}"/>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android/benchmark_app/src/main/cpp/benchmark_jni.cpp</a:t>
            </a:r>
          </a:p>
        </p:txBody>
      </p:sp>
      <p:sp>
        <p:nvSpPr>
          <p:cNvPr id="7" name="Rectangle 6">
            <a:extLst>
              <a:ext uri="{FF2B5EF4-FFF2-40B4-BE49-F238E27FC236}">
                <a16:creationId xmlns:a16="http://schemas.microsoft.com/office/drawing/2014/main" id="{BF0DE64D-1279-4428-A331-07AB83A20E33}"/>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9E703BF3-0C24-436D-BBA0-1098EA0B9414}"/>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options.use_mnn_fallback = 0;</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status = xq_create(model.c_str(), &amp;options, &amp;session);</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run.status = xq_generate(session, prompt.data(), ...);</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__android_log_print(...,</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"BENCH_RESULT_JSON %s", json.c_str());</a:t>
            </a:r>
          </a:p>
        </p:txBody>
      </p:sp>
      <p:sp>
        <p:nvSpPr>
          <p:cNvPr id="9" name="Rectangle 8">
            <a:extLst>
              <a:ext uri="{FF2B5EF4-FFF2-40B4-BE49-F238E27FC236}">
                <a16:creationId xmlns:a16="http://schemas.microsoft.com/office/drawing/2014/main" id="{9C351EA6-BE9F-4622-8BF4-46187B48B314}"/>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Android Device Farm drives the custom ABI with fallback disabled.</a:t>
            </a:r>
          </a:p>
          <a:p>
            <a:pPr algn="l">
              <a:defRPr sz="1275" b="0">
                <a:solidFill>
                  <a:srgbClr val="0F172A"/>
                </a:solidFill>
                <a:latin typeface="Aptos"/>
                <a:ea typeface="Aptos"/>
                <a:cs typeface="Aptos"/>
              </a:defRPr>
            </a:pPr>
            <a:r>
              <a:rPr sz="1275" b="0">
                <a:solidFill>
                  <a:srgbClr val="0F172A"/>
                </a:solidFill>
                <a:latin typeface="Aptos"/>
                <a:ea typeface="Aptos"/>
                <a:cs typeface="Aptos"/>
              </a:rPr>
              <a:t>* The benchmark emits machine-readable TPOT/TPS and wall-clock evidence.</a:t>
            </a:r>
          </a:p>
          <a:p>
            <a:pPr algn="l">
              <a:defRPr sz="1275" b="0">
                <a:solidFill>
                  <a:srgbClr val="0F172A"/>
                </a:solidFill>
                <a:latin typeface="Aptos"/>
                <a:ea typeface="Aptos"/>
                <a:cs typeface="Aptos"/>
              </a:defRPr>
            </a:pPr>
            <a:r>
              <a:rPr sz="1275" b="0">
                <a:solidFill>
                  <a:srgbClr val="0F172A"/>
                </a:solidFill>
                <a:latin typeface="Aptos"/>
                <a:ea typeface="Aptos"/>
                <a:cs typeface="Aptos"/>
              </a:rPr>
              <a:t>* MNN trace helper runs separately after measured custom generation.</a:t>
            </a:r>
          </a:p>
        </p:txBody>
      </p:sp>
    </p:spTree>
    <p:extLst>
      <p:ext uri="{BB962C8B-B14F-4D97-AF65-F5344CB8AC3E}">
        <p14:creationId xmlns:p14="http://schemas.microsoft.com/office/powerpoint/2010/main" val="888034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940C10F-534F-4FC3-8586-AAB8FD38A36F}"/>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873BC5EB-B773-4D07-991F-4D75484B251F}"/>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F: stock MNN connector</a:t>
            </a:r>
          </a:p>
        </p:txBody>
      </p:sp>
      <p:sp>
        <p:nvSpPr>
          <p:cNvPr id="3" name="Rectangle 2">
            <a:extLst>
              <a:ext uri="{FF2B5EF4-FFF2-40B4-BE49-F238E27FC236}">
                <a16:creationId xmlns:a16="http://schemas.microsoft.com/office/drawing/2014/main" id="{13271A52-0C93-4C97-AF65-451F5D14008A}"/>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33</a:t>
            </a:r>
          </a:p>
        </p:txBody>
      </p:sp>
      <p:sp>
        <p:nvSpPr>
          <p:cNvPr id="4" name="Rectangle 3">
            <a:extLst>
              <a:ext uri="{FF2B5EF4-FFF2-40B4-BE49-F238E27FC236}">
                <a16:creationId xmlns:a16="http://schemas.microsoft.com/office/drawing/2014/main" id="{E912A576-BEF3-454F-8232-703B90D9CB5D}"/>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2CC2AE8-47C8-433F-9424-33672BDDAFCD}"/>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7B7FC064-DE68-4990-98FC-CEDD913E1EA4}"/>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android/app/src/main/cpp/stock_benchmark_jni.cpp</a:t>
            </a:r>
          </a:p>
        </p:txBody>
      </p:sp>
      <p:sp>
        <p:nvSpPr>
          <p:cNvPr id="7" name="Rectangle 6">
            <a:extLst>
              <a:ext uri="{FF2B5EF4-FFF2-40B4-BE49-F238E27FC236}">
                <a16:creationId xmlns:a16="http://schemas.microsoft.com/office/drawing/2014/main" id="{B26F3DCE-43DB-441F-89B4-4E4DE78CBEE5}"/>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5028C678-D041-475E-9185-B5F95E22D6BB}"/>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auto llm = MNN::Transformer::Llm::createLLM(config_path);</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llm-&gt;response(prompt, nullptr, nullptr, max_new_tokens);</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emits stock BENCH_RESULT_JSON</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emits stock BENCH_QUALITY_JSON</a:t>
            </a:r>
          </a:p>
        </p:txBody>
      </p:sp>
      <p:sp>
        <p:nvSpPr>
          <p:cNvPr id="9" name="Rectangle 8">
            <a:extLst>
              <a:ext uri="{FF2B5EF4-FFF2-40B4-BE49-F238E27FC236}">
                <a16:creationId xmlns:a16="http://schemas.microsoft.com/office/drawing/2014/main" id="{B551334B-5E75-44C0-BDE1-C69404513AC8}"/>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stock baseline is real MNN LLM response.</a:t>
            </a:r>
          </a:p>
          <a:p>
            <a:pPr algn="l">
              <a:defRPr sz="1275" b="0">
                <a:solidFill>
                  <a:srgbClr val="0F172A"/>
                </a:solidFill>
                <a:latin typeface="Aptos"/>
                <a:ea typeface="Aptos"/>
                <a:cs typeface="Aptos"/>
              </a:defRPr>
            </a:pPr>
            <a:r>
              <a:rPr sz="1275" b="0">
                <a:solidFill>
                  <a:srgbClr val="0F172A"/>
                </a:solidFill>
                <a:latin typeface="Aptos"/>
                <a:ea typeface="Aptos"/>
                <a:cs typeface="Aptos"/>
              </a:rPr>
              <a:t>* It uses the same model/settings for comparison.</a:t>
            </a:r>
          </a:p>
          <a:p>
            <a:pPr algn="l">
              <a:defRPr sz="1275" b="0">
                <a:solidFill>
                  <a:srgbClr val="0F172A"/>
                </a:solidFill>
                <a:latin typeface="Aptos"/>
                <a:ea typeface="Aptos"/>
                <a:cs typeface="Aptos"/>
              </a:defRPr>
            </a:pPr>
            <a:r>
              <a:rPr sz="1275" b="0">
                <a:solidFill>
                  <a:srgbClr val="0F172A"/>
                </a:solidFill>
                <a:latin typeface="Aptos"/>
                <a:ea typeface="Aptos"/>
                <a:cs typeface="Aptos"/>
              </a:rPr>
              <a:t>* This is intentionally separate from the custom runtime.</a:t>
            </a:r>
          </a:p>
        </p:txBody>
      </p:sp>
    </p:spTree>
    <p:extLst>
      <p:ext uri="{BB962C8B-B14F-4D97-AF65-F5344CB8AC3E}">
        <p14:creationId xmlns:p14="http://schemas.microsoft.com/office/powerpoint/2010/main" val="1805132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BA7BBFC-60F4-418C-879B-861BA7E38C1A}"/>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1AC01DD8-7B2B-465E-B804-9B9DE3D7E033}"/>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G: packer exports custom model assets</a:t>
            </a:r>
          </a:p>
        </p:txBody>
      </p:sp>
      <p:sp>
        <p:nvSpPr>
          <p:cNvPr id="3" name="Rectangle 2">
            <a:extLst>
              <a:ext uri="{FF2B5EF4-FFF2-40B4-BE49-F238E27FC236}">
                <a16:creationId xmlns:a16="http://schemas.microsoft.com/office/drawing/2014/main" id="{8EA54DCF-CEDB-440A-9FFC-0CBE16D159E7}"/>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34</a:t>
            </a:r>
          </a:p>
        </p:txBody>
      </p:sp>
      <p:sp>
        <p:nvSpPr>
          <p:cNvPr id="4" name="Rectangle 3">
            <a:extLst>
              <a:ext uri="{FF2B5EF4-FFF2-40B4-BE49-F238E27FC236}">
                <a16:creationId xmlns:a16="http://schemas.microsoft.com/office/drawing/2014/main" id="{F4184151-7357-461A-AD5B-E5C792BA1FC9}"/>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2930830E-1405-40F7-9969-3DFC415E89E9}"/>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A2688AFE-431F-43A7-9A56-5DD1F15AFF99}"/>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customlib/packer/pack_qwen35_xq4.py</a:t>
            </a:r>
          </a:p>
        </p:txBody>
      </p:sp>
      <p:sp>
        <p:nvSpPr>
          <p:cNvPr id="7" name="Rectangle 6">
            <a:extLst>
              <a:ext uri="{FF2B5EF4-FFF2-40B4-BE49-F238E27FC236}">
                <a16:creationId xmlns:a16="http://schemas.microsoft.com/office/drawing/2014/main" id="{CAC1DA1B-1109-478D-87FD-E8D5321EF35D}"/>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1051BCD9-BB4B-4BBE-82BC-4EF7083F5880}"/>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matrix_names = ["lm_head.weight"]</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q_proj, k_proj, v_proj, o_proj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gate_proj, up_proj, down_proj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linear_attn.in_proj_* ...</a:t>
            </a:r>
          </a:p>
          <a:p>
            <a:endParaRPr sz="1125" b="0">
              <a:solidFill>
                <a:srgbClr val="E5E7EB"/>
              </a:solidFill>
              <a:latin typeface="Aptos Mono"/>
              <a:ea typeface="Aptos Mono"/>
              <a:cs typeface="Aptos Mono"/>
            </a:endParaRP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manifest = {</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"quantization": {"bits": 4, "group_size": 64},</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"hf_repo": "Qwen/Qwen3.5-9B"</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a:t>
            </a:r>
          </a:p>
        </p:txBody>
      </p:sp>
      <p:sp>
        <p:nvSpPr>
          <p:cNvPr id="9" name="Rectangle 8">
            <a:extLst>
              <a:ext uri="{FF2B5EF4-FFF2-40B4-BE49-F238E27FC236}">
                <a16:creationId xmlns:a16="http://schemas.microsoft.com/office/drawing/2014/main" id="{58498051-682A-4363-875F-BE09053A892D}"/>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customlib has its own package format.</a:t>
            </a:r>
          </a:p>
          <a:p>
            <a:pPr algn="l">
              <a:defRPr sz="1275" b="0">
                <a:solidFill>
                  <a:srgbClr val="0F172A"/>
                </a:solidFill>
                <a:latin typeface="Aptos"/>
                <a:ea typeface="Aptos"/>
                <a:cs typeface="Aptos"/>
              </a:defRPr>
            </a:pPr>
            <a:r>
              <a:rPr sz="1275" b="0">
                <a:solidFill>
                  <a:srgbClr val="0F172A"/>
                </a:solidFill>
                <a:latin typeface="Aptos"/>
                <a:ea typeface="Aptos"/>
                <a:cs typeface="Aptos"/>
              </a:rPr>
              <a:t>* The runtime loader consumes xq4 matrices and manifest metadata.</a:t>
            </a:r>
          </a:p>
          <a:p>
            <a:pPr algn="l">
              <a:defRPr sz="1275" b="0">
                <a:solidFill>
                  <a:srgbClr val="0F172A"/>
                </a:solidFill>
                <a:latin typeface="Aptos"/>
                <a:ea typeface="Aptos"/>
                <a:cs typeface="Aptos"/>
              </a:defRPr>
            </a:pPr>
            <a:r>
              <a:rPr sz="1275" b="0">
                <a:solidFill>
                  <a:srgbClr val="0F172A"/>
                </a:solidFill>
                <a:latin typeface="Aptos"/>
                <a:ea typeface="Aptos"/>
                <a:cs typeface="Aptos"/>
              </a:rPr>
              <a:t>* MNN package remains for stock/fallback, not for measured custom linears.</a:t>
            </a:r>
          </a:p>
        </p:txBody>
      </p:sp>
    </p:spTree>
    <p:extLst>
      <p:ext uri="{BB962C8B-B14F-4D97-AF65-F5344CB8AC3E}">
        <p14:creationId xmlns:p14="http://schemas.microsoft.com/office/powerpoint/2010/main" val="1902852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BAF363-BA76-4F9F-8AAE-BBFE543EE383}"/>
              </a:ext>
            </a:extLst>
          </p:cNvPr>
          <p:cNvSpPr>
            <a:spLocks noGrp="1"/>
          </p:cNvSpPr>
          <p:nvPr/>
        </p:nvSpPr>
        <p:spPr>
          <a:xfrm>
            <a:off x="590550" y="228600"/>
            <a:ext cx="7048500" cy="228600"/>
          </a:xfrm>
          <a:prstGeom prst="rect">
            <a:avLst/>
          </a:prstGeom>
          <a:noFill/>
          <a:ln w="0">
            <a:solidFill>
              <a:srgbClr val="000000">
                <a:alpha val="0"/>
              </a:srgbClr>
            </a:solidFill>
            <a:prstDash val="solid"/>
          </a:ln>
        </p:spPr>
        <p:txBody>
          <a:bodyPr/>
          <a:lstStyle/>
          <a:p>
            <a:pPr algn="l">
              <a:defRPr sz="975" b="1">
                <a:solidFill>
                  <a:srgbClr val="2563EB"/>
                </a:solidFill>
                <a:latin typeface="Aptos"/>
                <a:ea typeface="Aptos"/>
                <a:cs typeface="Aptos"/>
              </a:defRPr>
            </a:pPr>
            <a:r>
              <a:rPr sz="975" b="1">
                <a:solidFill>
                  <a:srgbClr val="2563EB"/>
                </a:solidFill>
                <a:latin typeface="Aptos"/>
                <a:ea typeface="Aptos"/>
                <a:cs typeface="Aptos"/>
              </a:rPr>
              <a:t>Qwen3.5-9B custom mobile inference</a:t>
            </a:r>
          </a:p>
        </p:txBody>
      </p:sp>
      <p:sp>
        <p:nvSpPr>
          <p:cNvPr id="2" name="Rectangle 1">
            <a:extLst>
              <a:ext uri="{FF2B5EF4-FFF2-40B4-BE49-F238E27FC236}">
                <a16:creationId xmlns:a16="http://schemas.microsoft.com/office/drawing/2014/main" id="{07BF7CF1-9212-449C-B777-170E889C8CCB}"/>
              </a:ext>
            </a:extLst>
          </p:cNvPr>
          <p:cNvSpPr>
            <a:spLocks noGrp="1"/>
          </p:cNvSpPr>
          <p:nvPr/>
        </p:nvSpPr>
        <p:spPr>
          <a:xfrm>
            <a:off x="590550" y="533400"/>
            <a:ext cx="10096500" cy="514350"/>
          </a:xfrm>
          <a:prstGeom prst="rect">
            <a:avLst/>
          </a:prstGeom>
          <a:noFill/>
          <a:ln w="0">
            <a:solidFill>
              <a:srgbClr val="000000">
                <a:alpha val="0"/>
              </a:srgbClr>
            </a:solidFill>
            <a:prstDash val="solid"/>
          </a:ln>
        </p:spPr>
        <p:txBody>
          <a:bodyPr/>
          <a:lstStyle/>
          <a:p>
            <a:pPr algn="l">
              <a:defRPr sz="2625" b="1">
                <a:solidFill>
                  <a:srgbClr val="0F172A"/>
                </a:solidFill>
                <a:latin typeface="Aptos"/>
                <a:ea typeface="Aptos"/>
                <a:cs typeface="Aptos"/>
              </a:defRPr>
            </a:pPr>
            <a:r>
              <a:rPr sz="2625" b="1">
                <a:solidFill>
                  <a:srgbClr val="0F172A"/>
                </a:solidFill>
                <a:latin typeface="Aptos"/>
                <a:ea typeface="Aptos"/>
                <a:cs typeface="Aptos"/>
              </a:rPr>
              <a:t>Appendix H: quality validation connector</a:t>
            </a:r>
          </a:p>
        </p:txBody>
      </p:sp>
      <p:sp>
        <p:nvSpPr>
          <p:cNvPr id="3" name="Rectangle 2">
            <a:extLst>
              <a:ext uri="{FF2B5EF4-FFF2-40B4-BE49-F238E27FC236}">
                <a16:creationId xmlns:a16="http://schemas.microsoft.com/office/drawing/2014/main" id="{E345B9A3-F0E6-43A5-A859-C5C88C36EB3F}"/>
              </a:ext>
            </a:extLst>
          </p:cNvPr>
          <p:cNvSpPr>
            <a:spLocks noGrp="1"/>
          </p:cNvSpPr>
          <p:nvPr/>
        </p:nvSpPr>
        <p:spPr>
          <a:xfrm>
            <a:off x="11049000" y="304800"/>
            <a:ext cx="571500" cy="228600"/>
          </a:xfrm>
          <a:prstGeom prst="rect">
            <a:avLst/>
          </a:prstGeom>
          <a:noFill/>
          <a:ln w="0">
            <a:solidFill>
              <a:srgbClr val="000000">
                <a:alpha val="0"/>
              </a:srgbClr>
            </a:solidFill>
            <a:prstDash val="solid"/>
          </a:ln>
        </p:spPr>
        <p:txBody>
          <a:bodyPr/>
          <a:lstStyle/>
          <a:p>
            <a:pPr algn="r">
              <a:defRPr sz="1050" b="1">
                <a:solidFill>
                  <a:srgbClr val="94A3B8"/>
                </a:solidFill>
                <a:latin typeface="Aptos"/>
                <a:ea typeface="Aptos"/>
                <a:cs typeface="Aptos"/>
              </a:defRPr>
            </a:pPr>
            <a:r>
              <a:rPr sz="1050" b="1">
                <a:solidFill>
                  <a:srgbClr val="94A3B8"/>
                </a:solidFill>
                <a:latin typeface="Aptos"/>
                <a:ea typeface="Aptos"/>
                <a:cs typeface="Aptos"/>
              </a:rPr>
              <a:t>35</a:t>
            </a:r>
          </a:p>
        </p:txBody>
      </p:sp>
      <p:sp>
        <p:nvSpPr>
          <p:cNvPr id="4" name="Rectangle 3">
            <a:extLst>
              <a:ext uri="{FF2B5EF4-FFF2-40B4-BE49-F238E27FC236}">
                <a16:creationId xmlns:a16="http://schemas.microsoft.com/office/drawing/2014/main" id="{6C451881-7EB4-4175-839D-3F49A7D94692}"/>
              </a:ext>
            </a:extLst>
          </p:cNvPr>
          <p:cNvSpPr>
            <a:spLocks noGrp="1"/>
          </p:cNvSpPr>
          <p:nvPr/>
        </p:nvSpPr>
        <p:spPr>
          <a:xfrm>
            <a:off x="590550" y="1123950"/>
            <a:ext cx="11010900" cy="19050"/>
          </a:xfrm>
          <a:prstGeom prst="rect">
            <a:avLst/>
          </a:prstGeom>
          <a:solidFill>
            <a:srgbClr val="E2E8F0"/>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6B561551-2B83-4409-B369-E81BED9EA545}"/>
              </a:ext>
            </a:extLst>
          </p:cNvPr>
          <p:cNvSpPr>
            <a:spLocks noGrp="1"/>
          </p:cNvSpPr>
          <p:nvPr/>
        </p:nvSpPr>
        <p:spPr>
          <a:xfrm>
            <a:off x="590550" y="6515100"/>
            <a:ext cx="11010900" cy="171450"/>
          </a:xfrm>
          <a:prstGeom prst="rect">
            <a:avLst/>
          </a:prstGeom>
          <a:noFill/>
          <a:ln w="0">
            <a:solidFill>
              <a:srgbClr val="000000">
                <a:alpha val="0"/>
              </a:srgbClr>
            </a:solidFill>
            <a:prstDash val="solid"/>
          </a:ln>
        </p:spPr>
        <p:txBody>
          <a:bodyPr/>
          <a:lstStyle/>
          <a:p>
            <a:pPr algn="l">
              <a:defRPr sz="825" b="0">
                <a:solidFill>
                  <a:srgbClr val="64748B"/>
                </a:solidFill>
                <a:latin typeface="Aptos"/>
                <a:ea typeface="Aptos"/>
                <a:cs typeface="Aptos"/>
              </a:defRPr>
            </a:pPr>
            <a:r>
              <a:rPr sz="825" b="0">
                <a:solidFill>
                  <a:srgbClr val="64748B"/>
                </a:solidFill>
                <a:latin typeface="Aptos"/>
                <a:ea typeface="Aptos"/>
                <a:cs typeface="Aptos"/>
              </a:rPr>
              <a:t>Evidence-backed presentation. No speedup or production-quality output claim.</a:t>
            </a:r>
          </a:p>
        </p:txBody>
      </p:sp>
      <p:sp>
        <p:nvSpPr>
          <p:cNvPr id="6" name="Rectangle 5">
            <a:extLst>
              <a:ext uri="{FF2B5EF4-FFF2-40B4-BE49-F238E27FC236}">
                <a16:creationId xmlns:a16="http://schemas.microsoft.com/office/drawing/2014/main" id="{50B8BD8B-291A-447E-B733-C05FA0BA2FD6}"/>
              </a:ext>
            </a:extLst>
          </p:cNvPr>
          <p:cNvSpPr>
            <a:spLocks noGrp="1"/>
          </p:cNvSpPr>
          <p:nvPr/>
        </p:nvSpPr>
        <p:spPr>
          <a:xfrm>
            <a:off x="590550" y="1314450"/>
            <a:ext cx="10668000" cy="228600"/>
          </a:xfrm>
          <a:prstGeom prst="rect">
            <a:avLst/>
          </a:prstGeom>
          <a:noFill/>
          <a:ln w="0">
            <a:solidFill>
              <a:srgbClr val="000000">
                <a:alpha val="0"/>
              </a:srgbClr>
            </a:solidFill>
            <a:prstDash val="solid"/>
          </a:ln>
        </p:spPr>
        <p:txBody>
          <a:bodyPr/>
          <a:lstStyle/>
          <a:p>
            <a:pPr algn="l">
              <a:defRPr sz="1125" b="1">
                <a:solidFill>
                  <a:srgbClr val="2563EB"/>
                </a:solidFill>
                <a:latin typeface="Aptos Mono"/>
                <a:ea typeface="Aptos Mono"/>
                <a:cs typeface="Aptos Mono"/>
              </a:defRPr>
            </a:pPr>
            <a:r>
              <a:rPr sz="1125" b="1">
                <a:solidFill>
                  <a:srgbClr val="2563EB"/>
                </a:solidFill>
                <a:latin typeface="Aptos Mono"/>
                <a:ea typeface="Aptos Mono"/>
                <a:cs typeface="Aptos Mono"/>
              </a:rPr>
              <a:t>quality validation JNI + results/reports/evidence/*.json</a:t>
            </a:r>
          </a:p>
        </p:txBody>
      </p:sp>
      <p:sp>
        <p:nvSpPr>
          <p:cNvPr id="7" name="Rectangle 6">
            <a:extLst>
              <a:ext uri="{FF2B5EF4-FFF2-40B4-BE49-F238E27FC236}">
                <a16:creationId xmlns:a16="http://schemas.microsoft.com/office/drawing/2014/main" id="{1E2F4058-FC00-479A-90AA-EE4F818E491A}"/>
              </a:ext>
            </a:extLst>
          </p:cNvPr>
          <p:cNvSpPr>
            <a:spLocks noGrp="1"/>
          </p:cNvSpPr>
          <p:nvPr/>
        </p:nvSpPr>
        <p:spPr>
          <a:xfrm>
            <a:off x="590550" y="1657350"/>
            <a:ext cx="6762750" cy="3676650"/>
          </a:xfrm>
          <a:prstGeom prst="rect">
            <a:avLst/>
          </a:prstGeom>
          <a:solidFill>
            <a:srgbClr val="0B1220"/>
          </a:solidFill>
          <a:ln w="9525">
            <a:solidFill>
              <a:srgbClr val="334155"/>
            </a:solidFill>
            <a:prstDash val="solid"/>
          </a:ln>
        </p:spPr>
        <p:txBody>
          <a:bodyPr/>
          <a:lstStyle/>
          <a:p>
            <a:endParaRPr lang="en-US"/>
          </a:p>
        </p:txBody>
      </p:sp>
      <p:sp>
        <p:nvSpPr>
          <p:cNvPr id="8" name="Rectangle 7">
            <a:extLst>
              <a:ext uri="{FF2B5EF4-FFF2-40B4-BE49-F238E27FC236}">
                <a16:creationId xmlns:a16="http://schemas.microsoft.com/office/drawing/2014/main" id="{E6DEA9C8-A358-48F8-9BD4-BE86B969B85B}"/>
              </a:ext>
            </a:extLst>
          </p:cNvPr>
          <p:cNvSpPr>
            <a:spLocks noGrp="1"/>
          </p:cNvSpPr>
          <p:nvPr/>
        </p:nvSpPr>
        <p:spPr>
          <a:xfrm>
            <a:off x="762000" y="1847850"/>
            <a:ext cx="6400800" cy="3276600"/>
          </a:xfrm>
          <a:prstGeom prst="rect">
            <a:avLst/>
          </a:prstGeom>
          <a:noFill/>
          <a:ln w="0">
            <a:solidFill>
              <a:srgbClr val="000000">
                <a:alpha val="0"/>
              </a:srgbClr>
            </a:solidFill>
            <a:prstDash val="solid"/>
          </a:ln>
        </p:spPr>
        <p:txBody>
          <a:bodyPr/>
          <a:lstStyle/>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BENCH_QUALITY_JSON includes: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prompt token IDs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generated token IDs</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exact_match</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prefix_match_length</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token_match_rate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edit_distance</a:t>
            </a:r>
          </a:p>
          <a:p>
            <a:pPr algn="l">
              <a:defRPr sz="1125" b="0">
                <a:solidFill>
                  <a:srgbClr val="E5E7EB"/>
                </a:solidFill>
                <a:latin typeface="Aptos Mono"/>
                <a:ea typeface="Aptos Mono"/>
                <a:cs typeface="Aptos Mono"/>
              </a:defRPr>
            </a:pPr>
            <a:r>
              <a:rPr sz="1125" b="0">
                <a:solidFill>
                  <a:srgbClr val="E5E7EB"/>
                </a:solidFill>
                <a:latin typeface="Aptos Mono"/>
                <a:ea typeface="Aptos Mono"/>
                <a:cs typeface="Aptos Mono"/>
              </a:rPr>
              <a:t>  invalid / empty / repeated checks</a:t>
            </a:r>
          </a:p>
        </p:txBody>
      </p:sp>
      <p:sp>
        <p:nvSpPr>
          <p:cNvPr id="9" name="Rectangle 8">
            <a:extLst>
              <a:ext uri="{FF2B5EF4-FFF2-40B4-BE49-F238E27FC236}">
                <a16:creationId xmlns:a16="http://schemas.microsoft.com/office/drawing/2014/main" id="{89E644E9-B7C2-4651-B4D4-6AF2151154A6}"/>
              </a:ext>
            </a:extLst>
          </p:cNvPr>
          <p:cNvSpPr>
            <a:spLocks noGrp="1"/>
          </p:cNvSpPr>
          <p:nvPr/>
        </p:nvSpPr>
        <p:spPr>
          <a:xfrm>
            <a:off x="7810500" y="1752600"/>
            <a:ext cx="3714750" cy="3143250"/>
          </a:xfrm>
          <a:prstGeom prst="rect">
            <a:avLst/>
          </a:prstGeom>
          <a:noFill/>
          <a:ln w="0">
            <a:solidFill>
              <a:srgbClr val="000000">
                <a:alpha val="0"/>
              </a:srgbClr>
            </a:solidFill>
            <a:prstDash val="solid"/>
          </a:ln>
        </p:spPr>
        <p:txBody>
          <a:bodyPr/>
          <a:lstStyle/>
          <a:p>
            <a:pPr algn="l">
              <a:defRPr sz="1275" b="0">
                <a:solidFill>
                  <a:srgbClr val="0F172A"/>
                </a:solidFill>
                <a:latin typeface="Aptos"/>
                <a:ea typeface="Aptos"/>
                <a:cs typeface="Aptos"/>
              </a:defRPr>
            </a:pPr>
            <a:r>
              <a:rPr sz="1275" b="0">
                <a:solidFill>
                  <a:srgbClr val="0F172A"/>
                </a:solidFill>
                <a:latin typeface="Aptos"/>
                <a:ea typeface="Aptos"/>
                <a:cs typeface="Aptos"/>
              </a:rPr>
              <a:t>* What this proves: speed is not treated as correctness.</a:t>
            </a:r>
          </a:p>
          <a:p>
            <a:pPr algn="l">
              <a:defRPr sz="1275" b="0">
                <a:solidFill>
                  <a:srgbClr val="0F172A"/>
                </a:solidFill>
                <a:latin typeface="Aptos"/>
                <a:ea typeface="Aptos"/>
                <a:cs typeface="Aptos"/>
              </a:defRPr>
            </a:pPr>
            <a:r>
              <a:rPr sz="1275" b="0">
                <a:solidFill>
                  <a:srgbClr val="0F172A"/>
                </a:solidFill>
                <a:latin typeface="Aptos"/>
                <a:ea typeface="Aptos"/>
                <a:cs typeface="Aptos"/>
              </a:rPr>
              <a:t>* v19/v20 quality failures are preserved as rejected evidence.</a:t>
            </a:r>
          </a:p>
          <a:p>
            <a:pPr algn="l">
              <a:defRPr sz="1275" b="0">
                <a:solidFill>
                  <a:srgbClr val="0F172A"/>
                </a:solidFill>
                <a:latin typeface="Aptos"/>
                <a:ea typeface="Aptos"/>
                <a:cs typeface="Aptos"/>
              </a:defRPr>
            </a:pPr>
            <a:r>
              <a:rPr sz="1275" b="0">
                <a:solidFill>
                  <a:srgbClr val="0F172A"/>
                </a:solidFill>
                <a:latin typeface="Aptos"/>
                <a:ea typeface="Aptos"/>
                <a:cs typeface="Aptos"/>
              </a:rPr>
              <a:t>* v27 sanity guard passes, but production quality is still not claimed.</a:t>
            </a:r>
          </a:p>
        </p:txBody>
      </p:sp>
    </p:spTree>
    <p:extLst>
      <p:ext uri="{BB962C8B-B14F-4D97-AF65-F5344CB8AC3E}">
        <p14:creationId xmlns:p14="http://schemas.microsoft.com/office/powerpoint/2010/main" val="26542801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5065</Words>
  <Application>Microsoft Office PowerPoint</Application>
  <DocSecurity>0</DocSecurity>
  <PresentationFormat>Widescreen</PresentationFormat>
  <Paragraphs>646</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Yingjie Huang</cp:lastModifiedBy>
  <cp:revision>1</cp:revision>
  <dcterms:created xsi:type="dcterms:W3CDTF">2026-07-06T08:19:16Z</dcterms:created>
  <dcterms:modified xsi:type="dcterms:W3CDTF">2026-07-06T08:25:29Z</dcterms:modified>
</cp:coreProperties>
</file>